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5087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NTUST · 碩士專題報告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051560" y="2962656"/>
            <a:ext cx="2286000" cy="4114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186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React 19 + FastAPI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Gemma 4 26B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4261104"/>
            <a:ext cx="2414016" cy="420624"/>
          </a:xfrm>
          <a:prstGeom prst="roundRect">
            <a:avLst>
              <a:gd name="adj" fmla="val 10870"/>
            </a:avLst>
          </a:prstGeom>
          <a:solidFill>
            <a:srgbClr val="EFF3F6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7384" y="426110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+ CI/CD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285232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　</a:t>
            </a:r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吳晉緯　·　沈威廷</a:t>
            </a:r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　　指導教授　</a:t>
            </a:r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呂政修 教授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56692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國立臺灣科技大學　·　2026 年 8 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97312" y="59893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這份報告怎麼讀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先看系統如何設計，再看 AI 助理如何被驗證，最後是部署、開發方法與個人回顧。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3541776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2F6F8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系統與設計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8096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吳晉緯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專案概覽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29712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– 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問題定義 · 系統全貌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設計與資料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9712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– 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張表 · 後端模組化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09872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9872" y="1572768"/>
            <a:ext cx="3541776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92752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7E6DA8"/>
          </a:solidFill>
          <a:ln/>
        </p:spPr>
      </p:sp>
      <p:sp>
        <p:nvSpPr>
          <p:cNvPr id="24" name="Text 22"/>
          <p:cNvSpPr/>
          <p:nvPr/>
        </p:nvSpPr>
        <p:spPr>
          <a:xfrm>
            <a:off x="4492752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04816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核心：AI 助理與驗證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11040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沈威廷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11040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21936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助理與驗證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72656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– 16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21936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 · 受控流程 · 客觀評測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11040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1936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72656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– 19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21936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Gemma4APIServer 獨立專案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52816" y="1572768"/>
            <a:ext cx="3541776" cy="4224528"/>
          </a:xfrm>
          <a:prstGeom prst="roundRect">
            <a:avLst>
              <a:gd name="adj" fmla="val 1291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2816" y="1572768"/>
            <a:ext cx="3541776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7" name="Shape 35"/>
          <p:cNvSpPr/>
          <p:nvPr/>
        </p:nvSpPr>
        <p:spPr>
          <a:xfrm>
            <a:off x="8235696" y="1773936"/>
            <a:ext cx="402336" cy="402336"/>
          </a:xfrm>
          <a:prstGeom prst="roundRect">
            <a:avLst>
              <a:gd name="adj" fmla="val 11364"/>
            </a:avLst>
          </a:prstGeom>
          <a:solidFill>
            <a:srgbClr val="C9A94E"/>
          </a:solidFill>
          <a:ln/>
        </p:spPr>
      </p:sp>
      <p:sp>
        <p:nvSpPr>
          <p:cNvPr id="38" name="Text 36"/>
          <p:cNvSpPr/>
          <p:nvPr/>
        </p:nvSpPr>
        <p:spPr>
          <a:xfrm>
            <a:off x="8235696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47760" y="1773936"/>
            <a:ext cx="2663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交付、方法與回顧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53984" y="2194560"/>
            <a:ext cx="313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　吳晉緯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53984" y="254203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564880" y="2542032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515600" y="2542032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– 25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564880" y="2816352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四節點 · 儲存 · CI-CD · 環境與實戰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53984" y="332841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564880" y="3328416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515600" y="3328416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64880" y="3602736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 · 完成度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53984" y="411480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564880" y="4114800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515600" y="411480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– 29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564880" y="4389120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兩次事故 · 規則體系 · 驗證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253984" y="490118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564880" y="4901184"/>
            <a:ext cx="198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學習歷程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515600" y="4901184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– 31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564880" y="5175504"/>
            <a:ext cx="28285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週軌跡 · 踩坑回顧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66928" y="5943600"/>
            <a:ext cx="11027664" cy="603504"/>
          </a:xfrm>
          <a:prstGeom prst="roundRect">
            <a:avLst>
              <a:gd name="adj" fmla="val 7576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5971032"/>
            <a:ext cx="10588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時間有限可直接看 P.14–16（實測結果、效率指標與已知限制）與 P.27–29（Vibe Coding 開發方法）—— 這兩段是報告重心。附錄 P.34 為完整欄位 ERD，備 Q&amp;A 使用。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要解決什麼問題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通用雲端硬碟把資料放在他人伺服器。要在自己掌控的儲存空間上，用自然語言完成檔案操作，目前沒有現成方案。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395020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完整檔案管理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資料夾樹、上傳下載、預覽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垃圾桶軟刪除與還原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檔名／全文／語意三種搜尋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指定使用者分享與公開連結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檔案版本與容量統計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3776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3776" y="1627632"/>
            <a:ext cx="50292" cy="395020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6656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07280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對話式 AI 助理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4944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自然語言操作檔案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先出計畫，破壞性操作需確認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可現場生成新技能並掛右鍵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多輪對話記憶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預設本地 Gemma 4 26B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40624" y="1627632"/>
            <a:ext cx="3553968" cy="3950208"/>
          </a:xfrm>
          <a:prstGeom prst="roundRect">
            <a:avLst>
              <a:gd name="adj" fmla="val 1544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0624" y="1627632"/>
            <a:ext cx="50292" cy="395020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3504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44128" y="1773936"/>
            <a:ext cx="2767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時光機整碟還原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1792" y="2176272"/>
            <a:ext cx="315163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把整個硬碟倒帶到過去時間點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排程／手動／助理操作前自動快照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checksum 去重的增量儲存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獨立配額，不吃檔案空間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三者單獨都有現成產品，但「同時成立、而且能自架」的組合沒有 —— 這就是本專案的切入點。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系統全貌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為唯一入口，同源反代 /api；中繼資料進 PostgreSQL，檔案本體交 Storage Provider。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7" name="Image 0" descr="/Users/linyueying/Library/CloudStorage/OneDrive-Personal/NTUST/Mester0/CloudDrive/doc/ppt/04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5461"/>
            <a:ext cx="11027664" cy="16457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3602736"/>
            <a:ext cx="50292" cy="221284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 → backend，零 CORS、換主機免重建前端。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對外只有這一個入口，後端不直接曝露。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3602736"/>
            <a:ext cx="50292" cy="221284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程式只認相對 key，根目錄由 LOCAL_STORAGE_PATH 決定——「寫到哪」是部署決定的。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未來換 S3 只要換一個 StorageProvider 實作。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3602736"/>
            <a:ext cx="3553968" cy="2212848"/>
          </a:xfrm>
          <a:prstGeom prst="roundRect">
            <a:avLst>
              <a:gd name="adj" fmla="val 2479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3602736"/>
            <a:ext cx="50292" cy="2212848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3749040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151376"/>
            <a:ext cx="315163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Gemma 4 26B；外送需經隱私閘，且預設關閉。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Ollama 的環境仍可跑起核心功能。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 個核心模組 + 3 個擴充系統（AI 助理 · 時光機 · 外部模型接入）；模組間只透過 service 層互相依賴。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資料模型：21 張表、六個子系統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6" name="Image 0" descr="/Users/linyueying/Library/CloudStorage/OneDrive-Personal/NTUST/Mester0/CloudDrive/doc/ppt/01-erd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01" y="1243584"/>
            <a:ext cx="5846134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96328" y="1353312"/>
            <a:ext cx="45720" cy="932688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135331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drive_items 單表樹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0920" y="168249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parent_id 自關聯，檔案與資料夾同表管理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96328" y="2450592"/>
            <a:ext cx="45720" cy="932688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245059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星號個人化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60920" y="277977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user_item_preferences 為權威來源，分享互不污染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96328" y="3547872"/>
            <a:ext cx="45720" cy="932688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354787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憑證只存 hash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60920" y="387705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refresh token 與分享連結 token 皆不存明文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196328" y="4645152"/>
            <a:ext cx="45720" cy="932688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645152"/>
            <a:ext cx="4215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版本與去重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360920" y="4974336"/>
            <a:ext cx="421538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file_versions + checksum 供時光機共用內容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完整欄位版 ER Diagram 見附錄。中文全文搜尋以 ILIKE 子字串比對補足 tsvector 的斷詞限制。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後端模組化：每個 domain 是自足套件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331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四檔案結構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router.py　路由，不直接碰資料庫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service.py　商業邏輯與跨 repository 協調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repository.py　只負責資料存取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schemas.py　該模組的輸入輸出型別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331720"/>
          </a:xfrm>
          <a:prstGeom prst="roundRect">
            <a:avLst>
              <a:gd name="adj" fmla="val 235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331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集中把關，不分散在 router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PermissionService　權限判斷唯一入口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QuotaService　容量檢查唯一入口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AppError 子類 → 一致的錯誤 JSON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ActivityLogService　記錄失敗不影響主流程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2F6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接收請求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回傳回應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77540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74136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Service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47288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商業邏輯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協調各方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4748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1344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B0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Repository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StorageProvider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資料存取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檔案讀寫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1956" y="4306824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3831336"/>
            <a:ext cx="2606040" cy="1325880"/>
          </a:xfrm>
          <a:prstGeom prst="roundRect">
            <a:avLst>
              <a:gd name="adj" fmla="val 3448"/>
            </a:avLst>
          </a:prstGeom>
          <a:solidFill>
            <a:srgbClr val="F7F9FA"/>
          </a:solidFill>
          <a:ln w="15240">
            <a:solidFill>
              <a:srgbClr val="5B64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3941064"/>
            <a:ext cx="24597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PostgreSQL ／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檔案系統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61704" y="4581144"/>
            <a:ext cx="24597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實際持久層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依賴方向單向不可逆：Repository 不可呼叫 Service；StorageProvider 不可呼叫 Repository。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B6470"/>
                </a:solidFill>
                <a:latin typeface="Georgia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Why </a:t>
            </a:r>
            <a:r>
              <a:rPr sz="3000" b="1" dirty="0" err="1">
                <a:solidFill>
                  <a:srgbClr val="13212A"/>
                </a:solidFill>
                <a:latin typeface="PingFang TC"/>
              </a:rPr>
              <a:t>Harness：讓</a:t>
            </a:r>
            <a:r>
              <a:rPr lang="zh-TW" altLang="en-US" sz="3000" b="1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3000" b="1" dirty="0">
                <a:solidFill>
                  <a:srgbClr val="13212A"/>
                </a:solidFill>
                <a:latin typeface="PingFang TC"/>
              </a:rPr>
              <a:t>AI </a:t>
            </a:r>
            <a:r>
              <a:rPr sz="3000" b="1" dirty="0" err="1">
                <a:solidFill>
                  <a:srgbClr val="13212A"/>
                </a:solidFill>
                <a:latin typeface="PingFang TC"/>
              </a:rPr>
              <a:t>操作可控、可量測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243584"/>
            <a:ext cx="10396728" cy="730792"/>
          </a:xfrm>
          <a:prstGeom prst="roundRect">
            <a:avLst/>
          </a:prstGeom>
          <a:solidFill>
            <a:srgbClr val="13212A"/>
          </a:solidFill>
          <a:ln w="12700">
            <a:solidFill>
              <a:srgbClr val="132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268972"/>
            <a:ext cx="11430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C9A94E"/>
                </a:solidFill>
                <a:latin typeface="Georgia"/>
              </a:rPr>
              <a:t>CORE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515860"/>
            <a:ext cx="1001268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PingFang TC"/>
              </a:rPr>
              <a:t>「</a:t>
            </a:r>
            <a:r>
              <a:rPr sz="2000" b="1" dirty="0" err="1">
                <a:solidFill>
                  <a:srgbClr val="FFFFFF"/>
                </a:solidFill>
                <a:latin typeface="PingFang TC"/>
              </a:rPr>
              <a:t>先以結構化流程限制模型行為，再以真實模型與確定性驗證器量測可靠度</a:t>
            </a:r>
            <a:r>
              <a:rPr sz="2000" b="1" dirty="0">
                <a:solidFill>
                  <a:srgbClr val="FFFFFF"/>
                </a:solidFill>
                <a:latin typeface="PingFang TC"/>
              </a:rPr>
              <a:t>。」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1588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6180" y="5133941"/>
            <a:ext cx="384048" cy="384048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99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8F"/>
                </a:solidFill>
                <a:latin typeface="Georgia"/>
              </a:rPr>
              <a:t>Structure behavior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0227" y="5517987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限制輸出格式與合法技</a:t>
            </a:r>
            <a:r>
              <a:rPr lang="zh-TW" altLang="en-US" sz="1350" b="0" dirty="0">
                <a:solidFill>
                  <a:srgbClr val="5B6470"/>
                </a:solidFill>
                <a:latin typeface="PingFang TC"/>
              </a:rPr>
              <a:t>能</a:t>
            </a:r>
            <a:endParaRPr sz="13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49188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13780" y="5133941"/>
            <a:ext cx="384048" cy="384048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075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7E6DA8"/>
                </a:solidFill>
                <a:latin typeface="Georgia"/>
              </a:rPr>
              <a:t>Govern 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3780" y="5463125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寫入與生成技能必須經權限與人工核可</a:t>
            </a:r>
            <a:endParaRPr sz="13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06787" y="4951061"/>
            <a:ext cx="3328416" cy="132588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71379" y="5133941"/>
            <a:ext cx="384048" cy="384048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65156" y="5060789"/>
            <a:ext cx="24688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Measure reliability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1379" y="5463125"/>
            <a:ext cx="2999232" cy="576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5B6470"/>
                </a:solidFill>
                <a:latin typeface="PingFang TC"/>
              </a:rPr>
              <a:t>以真實模型、真實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 fixture </a:t>
            </a:r>
            <a:r>
              <a:rPr sz="1350" b="0" dirty="0" err="1">
                <a:solidFill>
                  <a:srgbClr val="5B6470"/>
                </a:solidFill>
                <a:latin typeface="PingFang TC"/>
              </a:rPr>
              <a:t>與確定性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 verifier </a:t>
            </a:r>
            <a:r>
              <a:rPr sz="1350" b="0" dirty="0" err="1">
                <a:solidFill>
                  <a:srgbClr val="5B6470"/>
                </a:solidFill>
                <a:latin typeface="PingFang TC"/>
              </a:rPr>
              <a:t>重複量測</a:t>
            </a:r>
            <a:r>
              <a:rPr sz="1350" b="0" dirty="0">
                <a:solidFill>
                  <a:srgbClr val="5B6470"/>
                </a:solidFill>
                <a:latin typeface="PingFang TC"/>
              </a:rPr>
              <a:t>。</a:t>
            </a: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39F5F62-E3C2-868E-1110-275B5AAF9384}"/>
              </a:ext>
            </a:extLst>
          </p:cNvPr>
          <p:cNvSpPr/>
          <p:nvPr/>
        </p:nvSpPr>
        <p:spPr>
          <a:xfrm>
            <a:off x="2298088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9175A871-CD49-6B5D-C86E-91E1A566F6A5}"/>
              </a:ext>
            </a:extLst>
          </p:cNvPr>
          <p:cNvSpPr/>
          <p:nvPr/>
        </p:nvSpPr>
        <p:spPr>
          <a:xfrm>
            <a:off x="4520080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967D3F1-9B28-F511-390D-FA60FF07B0E2}"/>
              </a:ext>
            </a:extLst>
          </p:cNvPr>
          <p:cNvSpPr/>
          <p:nvPr/>
        </p:nvSpPr>
        <p:spPr>
          <a:xfrm>
            <a:off x="6742072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E3D2BA35-ABC2-136B-A64C-C42CA4D4FB7E}"/>
              </a:ext>
            </a:extLst>
          </p:cNvPr>
          <p:cNvSpPr/>
          <p:nvPr/>
        </p:nvSpPr>
        <p:spPr>
          <a:xfrm>
            <a:off x="8964064" y="3431294"/>
            <a:ext cx="264505" cy="0"/>
          </a:xfrm>
          <a:prstGeom prst="line">
            <a:avLst/>
          </a:prstGeom>
          <a:noFill/>
          <a:ln w="26670">
            <a:solidFill>
              <a:srgbClr val="B8C7D2"/>
            </a:solidFill>
            <a:prstDash val="solid"/>
            <a:tailEnd type="triangle"/>
          </a:ln>
        </p:spPr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459C830-B4A5-7008-8162-4E54996E9BAB}"/>
              </a:ext>
            </a:extLst>
          </p:cNvPr>
          <p:cNvSpPr/>
          <p:nvPr/>
        </p:nvSpPr>
        <p:spPr>
          <a:xfrm>
            <a:off x="393152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15225BB-8FA5-7D18-BBD9-F0D0E83A7E06}"/>
              </a:ext>
            </a:extLst>
          </p:cNvPr>
          <p:cNvSpPr/>
          <p:nvPr/>
        </p:nvSpPr>
        <p:spPr>
          <a:xfrm>
            <a:off x="574477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78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4AB2AF70-5CBC-6402-BB06-943754CAE339}"/>
              </a:ext>
            </a:extLst>
          </p:cNvPr>
          <p:cNvSpPr/>
          <p:nvPr/>
        </p:nvSpPr>
        <p:spPr>
          <a:xfrm>
            <a:off x="556912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自然語言需求</a:t>
            </a:r>
            <a:endParaRPr lang="en-US" sz="1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CE11B6D6-ABD8-6C52-1CE2-759520B0598E}"/>
              </a:ext>
            </a:extLst>
          </p:cNvPr>
          <p:cNvSpPr/>
          <p:nvPr/>
        </p:nvSpPr>
        <p:spPr>
          <a:xfrm>
            <a:off x="696806" y="341915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需求可能模糊</a:t>
            </a:r>
            <a:endParaRPr lang="en-US" sz="11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6E231DB5-9884-FD94-EAEF-89A791FDAB60}"/>
              </a:ext>
            </a:extLst>
          </p:cNvPr>
          <p:cNvSpPr/>
          <p:nvPr/>
        </p:nvSpPr>
        <p:spPr>
          <a:xfrm>
            <a:off x="696806" y="3629463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不可直接操作資料</a:t>
            </a:r>
            <a:endParaRPr lang="en-US" sz="11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B46C6F99-D744-12B2-150B-3BF142EDCFB1}"/>
              </a:ext>
            </a:extLst>
          </p:cNvPr>
          <p:cNvSpPr/>
          <p:nvPr/>
        </p:nvSpPr>
        <p:spPr>
          <a:xfrm>
            <a:off x="2615144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F5DE929C-E25C-ED16-8517-C5A9B2C72288}"/>
              </a:ext>
            </a:extLst>
          </p:cNvPr>
          <p:cNvSpPr/>
          <p:nvPr/>
        </p:nvSpPr>
        <p:spPr>
          <a:xfrm>
            <a:off x="2796469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68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E68B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</a:t>
            </a:r>
            <a:endParaRPr lang="en-US" sz="140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104B3DC7-09FE-EB5B-CF61-02BA0C68F5BE}"/>
              </a:ext>
            </a:extLst>
          </p:cNvPr>
          <p:cNvSpPr/>
          <p:nvPr/>
        </p:nvSpPr>
        <p:spPr>
          <a:xfrm>
            <a:off x="2778904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轉成可檢查的計畫</a:t>
            </a:r>
            <a:endParaRPr lang="en-US" sz="12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DD55D39F-802F-728E-A162-4A00BB082C3F}"/>
              </a:ext>
            </a:extLst>
          </p:cNvPr>
          <p:cNvSpPr/>
          <p:nvPr/>
        </p:nvSpPr>
        <p:spPr>
          <a:xfrm>
            <a:off x="2908260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JSON plan</a:t>
            </a:r>
            <a:endParaRPr lang="en-US" sz="11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14C7F727-EF48-6A8D-511B-58F045648AC4}"/>
              </a:ext>
            </a:extLst>
          </p:cNvPr>
          <p:cNvSpPr/>
          <p:nvPr/>
        </p:nvSpPr>
        <p:spPr>
          <a:xfrm>
            <a:off x="2908260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Schema 驗證</a:t>
            </a:r>
            <a:endParaRPr lang="en-US" sz="11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5375E559-44A6-4000-0DB9-AAA6AB769443}"/>
              </a:ext>
            </a:extLst>
          </p:cNvPr>
          <p:cNvSpPr/>
          <p:nvPr/>
        </p:nvSpPr>
        <p:spPr>
          <a:xfrm>
            <a:off x="2908260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Registry 工具／技能</a:t>
            </a:r>
            <a:endParaRPr lang="en-US" sz="11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776B11A0-C6EC-5C9A-3F6F-4E8F93059106}"/>
              </a:ext>
            </a:extLst>
          </p:cNvPr>
          <p:cNvSpPr/>
          <p:nvPr/>
        </p:nvSpPr>
        <p:spPr>
          <a:xfrm>
            <a:off x="4837136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9601A3E2-60AA-3DDE-4CC8-BA44892EAFEF}"/>
              </a:ext>
            </a:extLst>
          </p:cNvPr>
          <p:cNvSpPr/>
          <p:nvPr/>
        </p:nvSpPr>
        <p:spPr>
          <a:xfrm>
            <a:off x="5018461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6C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Permission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66C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4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A54CF298-944B-CB5D-AB48-B689F4AECC0F}"/>
              </a:ext>
            </a:extLst>
          </p:cNvPr>
          <p:cNvSpPr/>
          <p:nvPr/>
        </p:nvSpPr>
        <p:spPr>
          <a:xfrm>
            <a:off x="5000896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權限與風險檢查</a:t>
            </a:r>
            <a:endParaRPr lang="en-US" sz="12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F8732FC3-3A2E-4049-E57F-9C19A6795AEF}"/>
              </a:ext>
            </a:extLst>
          </p:cNvPr>
          <p:cNvSpPr/>
          <p:nvPr/>
        </p:nvSpPr>
        <p:spPr>
          <a:xfrm>
            <a:off x="5130252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權限檢查</a:t>
            </a:r>
            <a:endParaRPr lang="en-US" sz="11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286328A-6C2E-08A3-6F0D-D3C5E480C391}"/>
              </a:ext>
            </a:extLst>
          </p:cNvPr>
          <p:cNvSpPr/>
          <p:nvPr/>
        </p:nvSpPr>
        <p:spPr>
          <a:xfrm>
            <a:off x="5130252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高風險操作判定</a:t>
            </a:r>
            <a:endParaRPr lang="en-US" sz="11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912D885-6AB1-D7F1-F394-A2E32964DC33}"/>
              </a:ext>
            </a:extLst>
          </p:cNvPr>
          <p:cNvSpPr/>
          <p:nvPr/>
        </p:nvSpPr>
        <p:spPr>
          <a:xfrm>
            <a:off x="5130252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是否需要人工核可</a:t>
            </a:r>
            <a:endParaRPr lang="en-US" sz="11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15C8CEED-9FE1-CFD5-4BB5-BFCB95B9C09B}"/>
              </a:ext>
            </a:extLst>
          </p:cNvPr>
          <p:cNvSpPr/>
          <p:nvPr/>
        </p:nvSpPr>
        <p:spPr>
          <a:xfrm>
            <a:off x="7059128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B9BDA725-89A2-17B7-6E39-85B004A3B162}"/>
              </a:ext>
            </a:extLst>
          </p:cNvPr>
          <p:cNvSpPr/>
          <p:nvPr/>
        </p:nvSpPr>
        <p:spPr>
          <a:xfrm>
            <a:off x="7240453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A14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Controlled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6A14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5A4E802D-A6F9-3326-F930-260854CADEA9}"/>
              </a:ext>
            </a:extLst>
          </p:cNvPr>
          <p:cNvSpPr/>
          <p:nvPr/>
        </p:nvSpPr>
        <p:spPr>
          <a:xfrm>
            <a:off x="7222888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受控執行</a:t>
            </a:r>
            <a:endParaRPr lang="en-US" sz="120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565E9861-7192-421A-543F-9B173356E297}"/>
              </a:ext>
            </a:extLst>
          </p:cNvPr>
          <p:cNvSpPr/>
          <p:nvPr/>
        </p:nvSpPr>
        <p:spPr>
          <a:xfrm>
            <a:off x="7368119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只經授權後執行</a:t>
            </a:r>
            <a:endParaRPr lang="en-US" sz="110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9ED56735-24E7-661D-C6D4-B86FF37933B4}"/>
              </a:ext>
            </a:extLst>
          </p:cNvPr>
          <p:cNvSpPr/>
          <p:nvPr/>
        </p:nvSpPr>
        <p:spPr>
          <a:xfrm>
            <a:off x="7368119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透過 Service Layer</a:t>
            </a:r>
            <a:endParaRPr lang="en-US" sz="11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C6AFE4D1-0E8D-38E1-B4AC-6CFC6B9571E5}"/>
              </a:ext>
            </a:extLst>
          </p:cNvPr>
          <p:cNvSpPr/>
          <p:nvPr/>
        </p:nvSpPr>
        <p:spPr>
          <a:xfrm>
            <a:off x="9281120" y="2569659"/>
            <a:ext cx="1824175" cy="1636777"/>
          </a:xfrm>
          <a:prstGeom prst="roundRect">
            <a:avLst>
              <a:gd name="adj" fmla="val 7595"/>
            </a:avLst>
          </a:prstGeom>
          <a:solidFill>
            <a:srgbClr val="EAF5EF"/>
          </a:solidFill>
          <a:ln w="13970">
            <a:solidFill>
              <a:srgbClr val="5B936E"/>
            </a:solidFill>
            <a:prstDash val="solid"/>
          </a:ln>
        </p:spPr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F526C21C-20D9-325B-1E42-8DE90CF0D722}"/>
              </a:ext>
            </a:extLst>
          </p:cNvPr>
          <p:cNvSpPr/>
          <p:nvPr/>
        </p:nvSpPr>
        <p:spPr>
          <a:xfrm>
            <a:off x="9462445" y="2708846"/>
            <a:ext cx="1459340" cy="35221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93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Objective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B93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B881A13F-F009-21E3-1CE4-A88BCF61CA28}"/>
              </a:ext>
            </a:extLst>
          </p:cNvPr>
          <p:cNvSpPr/>
          <p:nvPr/>
        </p:nvSpPr>
        <p:spPr>
          <a:xfrm>
            <a:off x="9444880" y="2945135"/>
            <a:ext cx="1495824" cy="4558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客觀量測可靠度</a:t>
            </a:r>
            <a:endParaRPr lang="en-US" sz="1200" dirty="0"/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41183E64-C900-C6EC-1463-C73A1C7240E3}"/>
              </a:ext>
            </a:extLst>
          </p:cNvPr>
          <p:cNvSpPr/>
          <p:nvPr/>
        </p:nvSpPr>
        <p:spPr>
          <a:xfrm>
            <a:off x="9572388" y="3385757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真實模型</a:t>
            </a:r>
            <a:endParaRPr lang="en-US" sz="1100" dirty="0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92A21415-BBFB-45CD-364A-31700581887A}"/>
              </a:ext>
            </a:extLst>
          </p:cNvPr>
          <p:cNvSpPr/>
          <p:nvPr/>
        </p:nvSpPr>
        <p:spPr>
          <a:xfrm>
            <a:off x="9572388" y="3596069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正式 API</a:t>
            </a:r>
            <a:endParaRPr lang="en-US" sz="1100" dirty="0"/>
          </a:p>
        </p:txBody>
      </p:sp>
      <p:sp>
        <p:nvSpPr>
          <p:cNvPr id="70" name="Text 36">
            <a:extLst>
              <a:ext uri="{FF2B5EF4-FFF2-40B4-BE49-F238E27FC236}">
                <a16:creationId xmlns:a16="http://schemas.microsoft.com/office/drawing/2014/main" id="{5F2C4C0B-EDAE-7B34-4EB1-7C09CD72AEE2}"/>
              </a:ext>
            </a:extLst>
          </p:cNvPr>
          <p:cNvSpPr/>
          <p:nvPr/>
        </p:nvSpPr>
        <p:spPr>
          <a:xfrm>
            <a:off x="9572388" y="3806381"/>
            <a:ext cx="1295164" cy="207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確定性 Verifier</a:t>
            </a:r>
            <a:endParaRPr lang="en-US" sz="1100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8BC6BD85-3E98-DA90-F5C7-9A89D1607387}"/>
              </a:ext>
            </a:extLst>
          </p:cNvPr>
          <p:cNvSpPr txBox="1"/>
          <p:nvPr/>
        </p:nvSpPr>
        <p:spPr>
          <a:xfrm>
            <a:off x="5270757" y="20603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設計流程</a:t>
            </a: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9D2D0E6F-4D6E-FA23-004E-44ACA52FC9E3}"/>
              </a:ext>
            </a:extLst>
          </p:cNvPr>
          <p:cNvSpPr txBox="1"/>
          <p:nvPr/>
        </p:nvSpPr>
        <p:spPr>
          <a:xfrm>
            <a:off x="5270757" y="442451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設計原則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17">
            <a:extLst>
              <a:ext uri="{FF2B5EF4-FFF2-40B4-BE49-F238E27FC236}">
                <a16:creationId xmlns:a16="http://schemas.microsoft.com/office/drawing/2014/main" id="{A49E1F0C-1035-4D01-BABB-CED16E145BDD}"/>
              </a:ext>
            </a:extLst>
          </p:cNvPr>
          <p:cNvSpPr/>
          <p:nvPr/>
        </p:nvSpPr>
        <p:spPr>
          <a:xfrm>
            <a:off x="660365" y="3876727"/>
            <a:ext cx="8522210" cy="110088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Harness Architecture：四層分工與離線評測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042415"/>
            <a:ext cx="10561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B6470"/>
                </a:solidFill>
                <a:latin typeface="PingFang TC"/>
              </a:rPr>
              <a:t>Workflow Pipeline 定義要做什麼；Runtime 確保可靠執行；Service Layer 才真正操作資料。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365" y="1477597"/>
            <a:ext cx="8503920" cy="1087987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243" y="1582597"/>
            <a:ext cx="2286000" cy="272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F6F8F"/>
                </a:solidFill>
                <a:latin typeface="Georgia"/>
              </a:rPr>
              <a:t>1  Workflow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804" y="2676162"/>
            <a:ext cx="8503920" cy="1089987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5119" y="2671590"/>
            <a:ext cx="2395939" cy="3705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E6DA8"/>
                </a:solidFill>
                <a:latin typeface="Georgia"/>
              </a:rPr>
              <a:t>2  Agent Harness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655" y="5088193"/>
            <a:ext cx="8503920" cy="1111788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843243" y="3935322"/>
            <a:ext cx="2763802" cy="3160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C9A94E"/>
                </a:solidFill>
                <a:latin typeface="Georgia"/>
              </a:rPr>
              <a:t>3  Cloud</a:t>
            </a:r>
            <a:r>
              <a:rPr lang="zh-TW" altLang="en-US" sz="1500" b="1" dirty="0">
                <a:solidFill>
                  <a:srgbClr val="C9A94E"/>
                </a:solidFill>
                <a:latin typeface="Georgia"/>
              </a:rPr>
              <a:t> </a:t>
            </a:r>
            <a:r>
              <a:rPr sz="1500" b="1" dirty="0">
                <a:solidFill>
                  <a:srgbClr val="C9A94E"/>
                </a:solidFill>
                <a:latin typeface="Georgia"/>
              </a:rPr>
              <a:t>Drive Service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6146" y="1999082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Parse</a:t>
            </a:r>
          </a:p>
        </p:txBody>
      </p:sp>
      <p:sp>
        <p:nvSpPr>
          <p:cNvPr id="16" name="Chevron 15"/>
          <p:cNvSpPr/>
          <p:nvPr/>
        </p:nvSpPr>
        <p:spPr>
          <a:xfrm>
            <a:off x="2668001" y="2116323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93234" y="1987835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Plan</a:t>
            </a:r>
          </a:p>
        </p:txBody>
      </p:sp>
      <p:sp>
        <p:nvSpPr>
          <p:cNvPr id="18" name="Chevron 17"/>
          <p:cNvSpPr/>
          <p:nvPr/>
        </p:nvSpPr>
        <p:spPr>
          <a:xfrm>
            <a:off x="3822799" y="2088576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12537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Validate</a:t>
            </a:r>
          </a:p>
        </p:txBody>
      </p:sp>
      <p:sp>
        <p:nvSpPr>
          <p:cNvPr id="20" name="Chevron 19"/>
          <p:cNvSpPr/>
          <p:nvPr/>
        </p:nvSpPr>
        <p:spPr>
          <a:xfrm>
            <a:off x="4995517" y="2116324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92113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Review</a:t>
            </a:r>
          </a:p>
        </p:txBody>
      </p:sp>
      <p:sp>
        <p:nvSpPr>
          <p:cNvPr id="22" name="Chevron 21"/>
          <p:cNvSpPr/>
          <p:nvPr/>
        </p:nvSpPr>
        <p:spPr>
          <a:xfrm>
            <a:off x="6129373" y="2116325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85405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Execute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313521" y="2116326"/>
            <a:ext cx="91440" cy="171319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55837" y="1987838"/>
            <a:ext cx="786384" cy="428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3889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2F6F8F"/>
                </a:solidFill>
                <a:latin typeface="Georgia"/>
              </a:rPr>
              <a:t>Execution 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86657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E6DA8"/>
                </a:solidFill>
                <a:latin typeface="Georgia"/>
              </a:rPr>
              <a:t>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9424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A94E"/>
                </a:solidFill>
                <a:latin typeface="Georgia"/>
              </a:rPr>
              <a:t>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32193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E8F72"/>
                </a:solidFill>
                <a:latin typeface="Georgia"/>
              </a:rPr>
              <a:t>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4961" y="3038357"/>
            <a:ext cx="1353312" cy="58859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06A66"/>
                </a:solidFill>
                <a:latin typeface="Georgia"/>
              </a:rPr>
              <a:t>Lifecycle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89761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8F"/>
                </a:solidFill>
                <a:latin typeface="Georgia"/>
              </a:rPr>
              <a:t>Drive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92881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8F72"/>
                </a:solidFill>
                <a:latin typeface="Georgia"/>
              </a:rPr>
              <a:t>Upload 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6000" y="4357016"/>
            <a:ext cx="1942575" cy="39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7E6DA8"/>
                </a:solidFill>
                <a:latin typeface="Georgia"/>
              </a:rPr>
              <a:t>Assistant</a:t>
            </a:r>
            <a:r>
              <a:rPr lang="en-US" sz="1200" b="1" dirty="0">
                <a:solidFill>
                  <a:srgbClr val="7E6DA8"/>
                </a:solidFill>
                <a:latin typeface="Georgia"/>
              </a:rPr>
              <a:t> </a:t>
            </a:r>
            <a:r>
              <a:rPr sz="1200" b="1" dirty="0">
                <a:solidFill>
                  <a:srgbClr val="7E6DA8"/>
                </a:solidFill>
                <a:latin typeface="Georgia"/>
              </a:rPr>
              <a:t>Skill</a:t>
            </a:r>
            <a:r>
              <a:rPr lang="en-US" sz="1200" b="1" dirty="0">
                <a:solidFill>
                  <a:srgbClr val="7E6DA8"/>
                </a:solidFill>
                <a:latin typeface="Georgia"/>
              </a:rPr>
              <a:t> </a:t>
            </a:r>
            <a:r>
              <a:rPr sz="1200" b="1" dirty="0">
                <a:solidFill>
                  <a:srgbClr val="7E6DA8"/>
                </a:solidFill>
                <a:latin typeface="Georgia"/>
              </a:rPr>
              <a:t>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36608" y="1477597"/>
            <a:ext cx="2011680" cy="4208495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1764792"/>
            <a:ext cx="16002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6DA8"/>
                </a:solidFill>
                <a:latin typeface="Georgia"/>
              </a:rPr>
              <a:t>Evaluation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2084831"/>
            <a:ext cx="1234440" cy="23774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F7F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94E"/>
                </a:solidFill>
                <a:latin typeface="PingFang TC"/>
              </a:rPr>
              <a:t>OFFLINE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254203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Case Schema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136391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Runner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373075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Verifier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8360" y="4325112"/>
            <a:ext cx="14081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12A"/>
                </a:solidFill>
                <a:latin typeface="Georgia"/>
              </a:rPr>
              <a:t>Scoring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5010912"/>
            <a:ext cx="1591056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Georgia"/>
              </a:rPr>
              <a:t>not in request path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98864" y="3165925"/>
            <a:ext cx="237744" cy="0"/>
          </a:xfrm>
          <a:prstGeom prst="line">
            <a:avLst/>
          </a:prstGeom>
          <a:ln w="15875">
            <a:solidFill>
              <a:srgbClr val="7E6D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11">
            <a:extLst>
              <a:ext uri="{FF2B5EF4-FFF2-40B4-BE49-F238E27FC236}">
                <a16:creationId xmlns:a16="http://schemas.microsoft.com/office/drawing/2014/main" id="{C02354C8-BB80-CEFF-958C-62ADB81BF3EE}"/>
              </a:ext>
            </a:extLst>
          </p:cNvPr>
          <p:cNvSpPr/>
          <p:nvPr/>
        </p:nvSpPr>
        <p:spPr>
          <a:xfrm>
            <a:off x="898111" y="5252785"/>
            <a:ext cx="3139232" cy="3596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" altLang="zh-TW" sz="1400" b="1" dirty="0">
                <a:solidFill>
                  <a:srgbClr val="5E8F72"/>
                </a:solidFill>
                <a:latin typeface="Georgia"/>
              </a:rPr>
              <a:t>4 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rgbClr val="5E8F72"/>
              </a:solidFill>
              <a:latin typeface="Georgia"/>
            </a:endParaRPr>
          </a:p>
        </p:txBody>
      </p:sp>
      <p:sp>
        <p:nvSpPr>
          <p:cNvPr id="49" name="Rounded Rectangle 30">
            <a:extLst>
              <a:ext uri="{FF2B5EF4-FFF2-40B4-BE49-F238E27FC236}">
                <a16:creationId xmlns:a16="http://schemas.microsoft.com/office/drawing/2014/main" id="{89E4B102-137B-AEC1-D27B-118418E02EE8}"/>
              </a:ext>
            </a:extLst>
          </p:cNvPr>
          <p:cNvSpPr/>
          <p:nvPr/>
        </p:nvSpPr>
        <p:spPr>
          <a:xfrm>
            <a:off x="2893234" y="5358384"/>
            <a:ext cx="1868111" cy="61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altLang="zh-TW" sz="1200" b="1" dirty="0">
                <a:solidFill>
                  <a:srgbClr val="2F6F8F"/>
                </a:solidFill>
                <a:latin typeface="Georgia"/>
              </a:rPr>
              <a:t>PostgreSQL</a:t>
            </a:r>
            <a:endParaRPr sz="1200" b="1" dirty="0">
              <a:solidFill>
                <a:srgbClr val="2F6F8F"/>
              </a:solidFill>
              <a:latin typeface="Georgia"/>
            </a:endParaRPr>
          </a:p>
        </p:txBody>
      </p:sp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1EBF458F-6DAD-2029-D4D8-CC60B55D0D44}"/>
              </a:ext>
            </a:extLst>
          </p:cNvPr>
          <p:cNvSpPr/>
          <p:nvPr/>
        </p:nvSpPr>
        <p:spPr>
          <a:xfrm>
            <a:off x="5001926" y="5358384"/>
            <a:ext cx="1868111" cy="6148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altLang="zh-TW" sz="1200" b="1" dirty="0">
                <a:solidFill>
                  <a:srgbClr val="7E6DA8"/>
                </a:solidFill>
                <a:latin typeface="Georgia"/>
              </a:rPr>
              <a:t>Object Storage</a:t>
            </a:r>
            <a:endParaRPr sz="1200" b="1" dirty="0">
              <a:solidFill>
                <a:srgbClr val="7E6DA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Six Core Components × Nine Runtime Modules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1404" y="1243584"/>
            <a:ext cx="5230368" cy="1627613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625995" y="1444753"/>
            <a:ext cx="512064" cy="512064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4364" y="137160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8F"/>
                </a:solidFill>
                <a:latin typeface="Georgia"/>
              </a:rPr>
              <a:t>Execution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8059" y="177393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Main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8059" y="2285583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Sub-agent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6091" y="1243584"/>
            <a:ext cx="5230368" cy="1627613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30683" y="1444753"/>
            <a:ext cx="512064" cy="512064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9052" y="137160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E6DA8"/>
                </a:solidFill>
                <a:latin typeface="Georgia"/>
              </a:rPr>
              <a:t>Tool / Skill 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2747" y="1791806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Registry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2747" y="2285583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Built-in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404" y="2999214"/>
            <a:ext cx="5230368" cy="1627613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5995" y="3200383"/>
            <a:ext cx="512064" cy="512064"/>
          </a:xfrm>
          <a:prstGeom prst="ellipse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4364" y="312723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94E"/>
                </a:solidFill>
                <a:latin typeface="Georgia"/>
              </a:rPr>
              <a:t>Context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059" y="352956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Context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8059" y="4023345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13212A"/>
                </a:solidFill>
                <a:latin typeface="Georgia"/>
              </a:rPr>
              <a:t>System Prompt 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6091" y="2999214"/>
            <a:ext cx="5230368" cy="1627613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30683" y="3200383"/>
            <a:ext cx="512064" cy="512064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9052" y="312723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State 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2747" y="352956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Session Persistence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404" y="4754844"/>
            <a:ext cx="5230368" cy="1627613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5995" y="4956013"/>
            <a:ext cx="512064" cy="512064"/>
          </a:xfrm>
          <a:prstGeom prst="ellipse">
            <a:avLst/>
          </a:prstGeom>
          <a:solidFill>
            <a:srgbClr val="B06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4364" y="488286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06A66"/>
                </a:solidFill>
                <a:latin typeface="Georgia"/>
              </a:rPr>
              <a:t>Lifecycle Hooks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059" y="528519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Governance Hooks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8059" y="5802157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Permissions &amp; Safety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66091" y="4754844"/>
            <a:ext cx="5230368" cy="1627613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130683" y="4956013"/>
            <a:ext cx="512064" cy="512064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9052" y="4882861"/>
            <a:ext cx="2194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E6DA8"/>
                </a:solidFill>
                <a:latin typeface="Georgia"/>
              </a:rPr>
              <a:t>Evaluation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2747" y="5285198"/>
            <a:ext cx="18288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Offline Evaluation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1AC3AEBB-31C2-0251-75C5-ACBE2CEF2D0C}"/>
              </a:ext>
            </a:extLst>
          </p:cNvPr>
          <p:cNvSpPr/>
          <p:nvPr/>
        </p:nvSpPr>
        <p:spPr>
          <a:xfrm>
            <a:off x="3113163" y="1791806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控制任務執行流程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分派步驟給對應程序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處理每一步的結果回傳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80492D0B-23C5-C8F1-2E60-27C6D0A6F147}"/>
              </a:ext>
            </a:extLst>
          </p:cNvPr>
          <p:cNvSpPr/>
          <p:nvPr/>
        </p:nvSpPr>
        <p:spPr>
          <a:xfrm>
            <a:off x="8562988" y="1862019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管理系統可使用工具與技能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提供技能名稱、功能、參數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將內建與自建技能分開管理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F9C79573-7E31-82DE-BB04-561F311EE3B3}"/>
              </a:ext>
            </a:extLst>
          </p:cNvPr>
          <p:cNvSpPr/>
          <p:nvPr/>
        </p:nvSpPr>
        <p:spPr>
          <a:xfrm>
            <a:off x="3113162" y="3566141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整理需求、對話紀錄與任務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工具說明、規則等組成</a:t>
            </a:r>
            <a:r>
              <a:rPr lang="en-US" altLang="zh-TW" sz="1300" dirty="0"/>
              <a:t>Prompt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控制上下文長短、內容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2A29C6F2-8ED1-1280-79F5-A4F42C32F36F}"/>
              </a:ext>
            </a:extLst>
          </p:cNvPr>
          <p:cNvSpPr/>
          <p:nvPr/>
        </p:nvSpPr>
        <p:spPr>
          <a:xfrm>
            <a:off x="8562987" y="3547856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保存對話</a:t>
            </a:r>
            <a:r>
              <a:rPr lang="en-US" altLang="zh-TW" sz="1300" dirty="0"/>
              <a:t>session</a:t>
            </a:r>
            <a:r>
              <a:rPr lang="zh-TW" altLang="en-US" sz="1300" dirty="0"/>
              <a:t>、訊息、狀態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紀錄執行節點與結果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使任務在多次請求間可延續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F7AD3187-A931-D84E-7BF3-823E03A4FC71}"/>
              </a:ext>
            </a:extLst>
          </p:cNvPr>
          <p:cNvSpPr/>
          <p:nvPr/>
        </p:nvSpPr>
        <p:spPr>
          <a:xfrm>
            <a:off x="3113161" y="5321771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執行前後做權限安全檢查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高風險操作要求使用者確認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管理錯誤處理與執行紀錄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D343B08D-07CE-F9FB-5009-D9616E620A40}"/>
              </a:ext>
            </a:extLst>
          </p:cNvPr>
          <p:cNvSpPr/>
          <p:nvPr/>
        </p:nvSpPr>
        <p:spPr>
          <a:xfrm>
            <a:off x="8562986" y="5418109"/>
            <a:ext cx="2706623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建立測試案例進行測試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驗證規劃、執行結果及狀態</a:t>
            </a:r>
            <a:endParaRPr lang="zh-TW" altLang="en" sz="1300" dirty="0"/>
          </a:p>
          <a:p>
            <a:pPr marL="285750" indent="-285750">
              <a:buFont typeface="Wingdings" pitchFamily="2" charset="2"/>
              <a:buChar char="l"/>
            </a:pPr>
            <a:r>
              <a:rPr lang="zh-TW" altLang="en-US" sz="1300" dirty="0"/>
              <a:t>統計錯誤類型以分析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Workflow Pipeline：先形成完整計畫，再依權限分流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1447" y="1490471"/>
            <a:ext cx="1517904" cy="80467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Requirement
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5383" y="1490471"/>
            <a:ext cx="1517904" cy="804672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Structured
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9319" y="1490471"/>
            <a:ext cx="1517904" cy="804672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Skill
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3255" y="1490471"/>
            <a:ext cx="1517904" cy="804672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Permission &amp;
Safety Review</a:t>
            </a:r>
          </a:p>
        </p:txBody>
      </p:sp>
      <p:sp>
        <p:nvSpPr>
          <p:cNvPr id="18" name="Diamond 17"/>
          <p:cNvSpPr/>
          <p:nvPr/>
        </p:nvSpPr>
        <p:spPr>
          <a:xfrm>
            <a:off x="7679491" y="1348740"/>
            <a:ext cx="1298448" cy="1078992"/>
          </a:xfrm>
          <a:prstGeom prst="diamond">
            <a:avLst/>
          </a:prstGeom>
          <a:solidFill>
            <a:srgbClr val="F7F1E2"/>
          </a:solidFill>
          <a:ln w="1524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50612" y="1321308"/>
            <a:ext cx="9326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E8F72"/>
                </a:solidFill>
                <a:latin typeface="Georgia"/>
              </a:rPr>
              <a:t>read-only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2948" y="1568196"/>
            <a:ext cx="1901952" cy="64008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212A"/>
                </a:solidFill>
                <a:latin typeface="Georgia"/>
              </a:rPr>
              <a:t>Workflow
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6200" y="2563524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6DA8"/>
                </a:solidFill>
                <a:latin typeface="Georgia"/>
              </a:rPr>
              <a:t>write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96127" y="3278281"/>
            <a:ext cx="1481328" cy="640080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Plan
Presentation</a:t>
            </a:r>
          </a:p>
        </p:txBody>
      </p:sp>
      <p:sp>
        <p:nvSpPr>
          <p:cNvPr id="30" name="Diamond 29"/>
          <p:cNvSpPr/>
          <p:nvPr/>
        </p:nvSpPr>
        <p:spPr>
          <a:xfrm>
            <a:off x="3293942" y="3012450"/>
            <a:ext cx="1408176" cy="1170590"/>
          </a:xfrm>
          <a:prstGeom prst="diamond">
            <a:avLst/>
          </a:prstGeom>
          <a:solidFill>
            <a:srgbClr val="F1EEF7"/>
          </a:solidFill>
          <a:ln w="1524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075755" y="4215279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E8F72"/>
                </a:solidFill>
                <a:latin typeface="Georgia"/>
              </a:rPr>
              <a:t>approve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32367" y="3285839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B06A66"/>
                </a:solidFill>
                <a:latin typeface="Georgia"/>
              </a:rPr>
              <a:t>reject</a:t>
            </a:r>
          </a:p>
        </p:txBody>
      </p:sp>
      <p:cxnSp>
        <p:nvCxnSpPr>
          <p:cNvPr id="38" name="Connector 37"/>
          <p:cNvCxnSpPr>
            <a:cxnSpLocks/>
            <a:stCxn id="30" idx="1"/>
            <a:endCxn id="39" idx="3"/>
          </p:cNvCxnSpPr>
          <p:nvPr/>
        </p:nvCxnSpPr>
        <p:spPr>
          <a:xfrm flipH="1">
            <a:off x="2553278" y="3597745"/>
            <a:ext cx="740664" cy="488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71950" y="3282591"/>
            <a:ext cx="1481328" cy="64008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6A66"/>
                </a:solidFill>
                <a:latin typeface="Georgia"/>
              </a:rPr>
              <a:t>Cancelled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52948" y="4434840"/>
            <a:ext cx="1901952" cy="1005840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Execution
Logging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26100" y="5486400"/>
            <a:ext cx="1755648" cy="237744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F6F8F"/>
                </a:solidFill>
                <a:latin typeface="PingFang TC"/>
              </a:rPr>
              <a:t>Persistence + Governance Hooks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5724144"/>
            <a:ext cx="7132320" cy="585216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22960" y="5833872"/>
            <a:ext cx="310896" cy="310896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61872" y="5779008"/>
            <a:ext cx="627278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E6DA8"/>
                </a:solidFill>
                <a:latin typeface="Georgia"/>
              </a:rPr>
              <a:t>Skill-authoring requests use a separate proposal flow.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9219" y="1790386"/>
            <a:ext cx="10789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C9A94E"/>
                </a:solidFill>
                <a:latin typeface="Georgia"/>
              </a:rPr>
              <a:t>Permission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5287" y="3536601"/>
            <a:ext cx="117043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dirty="0">
                <a:solidFill>
                  <a:srgbClr val="7E6DA8"/>
                </a:solidFill>
                <a:latin typeface="Georgia"/>
              </a:rPr>
              <a:t>User Approval</a:t>
            </a:r>
          </a:p>
        </p:txBody>
      </p:sp>
      <p:cxnSp>
        <p:nvCxnSpPr>
          <p:cNvPr id="57" name="Connector 37">
            <a:extLst>
              <a:ext uri="{FF2B5EF4-FFF2-40B4-BE49-F238E27FC236}">
                <a16:creationId xmlns:a16="http://schemas.microsoft.com/office/drawing/2014/main" id="{F9662D65-3735-CBFF-B5CA-EC43B292B3DF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089351" y="1892807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Connector 37">
            <a:extLst>
              <a:ext uri="{FF2B5EF4-FFF2-40B4-BE49-F238E27FC236}">
                <a16:creationId xmlns:a16="http://schemas.microsoft.com/office/drawing/2014/main" id="{5EF56CEC-46E7-9BDF-621A-8ED3E19D347C}"/>
              </a:ext>
            </a:extLst>
          </p:cNvPr>
          <p:cNvCxnSpPr>
            <a:cxnSpLocks/>
          </p:cNvCxnSpPr>
          <p:nvPr/>
        </p:nvCxnSpPr>
        <p:spPr>
          <a:xfrm>
            <a:off x="3863287" y="1899007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onnector 37">
            <a:extLst>
              <a:ext uri="{FF2B5EF4-FFF2-40B4-BE49-F238E27FC236}">
                <a16:creationId xmlns:a16="http://schemas.microsoft.com/office/drawing/2014/main" id="{EC64D0BB-7D37-062C-D4B5-75DDA4567F3A}"/>
              </a:ext>
            </a:extLst>
          </p:cNvPr>
          <p:cNvCxnSpPr>
            <a:cxnSpLocks/>
          </p:cNvCxnSpPr>
          <p:nvPr/>
        </p:nvCxnSpPr>
        <p:spPr>
          <a:xfrm>
            <a:off x="5637223" y="1892390"/>
            <a:ext cx="25603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Connector 37">
            <a:extLst>
              <a:ext uri="{FF2B5EF4-FFF2-40B4-BE49-F238E27FC236}">
                <a16:creationId xmlns:a16="http://schemas.microsoft.com/office/drawing/2014/main" id="{46ED3019-7B7D-5E26-B363-0C29FA6B389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7411159" y="1888236"/>
            <a:ext cx="268332" cy="457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Connector 37">
            <a:extLst>
              <a:ext uri="{FF2B5EF4-FFF2-40B4-BE49-F238E27FC236}">
                <a16:creationId xmlns:a16="http://schemas.microsoft.com/office/drawing/2014/main" id="{0563D84A-8C64-E35A-BE76-0ED64B3CA87A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8977939" y="1888236"/>
            <a:ext cx="37500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or 37">
            <a:extLst>
              <a:ext uri="{FF2B5EF4-FFF2-40B4-BE49-F238E27FC236}">
                <a16:creationId xmlns:a16="http://schemas.microsoft.com/office/drawing/2014/main" id="{B41AD3F7-A419-A81C-B5CD-45CEF7CA7AA6}"/>
              </a:ext>
            </a:extLst>
          </p:cNvPr>
          <p:cNvCxnSpPr>
            <a:cxnSpLocks/>
            <a:stCxn id="21" idx="2"/>
            <a:endCxn id="45" idx="0"/>
          </p:cNvCxnSpPr>
          <p:nvPr/>
        </p:nvCxnSpPr>
        <p:spPr>
          <a:xfrm>
            <a:off x="10303924" y="2208276"/>
            <a:ext cx="0" cy="222656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肘形接點 85">
            <a:extLst>
              <a:ext uri="{FF2B5EF4-FFF2-40B4-BE49-F238E27FC236}">
                <a16:creationId xmlns:a16="http://schemas.microsoft.com/office/drawing/2014/main" id="{05A07E20-48E8-98BE-C22F-BECC77FB6057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7174629" y="2329854"/>
            <a:ext cx="1056209" cy="12519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Connector 37">
            <a:extLst>
              <a:ext uri="{FF2B5EF4-FFF2-40B4-BE49-F238E27FC236}">
                <a16:creationId xmlns:a16="http://schemas.microsoft.com/office/drawing/2014/main" id="{36B3AA4D-6DFD-FBE5-DA6A-AFBA3E6C8DC5}"/>
              </a:ext>
            </a:extLst>
          </p:cNvPr>
          <p:cNvCxnSpPr>
            <a:cxnSpLocks/>
            <a:stCxn id="27" idx="1"/>
            <a:endCxn id="30" idx="3"/>
          </p:cNvCxnSpPr>
          <p:nvPr/>
        </p:nvCxnSpPr>
        <p:spPr>
          <a:xfrm flipH="1" flipV="1">
            <a:off x="4702118" y="3597745"/>
            <a:ext cx="894009" cy="57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肘形接點 107">
            <a:extLst>
              <a:ext uri="{FF2B5EF4-FFF2-40B4-BE49-F238E27FC236}">
                <a16:creationId xmlns:a16="http://schemas.microsoft.com/office/drawing/2014/main" id="{A752D1D0-0945-804A-79B3-FA29B6018E66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4961027" y="774258"/>
            <a:ext cx="1243509" cy="7540334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" name="肘形接點 112">
            <a:extLst>
              <a:ext uri="{FF2B5EF4-FFF2-40B4-BE49-F238E27FC236}">
                <a16:creationId xmlns:a16="http://schemas.microsoft.com/office/drawing/2014/main" id="{74D7C30F-E5DA-69E8-C473-8A772F793BA2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7076751" y="3723263"/>
            <a:ext cx="3227173" cy="711577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肘形接點 120">
            <a:extLst>
              <a:ext uri="{FF2B5EF4-FFF2-40B4-BE49-F238E27FC236}">
                <a16:creationId xmlns:a16="http://schemas.microsoft.com/office/drawing/2014/main" id="{5F2D631B-FC95-2511-CC71-15EB935DCE67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361169" y="1819901"/>
            <a:ext cx="628640" cy="5354918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Generated Skill Lifecycle：核可後才執行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1104" y="1188721"/>
            <a:ext cx="4151376" cy="530349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EA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6F8F"/>
                </a:solidFill>
                <a:latin typeface="Georgia"/>
              </a:rPr>
              <a:t>1  Generate &amp; 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7072" y="1188721"/>
            <a:ext cx="2340864" cy="530349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E6DA8"/>
                </a:solidFill>
                <a:latin typeface="Georgia"/>
              </a:rPr>
              <a:t>2  Human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2528" y="1188721"/>
            <a:ext cx="4078224" cy="530349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EA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E8F72"/>
                </a:solidFill>
                <a:latin typeface="Georgia"/>
              </a:rPr>
              <a:t>3  Execute after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40797"/>
            <a:ext cx="1353312" cy="74980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Skill
Requirement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1947672" y="3233405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21408" y="2940797"/>
            <a:ext cx="1353312" cy="749808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Codegen
Sub-agent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3493008" y="3224260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75888" y="2940797"/>
            <a:ext cx="1554480" cy="74980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3212A"/>
                </a:solidFill>
                <a:latin typeface="Georgia"/>
              </a:rPr>
              <a:t>JSON / Manifest
Validation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248656" y="3224260"/>
            <a:ext cx="146304" cy="164592"/>
          </a:xfrm>
          <a:prstGeom prst="chevron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13248" y="2940797"/>
            <a:ext cx="1353312" cy="749808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 err="1">
                <a:solidFill>
                  <a:srgbClr val="13212A"/>
                </a:solidFill>
                <a:latin typeface="Georgia"/>
              </a:rPr>
              <a:t>CodeGuard</a:t>
            </a:r>
            <a:endParaRPr sz="135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21408" y="1920238"/>
            <a:ext cx="4645152" cy="649226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6470"/>
                </a:solidFill>
                <a:latin typeface="Georgia"/>
              </a:rPr>
              <a:t>Observable errors feed back to codegen
max 3 repair rounds (4 attempts)</a:t>
            </a:r>
          </a:p>
        </p:txBody>
      </p:sp>
      <p:cxnSp>
        <p:nvCxnSpPr>
          <p:cNvPr id="18" name="Connector 17"/>
          <p:cNvCxnSpPr>
            <a:cxnSpLocks/>
            <a:endCxn id="12" idx="0"/>
          </p:cNvCxnSpPr>
          <p:nvPr/>
        </p:nvCxnSpPr>
        <p:spPr>
          <a:xfrm>
            <a:off x="2798064" y="2569464"/>
            <a:ext cx="0" cy="371333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16" idx="0"/>
          </p:cNvCxnSpPr>
          <p:nvPr/>
        </p:nvCxnSpPr>
        <p:spPr>
          <a:xfrm flipV="1">
            <a:off x="6089904" y="2569464"/>
            <a:ext cx="0" cy="371333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Down Arrow 19"/>
          <p:cNvSpPr/>
          <p:nvPr/>
        </p:nvSpPr>
        <p:spPr>
          <a:xfrm>
            <a:off x="5998464" y="3891772"/>
            <a:ext cx="182880" cy="256032"/>
          </a:xfrm>
          <a:prstGeom prst="downArrow">
            <a:avLst/>
          </a:prstGeom>
          <a:solidFill>
            <a:srgbClr val="C9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15712" y="4288537"/>
            <a:ext cx="1591056" cy="694944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3212A"/>
                </a:solidFill>
                <a:latin typeface="Georgia"/>
              </a:rPr>
              <a:t>Pending
Proposal</a:t>
            </a:r>
          </a:p>
        </p:txBody>
      </p:sp>
      <p:sp>
        <p:nvSpPr>
          <p:cNvPr id="22" name="Diamond 21"/>
          <p:cNvSpPr/>
          <p:nvPr/>
        </p:nvSpPr>
        <p:spPr>
          <a:xfrm>
            <a:off x="7208520" y="4087369"/>
            <a:ext cx="1289304" cy="1097280"/>
          </a:xfrm>
          <a:prstGeom prst="diamond">
            <a:avLst/>
          </a:prstGeom>
          <a:solidFill>
            <a:srgbClr val="F1EEF7"/>
          </a:solidFill>
          <a:ln w="1524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6989064" y="4519872"/>
            <a:ext cx="192024" cy="207577"/>
          </a:xfrm>
          <a:prstGeom prst="chevron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17280" y="4288537"/>
            <a:ext cx="1316736" cy="694944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13212A"/>
                </a:solidFill>
                <a:latin typeface="Georgia"/>
              </a:rPr>
              <a:t>Installed
Skill</a:t>
            </a:r>
          </a:p>
        </p:txBody>
      </p:sp>
      <p:sp>
        <p:nvSpPr>
          <p:cNvPr id="25" name="Chevron 24"/>
          <p:cNvSpPr/>
          <p:nvPr/>
        </p:nvSpPr>
        <p:spPr>
          <a:xfrm>
            <a:off x="8479536" y="4544569"/>
            <a:ext cx="182880" cy="182880"/>
          </a:xfrm>
          <a:prstGeom prst="chevron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53472" y="4288537"/>
            <a:ext cx="1097280" cy="694944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Sandbox
Execution</a:t>
            </a:r>
          </a:p>
        </p:txBody>
      </p:sp>
      <p:sp>
        <p:nvSpPr>
          <p:cNvPr id="27" name="Chevron 26"/>
          <p:cNvSpPr/>
          <p:nvPr/>
        </p:nvSpPr>
        <p:spPr>
          <a:xfrm>
            <a:off x="10052304" y="4544569"/>
            <a:ext cx="146304" cy="182880"/>
          </a:xfrm>
          <a:prstGeom prst="chevron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10710672" y="5029201"/>
            <a:ext cx="182880" cy="228600"/>
          </a:xfrm>
          <a:prstGeom prst="downArrow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04832" y="5312665"/>
            <a:ext cx="1828800" cy="54864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212A"/>
                </a:solidFill>
                <a:latin typeface="Georgia"/>
              </a:rPr>
              <a:t>Output Ingestion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2918" y="5315398"/>
            <a:ext cx="5943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B06A66"/>
                </a:solidFill>
                <a:latin typeface="Georgia"/>
              </a:rPr>
              <a:t>reject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61737" y="5184649"/>
            <a:ext cx="0" cy="51206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27637" y="5690302"/>
            <a:ext cx="1755648" cy="45720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B06A66"/>
                </a:solidFill>
                <a:latin typeface="Georgia"/>
              </a:rPr>
              <a:t>Rejected / Cancelled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72000"/>
            <a:ext cx="4224528" cy="173736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824" y="4773168"/>
            <a:ext cx="3749039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500" b="1" dirty="0">
                <a:solidFill>
                  <a:srgbClr val="2F6F8F"/>
                </a:solidFill>
                <a:latin typeface="Georgia"/>
              </a:rPr>
              <a:t>一些限制</a:t>
            </a:r>
            <a:endParaRPr sz="1500" b="1" dirty="0">
              <a:solidFill>
                <a:srgbClr val="2F6F8F"/>
              </a:solidFill>
              <a:latin typeface="Georgia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138928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B6470"/>
                </a:solidFill>
                <a:latin typeface="PingFang TC"/>
              </a:rPr>
              <a:t>• 通過靜態驗證後，只建立 Pending Proposal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" y="5486400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dirty="0">
                <a:solidFill>
                  <a:srgbClr val="5B6470"/>
                </a:solidFill>
                <a:latin typeface="PingFang TC"/>
              </a:rPr>
              <a:t>• </a:t>
            </a:r>
            <a:r>
              <a:rPr sz="1320" b="0" dirty="0" err="1">
                <a:solidFill>
                  <a:srgbClr val="5B6470"/>
                </a:solidFill>
                <a:latin typeface="PingFang TC"/>
              </a:rPr>
              <a:t>使用者核可後才安裝，之後才可進</a:t>
            </a:r>
            <a:r>
              <a:rPr sz="1320" b="0" dirty="0">
                <a:solidFill>
                  <a:srgbClr val="5B6470"/>
                </a:solidFill>
                <a:latin typeface="PingFang TC"/>
              </a:rPr>
              <a:t> Sandbox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5833872"/>
            <a:ext cx="376732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B6470"/>
                </a:solidFill>
                <a:latin typeface="PingFang TC"/>
              </a:rPr>
              <a:t>• 核可後執行失敗不會自動重新生成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8248" y="4562857"/>
            <a:ext cx="1133856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dirty="0">
                <a:solidFill>
                  <a:srgbClr val="7E6DA8"/>
                </a:solidFill>
                <a:latin typeface="Georgia"/>
              </a:rPr>
              <a:t>User Approval</a:t>
            </a:r>
          </a:p>
        </p:txBody>
      </p:sp>
      <p:sp>
        <p:nvSpPr>
          <p:cNvPr id="54" name="Rectangle 32">
            <a:extLst>
              <a:ext uri="{FF2B5EF4-FFF2-40B4-BE49-F238E27FC236}">
                <a16:creationId xmlns:a16="http://schemas.microsoft.com/office/drawing/2014/main" id="{C918DBB5-452A-B89C-FC61-8A1E8AE76B81}"/>
              </a:ext>
            </a:extLst>
          </p:cNvPr>
          <p:cNvSpPr/>
          <p:nvPr/>
        </p:nvSpPr>
        <p:spPr>
          <a:xfrm>
            <a:off x="8154924" y="4090575"/>
            <a:ext cx="6858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5E8F72"/>
                </a:solidFill>
                <a:latin typeface="Georgia"/>
              </a:rPr>
              <a:t>approve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Why Evaluation：用真實資料與確定性驗證器量測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4493" y="1579232"/>
            <a:ext cx="2370146" cy="4096512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112" y="1780400"/>
            <a:ext cx="2197686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7E6DA8"/>
                </a:solidFill>
                <a:latin typeface="Georgia"/>
              </a:rPr>
              <a:t>Why real-model evaluation?</a:t>
            </a:r>
          </a:p>
        </p:txBody>
      </p:sp>
      <p:sp>
        <p:nvSpPr>
          <p:cNvPr id="9" name="Oval 8"/>
          <p:cNvSpPr/>
          <p:nvPr/>
        </p:nvSpPr>
        <p:spPr>
          <a:xfrm>
            <a:off x="566824" y="2237600"/>
            <a:ext cx="354465" cy="365760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312" y="2251457"/>
            <a:ext cx="1772327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2F6F8F"/>
                </a:solidFill>
                <a:latin typeface="Georgia"/>
              </a:rPr>
              <a:t>Unit /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312" y="2475344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5B6470"/>
                </a:solidFill>
                <a:latin typeface="PingFang TC"/>
              </a:rPr>
              <a:t>Mock </a:t>
            </a:r>
            <a:r>
              <a:rPr lang="en-US" sz="1250" dirty="0">
                <a:solidFill>
                  <a:srgbClr val="5B6470"/>
                </a:solidFill>
                <a:latin typeface="PingFang TC"/>
              </a:rPr>
              <a:t>LLM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6824" y="3188576"/>
            <a:ext cx="354465" cy="365760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312" y="3170288"/>
            <a:ext cx="1772327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7E6DA8"/>
                </a:solidFill>
                <a:latin typeface="Georgia"/>
              </a:rPr>
              <a:t>Production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312" y="3426320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50" dirty="0" err="1">
                <a:solidFill>
                  <a:srgbClr val="5B6470"/>
                </a:solidFill>
                <a:latin typeface="PingFang TC"/>
              </a:rPr>
              <a:t>與產品</a:t>
            </a:r>
            <a:r>
              <a:rPr sz="1250" b="0" dirty="0" err="1">
                <a:solidFill>
                  <a:srgbClr val="5B6470"/>
                </a:solidFill>
                <a:latin typeface="PingFang TC"/>
              </a:rPr>
              <a:t>走同一條路徑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6824" y="4139552"/>
            <a:ext cx="354465" cy="365760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2468" y="4185272"/>
            <a:ext cx="200273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5E8F72"/>
                </a:solidFill>
                <a:latin typeface="Georgia"/>
              </a:rPr>
              <a:t>Deterministic</a:t>
            </a:r>
            <a:endParaRPr lang="en-US" sz="1350" b="1" dirty="0">
              <a:solidFill>
                <a:srgbClr val="5E8F72"/>
              </a:solidFill>
              <a:latin typeface="Georgi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5E8F72"/>
                </a:solidFill>
                <a:latin typeface="Georgia"/>
              </a:rPr>
              <a:t> verifier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312" y="4514960"/>
            <a:ext cx="1772327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5B6470"/>
                </a:solidFill>
                <a:latin typeface="PingFang TC"/>
              </a:rPr>
              <a:t>相同結果得到相同判定</a:t>
            </a:r>
            <a:endParaRPr sz="12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2033" y="5137685"/>
            <a:ext cx="2250855" cy="292608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C9A94E"/>
                </a:solidFill>
                <a:latin typeface="Georgia"/>
              </a:rPr>
              <a:t>LLM judge = qualitative only</a:t>
            </a:r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61AF373B-B8C3-C3CB-5C8A-F94AC8B59EF9}"/>
              </a:ext>
            </a:extLst>
          </p:cNvPr>
          <p:cNvSpPr/>
          <p:nvPr/>
        </p:nvSpPr>
        <p:spPr>
          <a:xfrm>
            <a:off x="2876526" y="1261872"/>
            <a:ext cx="8845672" cy="234541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2DCE5"/>
            </a:solidFill>
            <a:prstDash val="solid"/>
          </a:ln>
        </p:spPr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F1ED05F7-66E7-01B1-7D55-C2A85F4E7F59}"/>
              </a:ext>
            </a:extLst>
          </p:cNvPr>
          <p:cNvSpPr/>
          <p:nvPr/>
        </p:nvSpPr>
        <p:spPr>
          <a:xfrm>
            <a:off x="2876526" y="1261872"/>
            <a:ext cx="8845672" cy="317360"/>
          </a:xfrm>
          <a:prstGeom prst="rect">
            <a:avLst/>
          </a:prstGeom>
          <a:solidFill>
            <a:srgbClr val="7E68B0"/>
          </a:solidFill>
          <a:ln w="12700">
            <a:solidFill>
              <a:srgbClr val="7E68B0"/>
            </a:solidFill>
            <a:prstDash val="solid"/>
          </a:ln>
        </p:spPr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9665916F-913C-722A-8F00-71F2E158CA9A}"/>
              </a:ext>
            </a:extLst>
          </p:cNvPr>
          <p:cNvSpPr/>
          <p:nvPr/>
        </p:nvSpPr>
        <p:spPr>
          <a:xfrm>
            <a:off x="3058379" y="1339595"/>
            <a:ext cx="8627242" cy="16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1｜Run the case（執行測試）</a:t>
            </a:r>
            <a:endParaRPr lang="en-US" sz="16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13DAF08C-0A76-5ACC-85CE-EFC1882FE57B}"/>
              </a:ext>
            </a:extLst>
          </p:cNvPr>
          <p:cNvSpPr/>
          <p:nvPr/>
        </p:nvSpPr>
        <p:spPr>
          <a:xfrm>
            <a:off x="4782345" y="4139552"/>
            <a:ext cx="7035351" cy="234541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CE5"/>
            </a:solidFill>
            <a:prstDash val="solid"/>
          </a:ln>
        </p:spPr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A23F83E4-8D81-0789-C872-8AC83F39A24C}"/>
              </a:ext>
            </a:extLst>
          </p:cNvPr>
          <p:cNvSpPr/>
          <p:nvPr/>
        </p:nvSpPr>
        <p:spPr>
          <a:xfrm>
            <a:off x="4782345" y="4139552"/>
            <a:ext cx="7035351" cy="279426"/>
          </a:xfrm>
          <a:prstGeom prst="rect">
            <a:avLst/>
          </a:prstGeom>
          <a:solidFill>
            <a:srgbClr val="7E68B0"/>
          </a:solidFill>
          <a:ln w="12700">
            <a:solidFill>
              <a:srgbClr val="7E68B0"/>
            </a:solidFill>
            <a:prstDash val="solid"/>
          </a:ln>
        </p:spPr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4A789540-254B-CAED-E2DD-7E0144E46DC4}"/>
              </a:ext>
            </a:extLst>
          </p:cNvPr>
          <p:cNvSpPr/>
          <p:nvPr/>
        </p:nvSpPr>
        <p:spPr>
          <a:xfrm>
            <a:off x="5325718" y="4196860"/>
            <a:ext cx="6455402" cy="15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2｜Verify the result（驗證結果）</a:t>
            </a:r>
            <a:endParaRPr lang="en-US" sz="1600" dirty="0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18049DB4-2777-F6A6-E03F-C217AF325288}"/>
              </a:ext>
            </a:extLst>
          </p:cNvPr>
          <p:cNvSpPr/>
          <p:nvPr/>
        </p:nvSpPr>
        <p:spPr>
          <a:xfrm>
            <a:off x="2917810" y="1664209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85D08BDC-8FAD-F5E7-443C-FDA0D612A25C}"/>
              </a:ext>
            </a:extLst>
          </p:cNvPr>
          <p:cNvSpPr/>
          <p:nvPr/>
        </p:nvSpPr>
        <p:spPr>
          <a:xfrm>
            <a:off x="2991174" y="1629834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Case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Schema</a:t>
            </a:r>
            <a:endParaRPr lang="en-US" sz="1200" dirty="0"/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84CBA761-4C7B-3698-0B81-0C56DF3BF145}"/>
              </a:ext>
            </a:extLst>
          </p:cNvPr>
          <p:cNvSpPr/>
          <p:nvPr/>
        </p:nvSpPr>
        <p:spPr>
          <a:xfrm>
            <a:off x="3002044" y="2054720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定義測試案例</a:t>
            </a:r>
            <a:endParaRPr lang="en-US" sz="1200" dirty="0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0856B203-B1B1-DE4B-5419-F849E95FD2DB}"/>
              </a:ext>
            </a:extLst>
          </p:cNvPr>
          <p:cNvSpPr/>
          <p:nvPr/>
        </p:nvSpPr>
        <p:spPr>
          <a:xfrm>
            <a:off x="4686847" y="1699667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20E6E8E7-5548-9201-0C2A-8B76A8898D43}"/>
              </a:ext>
            </a:extLst>
          </p:cNvPr>
          <p:cNvSpPr/>
          <p:nvPr/>
        </p:nvSpPr>
        <p:spPr>
          <a:xfrm>
            <a:off x="4754313" y="1671952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Fixture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Builder</a:t>
            </a:r>
            <a:endParaRPr lang="en-US" sz="1200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9DEB8239-55C6-46A9-6E19-265153DA7F0B}"/>
              </a:ext>
            </a:extLst>
          </p:cNvPr>
          <p:cNvSpPr/>
          <p:nvPr/>
        </p:nvSpPr>
        <p:spPr>
          <a:xfrm>
            <a:off x="4765183" y="2073935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建立真實資料</a:t>
            </a:r>
            <a:endParaRPr lang="en-US" sz="1200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787F15D0-76C9-B9FE-F94A-421B07919CA4}"/>
              </a:ext>
            </a:extLst>
          </p:cNvPr>
          <p:cNvSpPr/>
          <p:nvPr/>
        </p:nvSpPr>
        <p:spPr>
          <a:xfrm>
            <a:off x="6487135" y="1701112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60" name="Text 38">
            <a:extLst>
              <a:ext uri="{FF2B5EF4-FFF2-40B4-BE49-F238E27FC236}">
                <a16:creationId xmlns:a16="http://schemas.microsoft.com/office/drawing/2014/main" id="{EC5E1504-169A-8447-50BD-56E034765D3B}"/>
              </a:ext>
            </a:extLst>
          </p:cNvPr>
          <p:cNvSpPr/>
          <p:nvPr/>
        </p:nvSpPr>
        <p:spPr>
          <a:xfrm>
            <a:off x="6584457" y="1672038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Runner</a:t>
            </a:r>
            <a:endParaRPr lang="en-US" sz="1200" dirty="0"/>
          </a:p>
        </p:txBody>
      </p:sp>
      <p:sp>
        <p:nvSpPr>
          <p:cNvPr id="61" name="Text 39">
            <a:extLst>
              <a:ext uri="{FF2B5EF4-FFF2-40B4-BE49-F238E27FC236}">
                <a16:creationId xmlns:a16="http://schemas.microsoft.com/office/drawing/2014/main" id="{46362141-24C4-BD04-A3FF-93E97144623B}"/>
              </a:ext>
            </a:extLst>
          </p:cNvPr>
          <p:cNvSpPr/>
          <p:nvPr/>
        </p:nvSpPr>
        <p:spPr>
          <a:xfrm>
            <a:off x="6587911" y="2076017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執行測試流程</a:t>
            </a:r>
            <a:endParaRPr lang="en-US" sz="1200" dirty="0"/>
          </a:p>
        </p:txBody>
      </p:sp>
      <p:sp>
        <p:nvSpPr>
          <p:cNvPr id="62" name="Shape 40">
            <a:extLst>
              <a:ext uri="{FF2B5EF4-FFF2-40B4-BE49-F238E27FC236}">
                <a16:creationId xmlns:a16="http://schemas.microsoft.com/office/drawing/2014/main" id="{219CE800-6C0E-5D70-1F12-F84F5878B393}"/>
              </a:ext>
            </a:extLst>
          </p:cNvPr>
          <p:cNvSpPr/>
          <p:nvPr/>
        </p:nvSpPr>
        <p:spPr>
          <a:xfrm>
            <a:off x="8300021" y="1717297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5961EF25-E954-8BAC-58AB-52A2B58F9725}"/>
              </a:ext>
            </a:extLst>
          </p:cNvPr>
          <p:cNvSpPr/>
          <p:nvPr/>
        </p:nvSpPr>
        <p:spPr>
          <a:xfrm>
            <a:off x="8375072" y="1675379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Production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200" dirty="0"/>
          </a:p>
        </p:txBody>
      </p:sp>
      <p:sp>
        <p:nvSpPr>
          <p:cNvPr id="64" name="Text 42">
            <a:extLst>
              <a:ext uri="{FF2B5EF4-FFF2-40B4-BE49-F238E27FC236}">
                <a16:creationId xmlns:a16="http://schemas.microsoft.com/office/drawing/2014/main" id="{6C7429CC-9AFC-2E74-8DB1-D6762FA49F15}"/>
              </a:ext>
            </a:extLst>
          </p:cNvPr>
          <p:cNvSpPr/>
          <p:nvPr/>
        </p:nvSpPr>
        <p:spPr>
          <a:xfrm>
            <a:off x="8396814" y="2057946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正式產品路徑</a:t>
            </a:r>
            <a:endParaRPr lang="en-US" sz="1200" dirty="0"/>
          </a:p>
        </p:txBody>
      </p:sp>
      <p:sp>
        <p:nvSpPr>
          <p:cNvPr id="65" name="Shape 43">
            <a:extLst>
              <a:ext uri="{FF2B5EF4-FFF2-40B4-BE49-F238E27FC236}">
                <a16:creationId xmlns:a16="http://schemas.microsoft.com/office/drawing/2014/main" id="{F480BF8C-5BDD-BD83-96F5-2A4CA361168A}"/>
              </a:ext>
            </a:extLst>
          </p:cNvPr>
          <p:cNvSpPr/>
          <p:nvPr/>
        </p:nvSpPr>
        <p:spPr>
          <a:xfrm>
            <a:off x="10052407" y="1717174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5EF"/>
          </a:solidFill>
          <a:ln w="13970">
            <a:solidFill>
              <a:srgbClr val="5B936E"/>
            </a:solidFill>
            <a:prstDash val="solid"/>
          </a:ln>
        </p:spPr>
      </p:sp>
      <p:sp>
        <p:nvSpPr>
          <p:cNvPr id="66" name="Text 44">
            <a:extLst>
              <a:ext uri="{FF2B5EF4-FFF2-40B4-BE49-F238E27FC236}">
                <a16:creationId xmlns:a16="http://schemas.microsoft.com/office/drawing/2014/main" id="{BB4F7716-5192-48FB-1614-2793F5FCFAA9}"/>
              </a:ext>
            </a:extLst>
          </p:cNvPr>
          <p:cNvSpPr/>
          <p:nvPr/>
        </p:nvSpPr>
        <p:spPr>
          <a:xfrm>
            <a:off x="10168017" y="1656619"/>
            <a:ext cx="1402295" cy="55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Approval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Handling</a:t>
            </a:r>
            <a:endParaRPr lang="en-US" sz="1200" dirty="0"/>
          </a:p>
        </p:txBody>
      </p:sp>
      <p:sp>
        <p:nvSpPr>
          <p:cNvPr id="67" name="Text 45">
            <a:extLst>
              <a:ext uri="{FF2B5EF4-FFF2-40B4-BE49-F238E27FC236}">
                <a16:creationId xmlns:a16="http://schemas.microsoft.com/office/drawing/2014/main" id="{FCFC6550-3276-035A-4C1D-903B31415343}"/>
              </a:ext>
            </a:extLst>
          </p:cNvPr>
          <p:cNvSpPr/>
          <p:nvPr/>
        </p:nvSpPr>
        <p:spPr>
          <a:xfrm>
            <a:off x="10151393" y="2049192"/>
            <a:ext cx="1380553" cy="29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核可處理</a:t>
            </a:r>
            <a:endParaRPr lang="en-US" sz="1200" dirty="0"/>
          </a:p>
        </p:txBody>
      </p:sp>
      <p:sp>
        <p:nvSpPr>
          <p:cNvPr id="69" name="Shape 47">
            <a:extLst>
              <a:ext uri="{FF2B5EF4-FFF2-40B4-BE49-F238E27FC236}">
                <a16:creationId xmlns:a16="http://schemas.microsoft.com/office/drawing/2014/main" id="{72DBF2BC-1639-961B-61BC-00BEBE8B7D24}"/>
              </a:ext>
            </a:extLst>
          </p:cNvPr>
          <p:cNvSpPr/>
          <p:nvPr/>
        </p:nvSpPr>
        <p:spPr>
          <a:xfrm>
            <a:off x="2861758" y="4238638"/>
            <a:ext cx="1751061" cy="2171700"/>
          </a:xfrm>
          <a:prstGeom prst="roundRect">
            <a:avLst>
              <a:gd name="adj" fmla="val 19048"/>
            </a:avLst>
          </a:prstGeom>
          <a:solidFill>
            <a:srgbClr val="0E1B24"/>
          </a:solidFill>
          <a:ln w="1397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3" name="Shape 51">
            <a:extLst>
              <a:ext uri="{FF2B5EF4-FFF2-40B4-BE49-F238E27FC236}">
                <a16:creationId xmlns:a16="http://schemas.microsoft.com/office/drawing/2014/main" id="{67DA3D33-ED90-DEC1-3451-7EFF96665E1E}"/>
              </a:ext>
            </a:extLst>
          </p:cNvPr>
          <p:cNvSpPr/>
          <p:nvPr/>
        </p:nvSpPr>
        <p:spPr>
          <a:xfrm>
            <a:off x="4492726" y="2650532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74" name="Shape 52">
            <a:extLst>
              <a:ext uri="{FF2B5EF4-FFF2-40B4-BE49-F238E27FC236}">
                <a16:creationId xmlns:a16="http://schemas.microsoft.com/office/drawing/2014/main" id="{67539AD7-08EE-D767-04BC-53594644577A}"/>
              </a:ext>
            </a:extLst>
          </p:cNvPr>
          <p:cNvSpPr/>
          <p:nvPr/>
        </p:nvSpPr>
        <p:spPr>
          <a:xfrm>
            <a:off x="6284277" y="2617113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027BBE2A-3B0D-49CD-8911-6D12D79AEF1D}"/>
              </a:ext>
            </a:extLst>
          </p:cNvPr>
          <p:cNvSpPr txBox="1"/>
          <p:nvPr/>
        </p:nvSpPr>
        <p:spPr>
          <a:xfrm>
            <a:off x="2978735" y="4316362"/>
            <a:ext cx="15504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1400" dirty="0">
                <a:solidFill>
                  <a:schemeClr val="bg1"/>
                </a:solidFill>
              </a:rPr>
              <a:t>  </a:t>
            </a:r>
            <a:r>
              <a:rPr kumimoji="1" lang="zh-TW" altLang="en-US" sz="1400" dirty="0">
                <a:solidFill>
                  <a:schemeClr val="bg1"/>
                </a:solidFill>
              </a:rPr>
              <a:t>執行紀錄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algn="ctr"/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計畫步驟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工具呼叫紀錄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en-US" altLang="zh-TW" sz="1400" dirty="0">
                <a:solidFill>
                  <a:schemeClr val="bg1"/>
                </a:solidFill>
              </a:rPr>
              <a:t>API</a:t>
            </a:r>
            <a:r>
              <a:rPr kumimoji="1" lang="zh-TW" altLang="en-US" sz="1400" dirty="0">
                <a:solidFill>
                  <a:schemeClr val="bg1"/>
                </a:solidFill>
              </a:rPr>
              <a:t>回應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核可紀錄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資料庫狀態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檔案產出</a:t>
            </a:r>
            <a:endParaRPr kumimoji="1" lang="en-US" altLang="zh-TW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kumimoji="1" lang="zh-TW" altLang="en-US" sz="1400" dirty="0">
                <a:solidFill>
                  <a:schemeClr val="bg1"/>
                </a:solidFill>
              </a:rPr>
              <a:t>錯誤事件紀錄</a:t>
            </a:r>
            <a:endParaRPr kumimoji="1" lang="en-US" altLang="zh-TW" sz="1400" dirty="0">
              <a:solidFill>
                <a:schemeClr val="bg1"/>
              </a:solidFill>
            </a:endParaRPr>
          </a:p>
        </p:txBody>
      </p:sp>
      <p:cxnSp>
        <p:nvCxnSpPr>
          <p:cNvPr id="88" name="肘形接點 87">
            <a:extLst>
              <a:ext uri="{FF2B5EF4-FFF2-40B4-BE49-F238E27FC236}">
                <a16:creationId xmlns:a16="http://schemas.microsoft.com/office/drawing/2014/main" id="{7CAE832F-FEB6-2611-0765-9824B7867748}"/>
              </a:ext>
            </a:extLst>
          </p:cNvPr>
          <p:cNvCxnSpPr>
            <a:cxnSpLocks/>
            <a:stCxn id="65" idx="3"/>
            <a:endCxn id="69" idx="0"/>
          </p:cNvCxnSpPr>
          <p:nvPr/>
        </p:nvCxnSpPr>
        <p:spPr>
          <a:xfrm flipH="1">
            <a:off x="3737289" y="2617646"/>
            <a:ext cx="7869599" cy="1620992"/>
          </a:xfrm>
          <a:prstGeom prst="bentConnector4">
            <a:avLst>
              <a:gd name="adj1" fmla="val -2905"/>
              <a:gd name="adj2" fmla="val 7777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Shape 31">
            <a:extLst>
              <a:ext uri="{FF2B5EF4-FFF2-40B4-BE49-F238E27FC236}">
                <a16:creationId xmlns:a16="http://schemas.microsoft.com/office/drawing/2014/main" id="{5DDCDD84-EF81-9D46-BAC3-48F84B121188}"/>
              </a:ext>
            </a:extLst>
          </p:cNvPr>
          <p:cNvSpPr/>
          <p:nvPr/>
        </p:nvSpPr>
        <p:spPr>
          <a:xfrm>
            <a:off x="4825294" y="4514960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EAF4F8"/>
          </a:solidFill>
          <a:ln w="13970">
            <a:solidFill>
              <a:srgbClr val="2C7899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4" name="Shape 34">
            <a:extLst>
              <a:ext uri="{FF2B5EF4-FFF2-40B4-BE49-F238E27FC236}">
                <a16:creationId xmlns:a16="http://schemas.microsoft.com/office/drawing/2014/main" id="{DF6E06AB-972F-E195-9972-212D9689AE4F}"/>
              </a:ext>
            </a:extLst>
          </p:cNvPr>
          <p:cNvSpPr/>
          <p:nvPr/>
        </p:nvSpPr>
        <p:spPr>
          <a:xfrm>
            <a:off x="6594331" y="4550418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0EBF8"/>
          </a:solidFill>
          <a:ln w="13970">
            <a:solidFill>
              <a:srgbClr val="7E68B0"/>
            </a:solidFill>
            <a:prstDash val="solid"/>
          </a:ln>
        </p:spPr>
      </p:sp>
      <p:sp>
        <p:nvSpPr>
          <p:cNvPr id="117" name="Shape 37">
            <a:extLst>
              <a:ext uri="{FF2B5EF4-FFF2-40B4-BE49-F238E27FC236}">
                <a16:creationId xmlns:a16="http://schemas.microsoft.com/office/drawing/2014/main" id="{1B9536AC-6C6C-7A77-CE67-BBA72A9EBF18}"/>
              </a:ext>
            </a:extLst>
          </p:cNvPr>
          <p:cNvSpPr/>
          <p:nvPr/>
        </p:nvSpPr>
        <p:spPr>
          <a:xfrm>
            <a:off x="8394619" y="4551863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F1DE"/>
          </a:solidFill>
          <a:ln w="13970">
            <a:solidFill>
              <a:srgbClr val="C6A142"/>
            </a:solidFill>
            <a:prstDash val="solid"/>
          </a:ln>
        </p:spPr>
      </p:sp>
      <p:sp>
        <p:nvSpPr>
          <p:cNvPr id="120" name="Shape 40">
            <a:extLst>
              <a:ext uri="{FF2B5EF4-FFF2-40B4-BE49-F238E27FC236}">
                <a16:creationId xmlns:a16="http://schemas.microsoft.com/office/drawing/2014/main" id="{B230CB26-6CBC-CF49-3827-907D0FE3DEBF}"/>
              </a:ext>
            </a:extLst>
          </p:cNvPr>
          <p:cNvSpPr/>
          <p:nvPr/>
        </p:nvSpPr>
        <p:spPr>
          <a:xfrm>
            <a:off x="10207505" y="4568048"/>
            <a:ext cx="1554481" cy="1800944"/>
          </a:xfrm>
          <a:prstGeom prst="roundRect">
            <a:avLst>
              <a:gd name="adj" fmla="val 10976"/>
            </a:avLst>
          </a:prstGeom>
          <a:solidFill>
            <a:srgbClr val="F8EAEA"/>
          </a:solidFill>
          <a:ln w="13970">
            <a:solidFill>
              <a:srgbClr val="B66C69"/>
            </a:solidFill>
            <a:prstDash val="solid"/>
          </a:ln>
        </p:spPr>
      </p:sp>
      <p:sp>
        <p:nvSpPr>
          <p:cNvPr id="76" name="Text 54">
            <a:extLst>
              <a:ext uri="{FF2B5EF4-FFF2-40B4-BE49-F238E27FC236}">
                <a16:creationId xmlns:a16="http://schemas.microsoft.com/office/drawing/2014/main" id="{C5D275A2-78CD-7CA5-321C-96D6B2A21F18}"/>
              </a:ext>
            </a:extLst>
          </p:cNvPr>
          <p:cNvSpPr/>
          <p:nvPr/>
        </p:nvSpPr>
        <p:spPr>
          <a:xfrm>
            <a:off x="4937930" y="4465362"/>
            <a:ext cx="1314176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Result Collector</a:t>
            </a:r>
            <a:endParaRPr lang="en-US" sz="1200" dirty="0"/>
          </a:p>
        </p:txBody>
      </p:sp>
      <p:sp>
        <p:nvSpPr>
          <p:cNvPr id="77" name="Text 55">
            <a:extLst>
              <a:ext uri="{FF2B5EF4-FFF2-40B4-BE49-F238E27FC236}">
                <a16:creationId xmlns:a16="http://schemas.microsoft.com/office/drawing/2014/main" id="{9FFD5C6C-5F01-4DBE-A59A-CEA98FAEBF60}"/>
              </a:ext>
            </a:extLst>
          </p:cNvPr>
          <p:cNvSpPr/>
          <p:nvPr/>
        </p:nvSpPr>
        <p:spPr>
          <a:xfrm>
            <a:off x="5019508" y="4884210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搜集結果</a:t>
            </a:r>
            <a:endParaRPr lang="en-US" sz="1200" dirty="0"/>
          </a:p>
        </p:txBody>
      </p:sp>
      <p:sp>
        <p:nvSpPr>
          <p:cNvPr id="79" name="Text 57">
            <a:extLst>
              <a:ext uri="{FF2B5EF4-FFF2-40B4-BE49-F238E27FC236}">
                <a16:creationId xmlns:a16="http://schemas.microsoft.com/office/drawing/2014/main" id="{BF166DDD-8D0D-2B52-3798-06764759D164}"/>
              </a:ext>
            </a:extLst>
          </p:cNvPr>
          <p:cNvSpPr/>
          <p:nvPr/>
        </p:nvSpPr>
        <p:spPr>
          <a:xfrm>
            <a:off x="6702930" y="4576897"/>
            <a:ext cx="1337281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Deterministic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Verifier</a:t>
            </a:r>
            <a:endParaRPr lang="en-US" sz="1200" dirty="0"/>
          </a:p>
        </p:txBody>
      </p:sp>
      <p:sp>
        <p:nvSpPr>
          <p:cNvPr id="80" name="Text 58">
            <a:extLst>
              <a:ext uri="{FF2B5EF4-FFF2-40B4-BE49-F238E27FC236}">
                <a16:creationId xmlns:a16="http://schemas.microsoft.com/office/drawing/2014/main" id="{50776557-5FE5-0627-0D53-8FAB3F104476}"/>
              </a:ext>
            </a:extLst>
          </p:cNvPr>
          <p:cNvSpPr/>
          <p:nvPr/>
        </p:nvSpPr>
        <p:spPr>
          <a:xfrm>
            <a:off x="6834919" y="5006295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固定規則驗證</a:t>
            </a:r>
            <a:endParaRPr lang="en-US" sz="1200" dirty="0"/>
          </a:p>
        </p:txBody>
      </p:sp>
      <p:sp>
        <p:nvSpPr>
          <p:cNvPr id="82" name="Text 60">
            <a:extLst>
              <a:ext uri="{FF2B5EF4-FFF2-40B4-BE49-F238E27FC236}">
                <a16:creationId xmlns:a16="http://schemas.microsoft.com/office/drawing/2014/main" id="{421EF667-A0A6-641D-C74C-295459AC4CE4}"/>
              </a:ext>
            </a:extLst>
          </p:cNvPr>
          <p:cNvSpPr/>
          <p:nvPr/>
        </p:nvSpPr>
        <p:spPr>
          <a:xfrm>
            <a:off x="8623135" y="4482714"/>
            <a:ext cx="1097163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8. Scoring</a:t>
            </a:r>
            <a:endParaRPr lang="en-US" sz="1200" dirty="0"/>
          </a:p>
        </p:txBody>
      </p:sp>
      <p:sp>
        <p:nvSpPr>
          <p:cNvPr id="83" name="Text 61">
            <a:extLst>
              <a:ext uri="{FF2B5EF4-FFF2-40B4-BE49-F238E27FC236}">
                <a16:creationId xmlns:a16="http://schemas.microsoft.com/office/drawing/2014/main" id="{76075ECE-05E6-F666-B7F6-2957A37F1350}"/>
              </a:ext>
            </a:extLst>
          </p:cNvPr>
          <p:cNvSpPr/>
          <p:nvPr/>
        </p:nvSpPr>
        <p:spPr>
          <a:xfrm>
            <a:off x="8621858" y="4886693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評分</a:t>
            </a:r>
            <a:endParaRPr lang="en-US" sz="1200" dirty="0"/>
          </a:p>
        </p:txBody>
      </p:sp>
      <p:sp>
        <p:nvSpPr>
          <p:cNvPr id="85" name="Text 63">
            <a:extLst>
              <a:ext uri="{FF2B5EF4-FFF2-40B4-BE49-F238E27FC236}">
                <a16:creationId xmlns:a16="http://schemas.microsoft.com/office/drawing/2014/main" id="{E99B848E-D76B-D0D5-0DC1-2C44E1592486}"/>
              </a:ext>
            </a:extLst>
          </p:cNvPr>
          <p:cNvSpPr/>
          <p:nvPr/>
        </p:nvSpPr>
        <p:spPr>
          <a:xfrm>
            <a:off x="10424700" y="4482714"/>
            <a:ext cx="1097163" cy="5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22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9. Report</a:t>
            </a:r>
            <a:endParaRPr lang="en-US" sz="1200" dirty="0"/>
          </a:p>
        </p:txBody>
      </p:sp>
      <p:sp>
        <p:nvSpPr>
          <p:cNvPr id="86" name="Text 64">
            <a:extLst>
              <a:ext uri="{FF2B5EF4-FFF2-40B4-BE49-F238E27FC236}">
                <a16:creationId xmlns:a16="http://schemas.microsoft.com/office/drawing/2014/main" id="{291CFBAE-5944-9C7A-E1E9-B480AEC0C976}"/>
              </a:ext>
            </a:extLst>
          </p:cNvPr>
          <p:cNvSpPr/>
          <p:nvPr/>
        </p:nvSpPr>
        <p:spPr>
          <a:xfrm>
            <a:off x="10423423" y="4886693"/>
            <a:ext cx="1080153" cy="28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D667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評測報告</a:t>
            </a:r>
            <a:endParaRPr lang="en-US" sz="1200" dirty="0"/>
          </a:p>
        </p:txBody>
      </p:sp>
      <p:sp>
        <p:nvSpPr>
          <p:cNvPr id="131" name="Shape 51">
            <a:extLst>
              <a:ext uri="{FF2B5EF4-FFF2-40B4-BE49-F238E27FC236}">
                <a16:creationId xmlns:a16="http://schemas.microsoft.com/office/drawing/2014/main" id="{918B159C-84D4-7CF5-32CA-2284F46EFA34}"/>
              </a:ext>
            </a:extLst>
          </p:cNvPr>
          <p:cNvSpPr/>
          <p:nvPr/>
        </p:nvSpPr>
        <p:spPr>
          <a:xfrm>
            <a:off x="8073742" y="2598100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2" name="Shape 52">
            <a:extLst>
              <a:ext uri="{FF2B5EF4-FFF2-40B4-BE49-F238E27FC236}">
                <a16:creationId xmlns:a16="http://schemas.microsoft.com/office/drawing/2014/main" id="{D983984A-057B-3DF8-692D-D9E305F72F5E}"/>
              </a:ext>
            </a:extLst>
          </p:cNvPr>
          <p:cNvSpPr/>
          <p:nvPr/>
        </p:nvSpPr>
        <p:spPr>
          <a:xfrm>
            <a:off x="9865293" y="2564681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5" name="Shape 51">
            <a:extLst>
              <a:ext uri="{FF2B5EF4-FFF2-40B4-BE49-F238E27FC236}">
                <a16:creationId xmlns:a16="http://schemas.microsoft.com/office/drawing/2014/main" id="{CC824AB1-2005-E5E0-E115-2178C7FB14F8}"/>
              </a:ext>
            </a:extLst>
          </p:cNvPr>
          <p:cNvSpPr/>
          <p:nvPr/>
        </p:nvSpPr>
        <p:spPr>
          <a:xfrm>
            <a:off x="6388803" y="5524474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6" name="Shape 52">
            <a:extLst>
              <a:ext uri="{FF2B5EF4-FFF2-40B4-BE49-F238E27FC236}">
                <a16:creationId xmlns:a16="http://schemas.microsoft.com/office/drawing/2014/main" id="{F91413A7-A19E-7D44-BB08-0E269A135C4C}"/>
              </a:ext>
            </a:extLst>
          </p:cNvPr>
          <p:cNvSpPr/>
          <p:nvPr/>
        </p:nvSpPr>
        <p:spPr>
          <a:xfrm>
            <a:off x="8180354" y="5491055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7" name="Shape 52">
            <a:extLst>
              <a:ext uri="{FF2B5EF4-FFF2-40B4-BE49-F238E27FC236}">
                <a16:creationId xmlns:a16="http://schemas.microsoft.com/office/drawing/2014/main" id="{B5853BE9-BC68-A236-F7B4-905479183E95}"/>
              </a:ext>
            </a:extLst>
          </p:cNvPr>
          <p:cNvSpPr/>
          <p:nvPr/>
        </p:nvSpPr>
        <p:spPr>
          <a:xfrm>
            <a:off x="10020391" y="5468520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sp>
        <p:nvSpPr>
          <p:cNvPr id="138" name="Shape 52">
            <a:extLst>
              <a:ext uri="{FF2B5EF4-FFF2-40B4-BE49-F238E27FC236}">
                <a16:creationId xmlns:a16="http://schemas.microsoft.com/office/drawing/2014/main" id="{06C022DD-6446-88D4-182E-A4C5C6BFEF91}"/>
              </a:ext>
            </a:extLst>
          </p:cNvPr>
          <p:cNvSpPr/>
          <p:nvPr/>
        </p:nvSpPr>
        <p:spPr>
          <a:xfrm>
            <a:off x="4638180" y="5462586"/>
            <a:ext cx="187114" cy="0"/>
          </a:xfrm>
          <a:prstGeom prst="line">
            <a:avLst/>
          </a:prstGeom>
          <a:noFill/>
          <a:ln w="21590">
            <a:solidFill>
              <a:srgbClr val="C4CCD4"/>
            </a:solidFill>
            <a:prstDash val="solid"/>
            <a:tailEnd type="triangle"/>
          </a:ln>
        </p:spPr>
      </p:sp>
      <p:pic>
        <p:nvPicPr>
          <p:cNvPr id="139" name="圖片 138">
            <a:extLst>
              <a:ext uri="{FF2B5EF4-FFF2-40B4-BE49-F238E27FC236}">
                <a16:creationId xmlns:a16="http://schemas.microsoft.com/office/drawing/2014/main" id="{9608DF74-4BBC-3DF6-1E98-C8D6CB5B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914" y="4355714"/>
            <a:ext cx="292100" cy="254000"/>
          </a:xfrm>
          <a:prstGeom prst="rect">
            <a:avLst/>
          </a:prstGeom>
        </p:spPr>
      </p:pic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DC95499B-13A6-A959-80C3-65BD6682DD26}"/>
              </a:ext>
            </a:extLst>
          </p:cNvPr>
          <p:cNvSpPr txBox="1"/>
          <p:nvPr/>
        </p:nvSpPr>
        <p:spPr>
          <a:xfrm>
            <a:off x="3095475" y="2333927"/>
            <a:ext cx="1148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輸入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目標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初始狀態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預期結果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權限設定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核可設定</a:t>
            </a:r>
            <a:endParaRPr kumimoji="1" lang="en-US" altLang="zh-TW" sz="1200" dirty="0"/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C33D91EE-0569-DA3A-FAEE-D7D30378F0ED}"/>
              </a:ext>
            </a:extLst>
          </p:cNvPr>
          <p:cNvSpPr txBox="1"/>
          <p:nvPr/>
        </p:nvSpPr>
        <p:spPr>
          <a:xfrm>
            <a:off x="4854689" y="2349923"/>
            <a:ext cx="1396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使用者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權限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資料夾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檔案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檔案內容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既有技能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其他環境資料</a:t>
            </a:r>
            <a:endParaRPr kumimoji="1" lang="en-US" altLang="zh-TW" sz="1200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021DF371-EC10-03E8-1148-1B39DE99C331}"/>
              </a:ext>
            </a:extLst>
          </p:cNvPr>
          <p:cNvSpPr txBox="1"/>
          <p:nvPr/>
        </p:nvSpPr>
        <p:spPr>
          <a:xfrm>
            <a:off x="6653937" y="2392479"/>
            <a:ext cx="108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發送請求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處理回應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紀錄步驟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控制流程</a:t>
            </a:r>
            <a:endParaRPr kumimoji="1" lang="en-US" altLang="zh-TW" sz="1200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8C1BB862-99F7-2DD6-3D81-548BC5678C7A}"/>
              </a:ext>
            </a:extLst>
          </p:cNvPr>
          <p:cNvSpPr txBox="1"/>
          <p:nvPr/>
        </p:nvSpPr>
        <p:spPr>
          <a:xfrm>
            <a:off x="8464381" y="2346109"/>
            <a:ext cx="13019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連接模型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計畫步驟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工具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技能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200" dirty="0"/>
              <a:t>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資料庫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存檔</a:t>
            </a:r>
            <a:endParaRPr kumimoji="1" lang="en-US" altLang="zh-TW" sz="1200" dirty="0"/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3EEC570F-3230-894B-AED3-C4870FAFCC1E}"/>
              </a:ext>
            </a:extLst>
          </p:cNvPr>
          <p:cNvSpPr txBox="1"/>
          <p:nvPr/>
        </p:nvSpPr>
        <p:spPr>
          <a:xfrm>
            <a:off x="10237168" y="2330501"/>
            <a:ext cx="1396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核可與否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接受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拒絕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驗證核可流程</a:t>
            </a:r>
            <a:endParaRPr kumimoji="1" lang="en-US" altLang="zh-TW" sz="1200" dirty="0"/>
          </a:p>
          <a:p>
            <a:endParaRPr kumimoji="1" lang="en-US" altLang="zh-TW" sz="1200" dirty="0"/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C20F4074-8A3B-433A-34D6-3B2732EC7280}"/>
              </a:ext>
            </a:extLst>
          </p:cNvPr>
          <p:cNvSpPr txBox="1"/>
          <p:nvPr/>
        </p:nvSpPr>
        <p:spPr>
          <a:xfrm>
            <a:off x="5016481" y="5214568"/>
            <a:ext cx="108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搜集紀錄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整理資料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關聯資訊</a:t>
            </a:r>
            <a:endParaRPr kumimoji="1" lang="en-US" altLang="zh-TW" sz="1200" dirty="0"/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554621D0-5EB9-966A-F0C9-8C539A1FBD1E}"/>
              </a:ext>
            </a:extLst>
          </p:cNvPr>
          <p:cNvSpPr txBox="1"/>
          <p:nvPr/>
        </p:nvSpPr>
        <p:spPr>
          <a:xfrm>
            <a:off x="6790473" y="5044149"/>
            <a:ext cx="1242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資料真實性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計劃正確性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執行安全性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結果正確性</a:t>
            </a:r>
            <a:endParaRPr kumimoji="1" lang="en-US" altLang="zh-TW" sz="1200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B3F97DB6-E2FA-8DC1-1609-7D92E41DB176}"/>
              </a:ext>
            </a:extLst>
          </p:cNvPr>
          <p:cNvSpPr txBox="1"/>
          <p:nvPr/>
        </p:nvSpPr>
        <p:spPr>
          <a:xfrm>
            <a:off x="8536994" y="5252586"/>
            <a:ext cx="1396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各項驗證結果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計算分數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成功</a:t>
            </a:r>
            <a:r>
              <a:rPr kumimoji="1" lang="en-US" altLang="zh-TW" sz="1200" dirty="0"/>
              <a:t>/</a:t>
            </a:r>
            <a:r>
              <a:rPr kumimoji="1" lang="zh-TW" altLang="en-US" sz="1200" dirty="0"/>
              <a:t>失敗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錯誤類型</a:t>
            </a:r>
            <a:endParaRPr kumimoji="1" lang="en-US" altLang="zh-TW" sz="1200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B1CBEFB6-D779-DB60-489E-AC5D811D2C6C}"/>
              </a:ext>
            </a:extLst>
          </p:cNvPr>
          <p:cNvSpPr txBox="1"/>
          <p:nvPr/>
        </p:nvSpPr>
        <p:spPr>
          <a:xfrm>
            <a:off x="10327664" y="5200256"/>
            <a:ext cx="1242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整體成功率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分類指標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案例分析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趨勢比較</a:t>
            </a:r>
            <a:endParaRPr kumimoji="1" lang="en-US" altLang="zh-TW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1200" dirty="0"/>
              <a:t>改善建議</a:t>
            </a:r>
            <a:endParaRPr kumimoji="1" lang="en-US" altLang="zh-TW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3212A"/>
                </a:solidFill>
                <a:latin typeface="PingFang TC"/>
              </a:rPr>
              <a:t>EC1–EC4：四個獨立案例集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1280160"/>
            <a:ext cx="5248656" cy="1005841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8096" y="1499616"/>
            <a:ext cx="585216" cy="585216"/>
          </a:xfrm>
          <a:prstGeom prst="ellipse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444752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8F"/>
                </a:solidFill>
                <a:latin typeface="Georgia"/>
              </a:rPr>
              <a:t>EC1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44752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100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7904" y="182880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12A"/>
                </a:solidFill>
                <a:latin typeface="PingFang TC"/>
              </a:rPr>
              <a:t>唯讀多工具查詢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2534" y="1792224"/>
            <a:ext cx="1528730" cy="237744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EA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5E8F72"/>
                </a:solidFill>
                <a:latin typeface="PingFang TC"/>
              </a:rPr>
              <a:t>自動執行</a:t>
            </a:r>
            <a:endParaRPr sz="1150" b="1" dirty="0">
              <a:solidFill>
                <a:srgbClr val="5E8F72"/>
              </a:solidFill>
              <a:latin typeface="PingFang T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89904" y="1280160"/>
            <a:ext cx="5248656" cy="1005841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91072" y="1499616"/>
            <a:ext cx="585216" cy="585216"/>
          </a:xfrm>
          <a:prstGeom prst="ellipse">
            <a:avLst/>
          </a:prstGeom>
          <a:solidFill>
            <a:srgbClr val="7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444752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E6DA8"/>
                </a:solidFill>
                <a:latin typeface="Georgia"/>
              </a:rPr>
              <a:t>EC2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0384" y="1444752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Georgia"/>
              </a:rPr>
              <a:t>120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82880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12A"/>
                </a:solidFill>
                <a:latin typeface="PingFang TC"/>
              </a:rPr>
              <a:t>查詢作為脈絡＋寫入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1935" y="1844986"/>
            <a:ext cx="1359408" cy="203271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7E6DA8"/>
                </a:solidFill>
                <a:latin typeface="PingFang TC"/>
              </a:rPr>
              <a:t>需使用者確認</a:t>
            </a:r>
            <a:endParaRPr sz="1150" b="1" dirty="0">
              <a:solidFill>
                <a:srgbClr val="7E6DA8"/>
              </a:solidFill>
              <a:latin typeface="PingFang T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2505457"/>
            <a:ext cx="5248656" cy="1005841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68096" y="2724913"/>
            <a:ext cx="585216" cy="585216"/>
          </a:xfrm>
          <a:prstGeom prst="ellipse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17904" y="2670048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A94E"/>
                </a:solidFill>
                <a:latin typeface="Georgia"/>
              </a:rPr>
              <a:t>EC3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670048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100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7904" y="3054096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12A"/>
                </a:solidFill>
                <a:latin typeface="PingFang TC"/>
              </a:rPr>
              <a:t>生成技能＋執行側驗證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54424" y="3081527"/>
            <a:ext cx="1244950" cy="201169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6DA8"/>
                </a:solidFill>
                <a:latin typeface="PingFang TC"/>
              </a:rPr>
              <a:t>需使用者核可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2505457"/>
            <a:ext cx="5248656" cy="1005841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91072" y="2724913"/>
            <a:ext cx="585216" cy="585216"/>
          </a:xfrm>
          <a:prstGeom prst="ellipse">
            <a:avLst/>
          </a:prstGeom>
          <a:solidFill>
            <a:srgbClr val="5E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670048"/>
            <a:ext cx="118872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E8F72"/>
                </a:solidFill>
                <a:latin typeface="Georgia"/>
              </a:rPr>
              <a:t>EC4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0384" y="2670048"/>
            <a:ext cx="1133856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100 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054096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13212A"/>
                </a:solidFill>
                <a:latin typeface="PingFang TC"/>
              </a:rPr>
              <a:t>多步驟、跨步驟引用＋寫入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71935" y="3105806"/>
            <a:ext cx="1392305" cy="240898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F1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 err="1">
                <a:solidFill>
                  <a:srgbClr val="7E6DA8"/>
                </a:solidFill>
                <a:latin typeface="PingFang TC"/>
              </a:rPr>
              <a:t>需使用者確認</a:t>
            </a:r>
            <a:endParaRPr sz="1150" b="1" dirty="0">
              <a:solidFill>
                <a:srgbClr val="7E6DA8"/>
              </a:solidFill>
              <a:latin typeface="PingFang TC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F44B1E36-D1BC-3621-7CA5-D0F7CC96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52" y="3950207"/>
            <a:ext cx="5386452" cy="2734660"/>
          </a:xfrm>
          <a:prstGeom prst="rect">
            <a:avLst/>
          </a:prstGeom>
        </p:spPr>
      </p:pic>
      <p:sp>
        <p:nvSpPr>
          <p:cNvPr id="39" name="Rectangle 24">
            <a:extLst>
              <a:ext uri="{FF2B5EF4-FFF2-40B4-BE49-F238E27FC236}">
                <a16:creationId xmlns:a16="http://schemas.microsoft.com/office/drawing/2014/main" id="{5C572E95-9D63-236C-E038-597A51A05010}"/>
              </a:ext>
            </a:extLst>
          </p:cNvPr>
          <p:cNvSpPr/>
          <p:nvPr/>
        </p:nvSpPr>
        <p:spPr>
          <a:xfrm>
            <a:off x="566928" y="3605050"/>
            <a:ext cx="3840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13212A"/>
                </a:solidFill>
                <a:latin typeface="PingFang TC"/>
              </a:rPr>
              <a:t>Generator</a:t>
            </a:r>
            <a:r>
              <a:rPr lang="zh-TW" altLang="en-US" sz="1600" b="1" dirty="0">
                <a:solidFill>
                  <a:srgbClr val="13212A"/>
                </a:solidFill>
                <a:latin typeface="PingFang TC"/>
              </a:rPr>
              <a:t> 範例：</a:t>
            </a:r>
            <a:endParaRPr sz="1600" b="1" dirty="0">
              <a:solidFill>
                <a:srgbClr val="13212A"/>
              </a:solidFill>
              <a:latin typeface="PingFang TC"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6E899CD9-F246-7BC0-9E58-4919FA726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07" y="3986783"/>
            <a:ext cx="5642987" cy="2596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Latest </a:t>
            </a:r>
            <a:r>
              <a:rPr lang="en-US" sz="3000" b="1" dirty="0">
                <a:solidFill>
                  <a:srgbClr val="13212A"/>
                </a:solidFill>
                <a:latin typeface="PingFang TC"/>
              </a:rPr>
              <a:t>Test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1042415"/>
            <a:ext cx="1056132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50" b="0" dirty="0">
              <a:solidFill>
                <a:srgbClr val="5B6470"/>
              </a:solidFill>
              <a:latin typeface="PingFang T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7022592" cy="438912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20666" y="1590742"/>
            <a:ext cx="28346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3212A"/>
                </a:solidFill>
                <a:latin typeface="Georgia"/>
              </a:rPr>
              <a:t>EC1–EC4 pass 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54296" y="1609345"/>
            <a:ext cx="182880" cy="182880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92040" y="1581913"/>
            <a:ext cx="1078992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0"/>
                </a:solidFill>
                <a:latin typeface="Georgia"/>
              </a:rPr>
              <a:t>Case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609345"/>
            <a:ext cx="182880" cy="182880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81913"/>
            <a:ext cx="1078992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5B6470"/>
                </a:solidFill>
                <a:latin typeface="Georgia"/>
              </a:rPr>
              <a:t>Run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8992" y="5340096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9808" y="5221224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3749039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49808" y="3630168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50%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157984"/>
            <a:ext cx="6144767" cy="0"/>
          </a:xfrm>
          <a:prstGeom prst="line">
            <a:avLst/>
          </a:prstGeom>
          <a:ln w="1016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9808" y="2039112"/>
            <a:ext cx="29260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470"/>
                </a:solidFill>
                <a:latin typeface="Georgia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2348910"/>
            <a:ext cx="310896" cy="2991185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207459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94%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2536" y="2412552"/>
            <a:ext cx="310896" cy="2927543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9384" y="2138232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E8F72"/>
                </a:solidFill>
                <a:latin typeface="Georgia"/>
              </a:rPr>
              <a:t>92%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9232" y="2476195"/>
            <a:ext cx="310896" cy="2863900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26080" y="2201875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9856" y="2546838"/>
            <a:ext cx="310896" cy="2793257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46704" y="2272518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5E8F72"/>
                </a:solidFill>
                <a:latin typeface="Georgia"/>
              </a:rPr>
              <a:t>8</a:t>
            </a:r>
            <a:r>
              <a:rPr lang="en-US" sz="1050" b="1" dirty="0">
                <a:solidFill>
                  <a:srgbClr val="5E8F72"/>
                </a:solidFill>
                <a:latin typeface="Georgia"/>
              </a:rPr>
              <a:t>8</a:t>
            </a:r>
            <a:r>
              <a:rPr sz="1050" b="1" dirty="0">
                <a:solidFill>
                  <a:srgbClr val="5E8F72"/>
                </a:solidFill>
                <a:latin typeface="Georgia"/>
              </a:rPr>
              <a:t>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2" y="2571658"/>
            <a:ext cx="310896" cy="2768437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2297338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87%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37176" y="2826227"/>
            <a:ext cx="310896" cy="2513868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64024" y="2551907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E8F72"/>
                </a:solidFill>
                <a:latin typeface="Georgia"/>
              </a:rPr>
              <a:t>79%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33872" y="2157984"/>
            <a:ext cx="310896" cy="3182112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60720" y="1883664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2168484"/>
            <a:ext cx="310896" cy="3171611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81344" y="1894164"/>
            <a:ext cx="530352" cy="1906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5E8F72"/>
                </a:solidFill>
                <a:latin typeface="Georgia"/>
              </a:rPr>
              <a:t>99.</a:t>
            </a:r>
            <a:r>
              <a:rPr lang="en-US" sz="1050" b="1" dirty="0">
                <a:solidFill>
                  <a:srgbClr val="5E8F72"/>
                </a:solidFill>
                <a:latin typeface="Georgia"/>
              </a:rPr>
              <a:t>7</a:t>
            </a:r>
            <a:r>
              <a:rPr sz="1050" b="1" dirty="0">
                <a:solidFill>
                  <a:srgbClr val="5E8F72"/>
                </a:solidFill>
                <a:latin typeface="Georgia"/>
              </a:rPr>
              <a:t>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5431536"/>
            <a:ext cx="877824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18704" y="1572768"/>
            <a:ext cx="3602736" cy="100584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74736" y="1728216"/>
            <a:ext cx="166420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5E8F72"/>
                </a:solidFill>
                <a:latin typeface="Georgia"/>
              </a:rPr>
              <a:t>389 / 420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02368" y="1700784"/>
            <a:ext cx="142646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3212A"/>
                </a:solidFill>
                <a:latin typeface="Georgia"/>
              </a:rPr>
              <a:t>92.62%
Case threshold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18704" y="2724912"/>
            <a:ext cx="3602736" cy="1005840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74736" y="2880360"/>
            <a:ext cx="1664208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9A94E"/>
                </a:solidFill>
                <a:latin typeface="Georgia"/>
              </a:rPr>
              <a:t>1128 / 1260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2368" y="2852928"/>
            <a:ext cx="1426464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3212A"/>
                </a:solidFill>
                <a:latin typeface="Georgia"/>
              </a:rPr>
              <a:t>89.52%
Run pass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18704" y="3877056"/>
            <a:ext cx="3602736" cy="19568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56448" y="4023360"/>
            <a:ext cx="2487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12A"/>
                </a:solidFill>
                <a:latin typeface="Georgia"/>
              </a:rPr>
              <a:t>Stability across 3 runs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4443984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3/3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0224" y="4462272"/>
            <a:ext cx="1920240" cy="164592"/>
          </a:xfrm>
          <a:prstGeom prst="rect">
            <a:avLst/>
          </a:prstGeom>
          <a:solidFill>
            <a:srgbClr val="5E8F72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16768" y="4443984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8F72"/>
                </a:solidFill>
                <a:latin typeface="Georgia"/>
              </a:rPr>
              <a:t>337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4736592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2/3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50224" y="4754880"/>
            <a:ext cx="296298" cy="16459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716768" y="4736592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6F8F"/>
                </a:solidFill>
                <a:latin typeface="Georgia"/>
              </a:rPr>
              <a:t>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029200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1/3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50224" y="5047488"/>
            <a:ext cx="74074" cy="164592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716768" y="5029200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A94E"/>
                </a:solidFill>
                <a:latin typeface="Georgia"/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321808"/>
            <a:ext cx="402336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6A66"/>
                </a:solidFill>
                <a:latin typeface="Georgia"/>
              </a:rPr>
              <a:t>0/3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50224" y="5340096"/>
            <a:ext cx="102564" cy="164592"/>
          </a:xfrm>
          <a:prstGeom prst="rect">
            <a:avLst/>
          </a:prstGeom>
          <a:solidFill>
            <a:srgbClr val="B06A66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716768" y="5321808"/>
            <a:ext cx="42062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06A66"/>
                </a:solidFill>
                <a:latin typeface="Georgia"/>
              </a:rPr>
              <a:t>18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" y="6053328"/>
            <a:ext cx="10954512" cy="438912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每個 </a:t>
            </a:r>
            <a:r>
              <a:rPr lang="en" altLang="zh-TW" sz="1400" b="1" dirty="0">
                <a:solidFill>
                  <a:srgbClr val="13212A"/>
                </a:solidFill>
                <a:latin typeface="PingFang TC"/>
              </a:rPr>
              <a:t>case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跑 </a:t>
            </a:r>
            <a:r>
              <a:rPr lang="en-US" altLang="zh-TW" sz="1400" b="1" dirty="0">
                <a:solidFill>
                  <a:srgbClr val="13212A"/>
                </a:solidFill>
                <a:latin typeface="PingFang TC"/>
              </a:rPr>
              <a:t>3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次，</a:t>
            </a:r>
            <a:r>
              <a:rPr lang="en" altLang="zh-TW" sz="1400" b="1" dirty="0">
                <a:solidFill>
                  <a:srgbClr val="13212A"/>
                </a:solidFill>
                <a:latin typeface="PingFang TC"/>
              </a:rPr>
              <a:t>case-level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以至少 </a:t>
            </a:r>
            <a:r>
              <a:rPr lang="en-US" altLang="zh-TW" sz="1400" b="1" dirty="0">
                <a:solidFill>
                  <a:srgbClr val="13212A"/>
                </a:solidFill>
                <a:latin typeface="PingFang TC"/>
              </a:rPr>
              <a:t>2/3 </a:t>
            </a:r>
            <a:r>
              <a:rPr lang="zh-TW" altLang="en-US" sz="1400" b="1" dirty="0">
                <a:solidFill>
                  <a:srgbClr val="13212A"/>
                </a:solidFill>
                <a:latin typeface="PingFang TC"/>
              </a:rPr>
              <a:t>通過為門檻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Token &amp; Tool </a:t>
            </a:r>
            <a:r>
              <a:rPr lang="en-US" sz="3000" b="1" dirty="0">
                <a:solidFill>
                  <a:srgbClr val="13212A"/>
                </a:solidFill>
                <a:latin typeface="PingFang TC"/>
              </a:rPr>
              <a:t>Uses</a:t>
            </a:r>
            <a:endParaRPr sz="3000" b="1" dirty="0">
              <a:solidFill>
                <a:srgbClr val="13212A"/>
              </a:solidFill>
              <a:latin typeface="PingFang TC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79692" y="1344168"/>
            <a:ext cx="2523744" cy="80467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9420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8F"/>
                </a:solidFill>
                <a:latin typeface="Georgia"/>
              </a:rPr>
              <a:t>2,043,273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420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13212A"/>
                </a:solidFill>
                <a:latin typeface="Georgia"/>
              </a:rPr>
              <a:t>Input tokens</a:t>
            </a:r>
            <a:r>
              <a:rPr sz="1150" b="1" dirty="0">
                <a:solidFill>
                  <a:srgbClr val="13212A"/>
                </a:solidFill>
                <a:latin typeface="Georgia"/>
              </a:rPr>
              <a:t>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2035" y="1344168"/>
            <a:ext cx="2523744" cy="804672"/>
          </a:xfrm>
          <a:prstGeom prst="roundRect">
            <a:avLst/>
          </a:prstGeom>
          <a:solidFill>
            <a:srgbClr val="F1EEF7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41763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E6DA8"/>
                </a:solidFill>
                <a:latin typeface="Georgia"/>
              </a:rPr>
              <a:t>355,719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1763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13212A"/>
                </a:solidFill>
                <a:latin typeface="Georgia"/>
              </a:rPr>
              <a:t>Output tokens</a:t>
            </a:r>
            <a:r>
              <a:rPr sz="1150" b="1" dirty="0">
                <a:solidFill>
                  <a:srgbClr val="13212A"/>
                </a:solidFill>
                <a:latin typeface="Georgia"/>
              </a:rPr>
              <a:t>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4379" y="1344168"/>
            <a:ext cx="2523744" cy="804672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4107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E8F72"/>
                </a:solidFill>
                <a:latin typeface="Georgia"/>
              </a:rPr>
              <a:t>2,398,992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107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Total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6724" y="1344168"/>
            <a:ext cx="2523744" cy="804672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46452" y="1463040"/>
            <a:ext cx="2304288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A94E"/>
                </a:solidFill>
                <a:latin typeface="Georgia"/>
              </a:rPr>
              <a:t>1,903.96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46452" y="1801368"/>
            <a:ext cx="2304288" cy="2194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13212A"/>
                </a:solidFill>
                <a:latin typeface="Georgia"/>
              </a:rPr>
              <a:t>Average</a:t>
            </a:r>
            <a:r>
              <a:rPr lang="en-US" sz="1150" b="1" dirty="0">
                <a:solidFill>
                  <a:srgbClr val="13212A"/>
                </a:solidFill>
                <a:latin typeface="Georgia"/>
              </a:rPr>
              <a:t> tokens</a:t>
            </a:r>
            <a:endParaRPr sz="115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9692" y="2496312"/>
            <a:ext cx="6419088" cy="35261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596" y="2622565"/>
            <a:ext cx="283464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212A"/>
                </a:solidFill>
                <a:latin typeface="Georgia"/>
              </a:rPr>
              <a:t>Average tokens by EC 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8732" y="2642616"/>
            <a:ext cx="164592" cy="16459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66476" y="2615184"/>
            <a:ext cx="84124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B6470"/>
                </a:solidFill>
                <a:latin typeface="Georgia"/>
              </a:rPr>
              <a:t>Input tokens</a:t>
            </a:r>
            <a:endParaRPr sz="1050" b="0" dirty="0">
              <a:solidFill>
                <a:srgbClr val="5B6470"/>
              </a:solidFill>
              <a:latin typeface="Georgia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07724" y="2642616"/>
            <a:ext cx="164592" cy="164592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45468" y="2615184"/>
            <a:ext cx="93268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B6470"/>
                </a:solidFill>
                <a:latin typeface="Georgia"/>
              </a:rPr>
              <a:t>Output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316" y="3573117"/>
            <a:ext cx="566928" cy="170297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316" y="3395949"/>
            <a:ext cx="566928" cy="177167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5724" y="3139917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1987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724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8492" y="3503665"/>
            <a:ext cx="566928" cy="177242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08492" y="3301736"/>
            <a:ext cx="566928" cy="201929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143899" y="3045704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2087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3899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16668" y="4430965"/>
            <a:ext cx="566928" cy="845122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716668" y="3906711"/>
            <a:ext cx="566928" cy="524254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52076" y="3650679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1447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2076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4844" y="3506570"/>
            <a:ext cx="566928" cy="1769517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24844" y="3328371"/>
            <a:ext cx="566928" cy="178198"/>
          </a:xfrm>
          <a:prstGeom prst="rect">
            <a:avLst/>
          </a:prstGeom>
          <a:solidFill>
            <a:srgbClr val="C9A94E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60252" y="3072339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3212A"/>
                </a:solidFill>
                <a:latin typeface="Georgia"/>
              </a:rPr>
              <a:t>2058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60252" y="5367528"/>
            <a:ext cx="896112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4012" y="5276088"/>
            <a:ext cx="5797296" cy="0"/>
          </a:xfrm>
          <a:prstGeom prst="line">
            <a:avLst/>
          </a:prstGeom>
          <a:ln w="1143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18236" y="2496312"/>
            <a:ext cx="4224528" cy="3526116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12012" y="2615824"/>
            <a:ext cx="235915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3212A"/>
                </a:solidFill>
                <a:latin typeface="Georgia"/>
              </a:rPr>
              <a:t>Average tool uses</a:t>
            </a:r>
            <a:endParaRPr sz="1400" b="1" dirty="0">
              <a:solidFill>
                <a:srgbClr val="13212A"/>
              </a:solidFill>
              <a:latin typeface="Georgi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557148" y="3703685"/>
            <a:ext cx="420624" cy="1334658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47420" y="3465941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4.92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65708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98396" y="3776929"/>
            <a:ext cx="420624" cy="1261414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88668" y="3539185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6956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8204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80892" y="3915277"/>
            <a:ext cx="420624" cy="1123066"/>
          </a:xfrm>
          <a:prstGeom prst="rect">
            <a:avLst/>
          </a:prstGeom>
          <a:solidFill>
            <a:srgbClr val="7E6DA8"/>
          </a:solidFill>
          <a:ln w="12700">
            <a:solidFill>
              <a:srgbClr val="7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971164" y="3677533"/>
            <a:ext cx="640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DA8"/>
                </a:solidFill>
                <a:latin typeface="Georgia"/>
              </a:rPr>
              <a:t>4.14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89452" y="5129784"/>
            <a:ext cx="60350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212A"/>
                </a:solidFill>
                <a:latin typeface="Georgia"/>
              </a:rPr>
              <a:t>EC4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92555" y="5038344"/>
            <a:ext cx="3566161" cy="0"/>
          </a:xfrm>
          <a:prstGeom prst="line">
            <a:avLst/>
          </a:prstGeom>
          <a:ln w="1143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55980" y="5539530"/>
            <a:ext cx="3749039" cy="274320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F7E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B06A66"/>
                </a:solidFill>
                <a:latin typeface="Georgia"/>
              </a:rPr>
              <a:t>EC3 </a:t>
            </a:r>
            <a:r>
              <a:rPr lang="en-US" sz="1050" b="1" dirty="0" err="1">
                <a:solidFill>
                  <a:srgbClr val="B06A66"/>
                </a:solidFill>
                <a:latin typeface="Georgia"/>
              </a:rPr>
              <a:t>為生成技能測試</a:t>
            </a:r>
            <a:endParaRPr sz="1050" b="1" dirty="0">
              <a:solidFill>
                <a:srgbClr val="B06A6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6DA8"/>
                </a:solidFill>
                <a:latin typeface="Georgia"/>
              </a:rPr>
              <a:t>HARNESS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470"/>
                </a:solidFill>
                <a:latin typeface="Georgia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48640"/>
            <a:ext cx="101498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212A"/>
                </a:solidFill>
                <a:latin typeface="PingFang TC"/>
              </a:rPr>
              <a:t>Defects Found + Limits / Future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87552"/>
            <a:ext cx="10451592" cy="0"/>
          </a:xfrm>
          <a:prstGeom prst="line">
            <a:avLst/>
          </a:prstGeom>
          <a:ln w="19050">
            <a:solidFill>
              <a:srgbClr val="7E6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170433"/>
            <a:ext cx="10881360" cy="2468879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1316737"/>
            <a:ext cx="1920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3212A"/>
                </a:solidFill>
                <a:latin typeface="Georgia"/>
              </a:rPr>
              <a:t>Evaluation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" y="1898032"/>
            <a:ext cx="2523744" cy="1128631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24712" y="1989472"/>
            <a:ext cx="2121408" cy="3056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B06A66"/>
                </a:solidFill>
                <a:latin typeface="Georgia"/>
              </a:rPr>
              <a:t>Old cases could pass with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408683"/>
            <a:ext cx="2267712" cy="44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3212A"/>
                </a:solidFill>
                <a:latin typeface="PingFang TC"/>
              </a:rPr>
              <a:t>空帳號</a:t>
            </a:r>
            <a:r>
              <a:rPr sz="1400" b="1" dirty="0">
                <a:solidFill>
                  <a:srgbClr val="13212A"/>
                </a:solidFill>
                <a:latin typeface="PingFang TC"/>
              </a:rPr>
              <a:t> · </a:t>
            </a:r>
            <a:r>
              <a:rPr sz="1400" b="1" dirty="0" err="1">
                <a:solidFill>
                  <a:srgbClr val="13212A"/>
                </a:solidFill>
                <a:latin typeface="PingFang TC"/>
              </a:rPr>
              <a:t>假</a:t>
            </a:r>
            <a:r>
              <a:rPr sz="1400" b="1" dirty="0">
                <a:solidFill>
                  <a:srgbClr val="13212A"/>
                </a:solidFill>
                <a:latin typeface="PingFang TC"/>
              </a:rPr>
              <a:t> ID · </a:t>
            </a:r>
            <a:r>
              <a:rPr sz="1400" b="1" dirty="0" err="1">
                <a:solidFill>
                  <a:srgbClr val="13212A"/>
                </a:solidFill>
                <a:latin typeface="PingFang TC"/>
              </a:rPr>
              <a:t>未真正執行</a:t>
            </a:r>
            <a:br>
              <a:rPr lang="en-US" sz="1400" b="1" dirty="0">
                <a:solidFill>
                  <a:srgbClr val="13212A"/>
                </a:solidFill>
                <a:latin typeface="PingFang TC"/>
              </a:rPr>
            </a:br>
            <a:r>
              <a:rPr lang="en-US" sz="1400" b="1" dirty="0" err="1">
                <a:solidFill>
                  <a:srgbClr val="13212A"/>
                </a:solidFill>
                <a:latin typeface="PingFang TC"/>
              </a:rPr>
              <a:t>僅檢查流程正確與否</a:t>
            </a:r>
            <a:endParaRPr sz="1400" b="1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573937" y="2356979"/>
            <a:ext cx="475488" cy="256032"/>
          </a:xfrm>
          <a:prstGeom prst="chevron">
            <a:avLst/>
          </a:prstGeom>
          <a:solidFill>
            <a:srgbClr val="C9A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20896" y="1517904"/>
            <a:ext cx="7126224" cy="1979676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91912" y="1531412"/>
            <a:ext cx="4517136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5E8F72"/>
                </a:solidFill>
                <a:latin typeface="Georgia"/>
              </a:rPr>
              <a:t>New deterministic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0683" y="1860596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3840480"/>
            <a:ext cx="5266944" cy="2359152"/>
          </a:xfrm>
          <a:prstGeom prst="roundRect">
            <a:avLst/>
          </a:prstGeom>
          <a:solidFill>
            <a:srgbClr val="F7ECEB"/>
          </a:solidFill>
          <a:ln w="12700">
            <a:solidFill>
              <a:srgbClr val="B06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20116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B06A66"/>
                </a:solidFill>
                <a:latin typeface="Georgia"/>
              </a:rPr>
              <a:t>Current limits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4407408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zh-TW" altLang="en-US" sz="1320" b="0" dirty="0">
                <a:solidFill>
                  <a:srgbClr val="13212A"/>
                </a:solidFill>
                <a:latin typeface="PingFang TC"/>
              </a:rPr>
              <a:t>未真實對生成技能執行效果做測試</a:t>
            </a:r>
            <a:endParaRPr sz="132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32688" y="4736592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zh-TW" altLang="en-US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測試案例無紀錄 </a:t>
            </a:r>
            <a:r>
              <a:rPr lang="en" altLang="zh-TW" sz="1320" dirty="0">
                <a:solidFill>
                  <a:srgbClr val="13212A"/>
                </a:solidFill>
                <a:latin typeface="PingFang TC"/>
              </a:rPr>
              <a:t>latency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資料</a:t>
            </a:r>
            <a:endParaRPr sz="132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32688" y="5065776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en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記憶與長對話追蹤能力有限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5394960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en" sz="1320" b="0" dirty="0">
                <a:solidFill>
                  <a:srgbClr val="13212A"/>
                </a:solidFill>
                <a:latin typeface="PingFang TC"/>
              </a:rPr>
              <a:t> 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執行流程以串行為主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5724144"/>
            <a:ext cx="4681728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32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en-US" sz="1320" dirty="0">
                <a:solidFill>
                  <a:srgbClr val="13212A"/>
                </a:solidFill>
                <a:latin typeface="PingFang TC"/>
              </a:rPr>
              <a:t>LLM</a:t>
            </a:r>
            <a:r>
              <a:rPr lang="zh-TW" altLang="en-US" sz="1320" dirty="0">
                <a:solidFill>
                  <a:srgbClr val="13212A"/>
                </a:solidFill>
                <a:latin typeface="PingFang TC"/>
              </a:rPr>
              <a:t>生成計畫缺乏動態調整能力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840480"/>
            <a:ext cx="5358384" cy="2359152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37376" y="4023360"/>
            <a:ext cx="20116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E8F72"/>
                </a:solidFill>
                <a:latin typeface="Georgia"/>
              </a:rPr>
              <a:t>Future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3952" y="4416552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sz="1240" b="0" dirty="0">
                <a:solidFill>
                  <a:srgbClr val="13212A"/>
                </a:solidFill>
                <a:latin typeface="PingFang TC"/>
              </a:rPr>
              <a:t>•</a:t>
            </a:r>
            <a:r>
              <a:rPr lang="zh-TW" altLang="en-US" sz="1240" b="0" dirty="0">
                <a:solidFill>
                  <a:srgbClr val="13212A"/>
                </a:solidFill>
                <a:latin typeface="PingFang TC"/>
              </a:rPr>
              <a:t> 測試案例更多元化</a:t>
            </a:r>
            <a:endParaRPr sz="124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73952" y="4745736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240" b="0" dirty="0" err="1">
                <a:solidFill>
                  <a:srgbClr val="13212A"/>
                </a:solidFill>
                <a:latin typeface="PingFang TC"/>
              </a:rPr>
              <a:t>擴充</a:t>
            </a:r>
            <a:r>
              <a:rPr lang="zh-TW" altLang="en-US" sz="1240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1240" b="0" dirty="0">
                <a:solidFill>
                  <a:srgbClr val="13212A"/>
                </a:solidFill>
                <a:latin typeface="PingFang TC"/>
              </a:rPr>
              <a:t>Playwright E2E</a:t>
            </a:r>
            <a:r>
              <a:rPr lang="zh-TW" altLang="en-US" sz="1240" b="0" dirty="0">
                <a:solidFill>
                  <a:srgbClr val="13212A"/>
                </a:solidFill>
                <a:latin typeface="PingFang TC"/>
              </a:rPr>
              <a:t>測試</a:t>
            </a:r>
            <a:endParaRPr sz="124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55664" y="5074920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lang="zh-TW" altLang="en-US" sz="1300" dirty="0">
                <a:solidFill>
                  <a:srgbClr val="13212A"/>
                </a:solidFill>
                <a:latin typeface="PingFang TC"/>
              </a:rPr>
              <a:t>多元測試</a:t>
            </a:r>
            <a:r>
              <a:rPr sz="1300" dirty="0">
                <a:solidFill>
                  <a:srgbClr val="13212A"/>
                </a:solidFill>
                <a:latin typeface="PingFang TC"/>
              </a:rPr>
              <a:t> 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generated skill runtime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5404104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做不同模型的受控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 A/B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5664" y="5733288"/>
            <a:ext cx="477316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13212A"/>
                </a:solidFill>
                <a:latin typeface="PingFang TC"/>
              </a:rPr>
              <a:t>•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增加</a:t>
            </a:r>
            <a:r>
              <a:rPr sz="1300" b="0" dirty="0">
                <a:solidFill>
                  <a:srgbClr val="13212A"/>
                </a:solidFill>
                <a:latin typeface="PingFang TC"/>
              </a:rPr>
              <a:t> tool-call effectiveness </a:t>
            </a:r>
            <a:r>
              <a:rPr sz="1300" b="0" dirty="0" err="1">
                <a:solidFill>
                  <a:srgbClr val="13212A"/>
                </a:solidFill>
                <a:latin typeface="PingFang TC"/>
              </a:rPr>
              <a:t>指標</a:t>
            </a:r>
            <a:endParaRPr sz="1300" b="0" dirty="0">
              <a:solidFill>
                <a:srgbClr val="13212A"/>
              </a:solidFill>
              <a:latin typeface="PingFang T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47877" y="2350661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fixture/data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7877" y="2698059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3212A"/>
                </a:solidFill>
                <a:latin typeface="Georgia"/>
              </a:rPr>
              <a:t>reference grounding</a:t>
            </a:r>
          </a:p>
        </p:txBody>
      </p:sp>
      <p:sp>
        <p:nvSpPr>
          <p:cNvPr id="49" name="Rounded Rectangle 21">
            <a:extLst>
              <a:ext uri="{FF2B5EF4-FFF2-40B4-BE49-F238E27FC236}">
                <a16:creationId xmlns:a16="http://schemas.microsoft.com/office/drawing/2014/main" id="{ACEF66E0-8BF1-A438-E1C1-923A467C7C01}"/>
              </a:ext>
            </a:extLst>
          </p:cNvPr>
          <p:cNvSpPr/>
          <p:nvPr/>
        </p:nvSpPr>
        <p:spPr>
          <a:xfrm>
            <a:off x="6072877" y="1860596"/>
            <a:ext cx="1547859" cy="1583427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012F3EF2-1605-36AD-346B-B1C2EAE1BD78}"/>
              </a:ext>
            </a:extLst>
          </p:cNvPr>
          <p:cNvSpPr/>
          <p:nvPr/>
        </p:nvSpPr>
        <p:spPr>
          <a:xfrm>
            <a:off x="9613917" y="1856649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21">
            <a:extLst>
              <a:ext uri="{FF2B5EF4-FFF2-40B4-BE49-F238E27FC236}">
                <a16:creationId xmlns:a16="http://schemas.microsoft.com/office/drawing/2014/main" id="{CA4FAE6D-ED51-712C-2123-3CAB2776CD3A}"/>
              </a:ext>
            </a:extLst>
          </p:cNvPr>
          <p:cNvSpPr/>
          <p:nvPr/>
        </p:nvSpPr>
        <p:spPr>
          <a:xfrm>
            <a:off x="7886068" y="1860388"/>
            <a:ext cx="1547859" cy="1587374"/>
          </a:xfrm>
          <a:prstGeom prst="roundRect">
            <a:avLst/>
          </a:prstGeom>
          <a:solidFill>
            <a:srgbClr val="F7F1E2"/>
          </a:solidFill>
          <a:ln w="12700">
            <a:solidFill>
              <a:srgbClr val="C9A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76048" y="2359510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plan correctness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7" y="3028861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execution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58623" y="2292977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final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7" y="2297192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13212A"/>
                </a:solidFill>
                <a:latin typeface="Georgia"/>
              </a:rPr>
              <a:t>collateral damage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7" y="2663429"/>
            <a:ext cx="1005840" cy="305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E8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dirty="0">
                <a:solidFill>
                  <a:srgbClr val="13212A"/>
                </a:solidFill>
                <a:latin typeface="Georgia"/>
              </a:rPr>
              <a:t>generated code output</a:t>
            </a:r>
          </a:p>
        </p:txBody>
      </p:sp>
      <p:sp>
        <p:nvSpPr>
          <p:cNvPr id="52" name="Rectangle 25">
            <a:extLst>
              <a:ext uri="{FF2B5EF4-FFF2-40B4-BE49-F238E27FC236}">
                <a16:creationId xmlns:a16="http://schemas.microsoft.com/office/drawing/2014/main" id="{5D7381C7-4239-200A-B8CD-85588FD2B072}"/>
              </a:ext>
            </a:extLst>
          </p:cNvPr>
          <p:cNvSpPr/>
          <p:nvPr/>
        </p:nvSpPr>
        <p:spPr>
          <a:xfrm>
            <a:off x="4386072" y="1981507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確認資料真實有效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41B52E9C-D5D1-783C-B424-9189D7965F10}"/>
              </a:ext>
            </a:extLst>
          </p:cNvPr>
          <p:cNvSpPr/>
          <p:nvPr/>
        </p:nvSpPr>
        <p:spPr>
          <a:xfrm>
            <a:off x="6217367" y="1981507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dirty="0" err="1">
                <a:solidFill>
                  <a:srgbClr val="B06A66"/>
                </a:solidFill>
                <a:latin typeface="Georgia"/>
              </a:rPr>
              <a:t>檢查計劃之正確性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4" name="Rectangle 25">
            <a:extLst>
              <a:ext uri="{FF2B5EF4-FFF2-40B4-BE49-F238E27FC236}">
                <a16:creationId xmlns:a16="http://schemas.microsoft.com/office/drawing/2014/main" id="{69EC5EB1-A092-AB56-A96F-921FC2D6F6D6}"/>
              </a:ext>
            </a:extLst>
          </p:cNvPr>
          <p:cNvSpPr/>
          <p:nvPr/>
        </p:nvSpPr>
        <p:spPr>
          <a:xfrm>
            <a:off x="8012454" y="1999312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執行過程是否安全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  <p:sp>
        <p:nvSpPr>
          <p:cNvPr id="55" name="Rectangle 25">
            <a:extLst>
              <a:ext uri="{FF2B5EF4-FFF2-40B4-BE49-F238E27FC236}">
                <a16:creationId xmlns:a16="http://schemas.microsoft.com/office/drawing/2014/main" id="{5453356B-1FD5-A650-460B-16FDA6E19667}"/>
              </a:ext>
            </a:extLst>
          </p:cNvPr>
          <p:cNvSpPr/>
          <p:nvPr/>
        </p:nvSpPr>
        <p:spPr>
          <a:xfrm>
            <a:off x="9724222" y="1986998"/>
            <a:ext cx="1421473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B06A66"/>
                </a:solidFill>
                <a:latin typeface="Georgia"/>
              </a:rPr>
              <a:t>驗證結果符合預期</a:t>
            </a:r>
            <a:endParaRPr sz="1300" b="1" dirty="0">
              <a:solidFill>
                <a:srgbClr val="B06A6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模型服務層：Gemma4APIServer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獨立專案，不屬於 CloudDrive　·　github.com/billwu101/Gemma4APIServer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7" name="Image 0" descr="/Users/linyueying/Library/CloudStorage/OneDrive-Personal/NTUST/Mester0/CloudDrive/doc/ppt/07-gate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788" y="1664208"/>
            <a:ext cx="9909944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4023360"/>
            <a:ext cx="50292" cy="18288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雙協定相容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同一個本地 Gemma 4 26B，同時以 OpenAI 相容與 Anthropic 相容 API 對外提供。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3776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3776" y="4023360"/>
            <a:ext cx="50292" cy="182880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4" name="Text 11"/>
          <p:cNvSpPr/>
          <p:nvPr/>
        </p:nvSpPr>
        <p:spPr>
          <a:xfrm>
            <a:off x="4504944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多金鑰 + 用量記錄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04944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每把金鑰獨立驗證，呼叫寫入 SQLite 用量記錄，可追溯誰用了多少。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0624" y="4023360"/>
            <a:ext cx="3553968" cy="1828800"/>
          </a:xfrm>
          <a:prstGeom prst="roundRect">
            <a:avLst>
              <a:gd name="adj" fmla="val 30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0624" y="4023360"/>
            <a:ext cx="50292" cy="182880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8" name="Text 15"/>
          <p:cNvSpPr/>
          <p:nvPr/>
        </p:nvSpPr>
        <p:spPr>
          <a:xfrm>
            <a:off x="8241792" y="4169664"/>
            <a:ext cx="316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三個容器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41792" y="4572000"/>
            <a:ext cx="31516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ollama / gateway / cloudflared；KEEP_ALIVE=-1 讓模型常駐記憶體。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/v1/* 相容路徑自動注入 think:false（對應 DEC-033）；原生 /api/* 保持透明轉發，不改寫請求。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為什麼把模型服務拆成獨立專案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pic>
        <p:nvPicPr>
          <p:cNvPr id="6" name="Image 0" descr="/Users/linyueying/Library/CloudStorage/OneDrive-Personal/NTUST/Mester0/CloudDrive/doc/ppt/06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4936"/>
            <a:ext cx="5623560" cy="3062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64808" y="1280160"/>
            <a:ext cx="5129784" cy="1737360"/>
          </a:xfrm>
          <a:prstGeom prst="roundRect">
            <a:avLst>
              <a:gd name="adj" fmla="val 3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280160"/>
            <a:ext cx="50292" cy="173736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6"/>
          <p:cNvSpPr/>
          <p:nvPr/>
        </p:nvSpPr>
        <p:spPr>
          <a:xfrm>
            <a:off x="6665976" y="1426464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職責邊界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65976" y="1828800"/>
            <a:ext cx="472744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是應用，不該內含 GPU 推論基礎設施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主機是 Windows + WSL2 + NVIDIA，與部署主機不同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64808" y="3145536"/>
            <a:ext cx="5129784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64808" y="3145536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3" name="Text 10"/>
          <p:cNvSpPr/>
          <p:nvPr/>
        </p:nvSpPr>
        <p:spPr>
          <a:xfrm>
            <a:off x="6665976" y="3291840"/>
            <a:ext cx="4745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帶來的好處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65976" y="3694176"/>
            <a:ext cx="47274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其他專案也能共用同一台 GPU 主機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金鑰與用量控管集中在 gateway，不散落各應用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480560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這一端只需要三個環境變數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66928" y="4828032"/>
            <a:ext cx="11027664" cy="987552"/>
          </a:xfrm>
          <a:prstGeom prst="roundRect">
            <a:avLst>
              <a:gd name="adj" fmla="val 4630"/>
            </a:avLst>
          </a:prstGeom>
          <a:solidFill>
            <a:srgbClr val="13212A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882896"/>
            <a:ext cx="104790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LLM_PROVIDER=openai_compatible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LLM_BASE_URL=https://&lt;gateway&gt;/v1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LLM_API_KEY=&lt;金鑰&gt;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66928" y="5943600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971032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抽換成本因此趨近於零 —— 換模型、換供應商、退回本機 Ollama，都只是改這三行。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營運監控：金鑰用量與即時日誌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gateway 附帶的終端儀表板，一眼看出 GPU 是否還活著、每把金鑰用了多少、請求是否正常。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91056"/>
            <a:ext cx="7607808" cy="4023360"/>
          </a:xfrm>
          <a:prstGeom prst="roundRect">
            <a:avLst>
              <a:gd name="adj" fmla="val 1136"/>
            </a:avLst>
          </a:prstGeom>
          <a:solidFill>
            <a:srgbClr val="0F151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7095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B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GEMMA4 API DASHBOARD</a:t>
            </a:r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—    2026-08-01 10:50:58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CPU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26464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6464" y="2487168"/>
            <a:ext cx="11768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241401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9.9%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24140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70832" y="2487168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32" y="2487168"/>
            <a:ext cx="414863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17" name="Text 15"/>
          <p:cNvSpPr/>
          <p:nvPr/>
        </p:nvSpPr>
        <p:spPr>
          <a:xfrm>
            <a:off x="5614416" y="24140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33.4 / 95.7 GB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26464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426464" y="2798064"/>
            <a:ext cx="320954" cy="109728"/>
          </a:xfrm>
          <a:prstGeom prst="rect">
            <a:avLst/>
          </a:prstGeom>
          <a:solidFill>
            <a:srgbClr val="6BCF7F"/>
          </a:solidFill>
          <a:ln/>
        </p:spPr>
      </p:sp>
      <p:sp>
        <p:nvSpPr>
          <p:cNvPr id="21" name="Text 19"/>
          <p:cNvSpPr/>
          <p:nvPr/>
        </p:nvSpPr>
        <p:spPr>
          <a:xfrm>
            <a:off x="2670048" y="27249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27.0%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84448" y="27249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VRAM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70832" y="2798064"/>
            <a:ext cx="1188720" cy="109728"/>
          </a:xfrm>
          <a:prstGeom prst="rect">
            <a:avLst/>
          </a:prstGeom>
          <a:solidFill>
            <a:srgbClr val="2230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0832" y="2798064"/>
            <a:ext cx="1040130" cy="109728"/>
          </a:xfrm>
          <a:prstGeom prst="rect">
            <a:avLst/>
          </a:prstGeom>
          <a:solidFill>
            <a:srgbClr val="E0616B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2724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21.0 / 24.0 GB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054096"/>
            <a:ext cx="7095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溫度 38°C   功耗 54 W   風扇 33%   模型 gemma4:26b · 100% GPU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使用量（每把金鑰）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金鑰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9456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74720" y="36941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69417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36941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7A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總 token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16,598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159,282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9684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14,583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72200" y="39684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173,865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dev_bill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74720" y="42428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8,773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424281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483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72200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7DE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9,256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合計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19456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16,604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45171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168,055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5171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15,066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72200" y="4517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183,121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2960" y="48280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C4D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   即時連線（2xx 綠 / 4xx 黃 / 5xx 紅）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50840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10:33:45  INFO  POST /v1/chat/completions  200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5312664"/>
            <a:ext cx="7095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CF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10:45:55  INFO  POST /v1/chat/completions  200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394192" y="1591056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4192" y="1591056"/>
            <a:ext cx="50292" cy="122529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5360" y="1737360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為什麼要有面板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595360" y="2139696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與 VRAM 一眼可見，模型崩潰時能立刻判斷。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8394192" y="2944368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4192" y="2944368"/>
            <a:ext cx="50292" cy="122529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3090672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每把金鑰獨立計量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595360" y="3493008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請求數與 token 寫入 SQLite，可追溯誰用了多少。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394192" y="4297680"/>
            <a:ext cx="3200400" cy="1225296"/>
          </a:xfrm>
          <a:prstGeom prst="roundRect">
            <a:avLst>
              <a:gd name="adj" fmla="val 447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4297680"/>
            <a:ext cx="50292" cy="122529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61" name="Text 59"/>
          <p:cNvSpPr/>
          <p:nvPr/>
        </p:nvSpPr>
        <p:spPr>
          <a:xfrm>
            <a:off x="8595360" y="44439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日誌依狀態碼上色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8595360" y="484632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2xx 綠、4xx 黃、5xx 紅，掃一眼就知道有無異常。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VRAM 21.0 / 24.0 GB —— gemma4:26b 以 KEEP_ALIVE=-1 常駐，幾乎吃滿單張卡。這是「Ollama 單併發」限制的直接來源，也是 DEC-030 工作流不並行的實務理由之一。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系統部署：四個節點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2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834" y="1243584"/>
            <a:ext cx="8177852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577840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Tunnel 主動向外連線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主機不需開放任何對外埠、不需固定 IP，天然隱藏源站位址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03776" y="5577840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1" name="Text 8"/>
          <p:cNvSpPr/>
          <p:nvPr/>
        </p:nvSpPr>
        <p:spPr>
          <a:xfrm>
            <a:off x="4303776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為唯一入口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03776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/api，沒有跨來源問題，換主機不需重建前端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0624" y="5577840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0624" y="5669280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內網隔離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40624" y="5961888"/>
            <a:ext cx="3553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後端只綁本機迴路位址，資料庫不對公網開放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blob：分開存，用 storage_key 接起來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PostgreSQL、檔案本體交 StorageProvider——各自放在擅長的地方，一根字串接起來。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58384" cy="2194560"/>
          </a:xfrm>
          <a:prstGeom prst="roundRect">
            <a:avLst>
              <a:gd name="adj" fmla="val 208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358384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755648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Metadata（中繼資料）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2048256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　PostgreSQL 的 drive_items（16 欄）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" y="2340864"/>
            <a:ext cx="4956048" cy="932688"/>
          </a:xfrm>
          <a:prstGeom prst="roundRect">
            <a:avLst>
              <a:gd name="adj" fmla="val 3922"/>
            </a:avLst>
          </a:prstGeom>
          <a:solidFill>
            <a:srgbClr val="13212A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2395728"/>
            <a:ext cx="4736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name「期末報告.pdf」   parent_id 樹狀結構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owner_id   size_bytes   mime_type   is_deleted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storage_key  users/xxx/files/yyy/v1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8096" y="3328416"/>
            <a:ext cx="49560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小、結構化、要被查詢——列資料夾、搜尋檔名、算容量都只碰這張表，一次 SQL 就回來。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6208" y="1627632"/>
            <a:ext cx="5358384" cy="2194560"/>
          </a:xfrm>
          <a:prstGeom prst="roundRect">
            <a:avLst>
              <a:gd name="adj" fmla="val 208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627632"/>
            <a:ext cx="5358384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755648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Blob（Binary Large Object）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7376" y="2048256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　檔案系統，經 StorageProvider 存取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37376" y="2340864"/>
            <a:ext cx="4956048" cy="932688"/>
          </a:xfrm>
          <a:prstGeom prst="roundRect">
            <a:avLst>
              <a:gd name="adj" fmla="val 3922"/>
            </a:avLst>
          </a:prstGeom>
          <a:solidFill>
            <a:srgbClr val="132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547104" y="2395728"/>
            <a:ext cx="47365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那個 PDF 真正的 12 MB 位元組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唯一知道的事：它在 storage_key 那個位置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37376" y="3328416"/>
            <a:ext cx="49560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大、無結構、只會整份讀寫——資料庫從來沒看過它的內容。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分開之後的四個實際後果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6928" y="4334256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25696"/>
            <a:ext cx="26197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　改名／搬移零成本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4718304"/>
            <a:ext cx="26197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檔名只是 metadata。改名就是 UPDATE，磁碟上那個檔動都不用動。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69564" y="4334256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26" name="Text 24"/>
          <p:cNvSpPr/>
          <p:nvPr/>
        </p:nvSpPr>
        <p:spPr>
          <a:xfrm>
            <a:off x="3369564" y="4425696"/>
            <a:ext cx="26197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　blob 可被多筆指向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69564" y="4718304"/>
            <a:ext cx="26197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版本與快照各自存 storage_key + checksum，做快照不複製任何位元組。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4334256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425696"/>
            <a:ext cx="26197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　不在同一個交易裡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4718304"/>
            <a:ext cx="26197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上傳先寫 blob 再寫 DB，失敗即補刪；刪除先清 metadata，blob 交 GC。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74836" y="4334256"/>
            <a:ext cx="2619756" cy="36576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32" name="Text 30"/>
          <p:cNvSpPr/>
          <p:nvPr/>
        </p:nvSpPr>
        <p:spPr>
          <a:xfrm>
            <a:off x="8974836" y="4425696"/>
            <a:ext cx="26197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　blob 層可整個換掉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74836" y="4718304"/>
            <a:ext cx="261975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上層只認 storage_key 與 StorageProvider，換 S3 metadata 一欄不改。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B0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「寧可多一個孤兒，也不要少一個本體」—— 上傳若先寫 DB，失敗會留下點開就壞的檔案；反過來最多留下沒人指向的 blob，只是浪費空間，功能仍正確，由 GC 算出全域被引用的 key 集合、60 分鐘寬限期後掃掉。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檔案實際落在哪裡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程式碼裡一行絕對路徑都沒有——根目錄由 LOCAL_STORAGE_PATH 決定，「寫到哪」是部署決定的。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3553968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0704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Docker（正常跑法）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寫進 Docker volume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容器內 /app/storage，被 named volume 蓋住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實際在 /var/lib/docker/volumes/…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不在專案目錄與家目錄，macOS 還隔層 VM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03776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3776" y="1627632"/>
            <a:ext cx="3553968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5" name="Text 13"/>
          <p:cNvSpPr/>
          <p:nvPr/>
        </p:nvSpPr>
        <p:spPr>
          <a:xfrm>
            <a:off x="4486656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97552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直接跑 uvicorn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86656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落在 /tmp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6656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未設環境變數時用 config.py 預設值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/tmp/cloud-drive-storage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開機會被清掉，只適合臨時試跑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0624" y="1627632"/>
            <a:ext cx="3553968" cy="2578608"/>
          </a:xfrm>
          <a:prstGeom prst="roundRect">
            <a:avLst>
              <a:gd name="adj" fmla="val 177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0624" y="1627632"/>
            <a:ext cx="3553968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3504" y="177393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534400" y="1773936"/>
            <a:ext cx="2877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從來不會寫到家目錄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3504" y="2084832"/>
            <a:ext cx="3188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　沒有任何路徑通到 ~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3504" y="2414016"/>
            <a:ext cx="31882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設成家目錄也一樣跳不出去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key 帶 .. 或開頭 / → PathTraversalError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resolve() 後再過 relative_to(root)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這台機器上真的存在的兩個 volume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4700016"/>
            <a:ext cx="5376672" cy="914400"/>
          </a:xfrm>
          <a:prstGeom prst="roundRect">
            <a:avLst>
              <a:gd name="adj" fmla="val 5000"/>
            </a:avLst>
          </a:prstGeom>
          <a:solidFill>
            <a:srgbClr val="13212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773168"/>
            <a:ext cx="49011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clouddrive_storage_data     ← 本機開發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cloud-drive_storage_data    ← 正式環境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要看內容只能穿進容器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0016"/>
            <a:ext cx="5376672" cy="914400"/>
          </a:xfrm>
          <a:prstGeom prst="roundRect">
            <a:avLst>
              <a:gd name="adj" fmla="val 5000"/>
            </a:avLst>
          </a:prstGeom>
          <a:solidFill>
            <a:srgbClr val="13212A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4773168"/>
            <a:ext cx="4901184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 compose exec backend \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9FE8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ls -R /app/storage/users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5833872"/>
            <a:ext cx="11027664" cy="713232"/>
          </a:xfrm>
          <a:prstGeom prst="roundRect">
            <a:avLst>
              <a:gd name="adj" fmla="val 6410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861304"/>
            <a:ext cx="10588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volume 生命週期與容器分開：rebuild、換映像 tag、docker compose down 都不掉檔案，只有 docker volume rm 或 down -v 才會消失。路徑寫在 compose 而非程式裡，換 S3 只要換一個 StorageProvider 實作。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CI/CD：從管線到容器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pic>
        <p:nvPicPr>
          <p:cNvPr id="6" name="Image 0" descr="/Users/linyueying/Library/CloudStorage/OneDrive-Personal/NTUST/Mester0/CloudDrive/doc/ppt/03-docker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469" y="1243584"/>
            <a:ext cx="8350582" cy="3877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5248656"/>
            <a:ext cx="2619756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映像只由 CI 建立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以完整 commit SHA 標記，不使用 latest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9564" y="5248656"/>
            <a:ext cx="2619756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1" name="Text 8"/>
          <p:cNvSpPr/>
          <p:nvPr/>
        </p:nvSpPr>
        <p:spPr>
          <a:xfrm>
            <a:off x="3369564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最小權限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69564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 root、不加入 docker 群組，只能跑單一固定腳本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5248656"/>
            <a:ext cx="2619756" cy="36576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部署可回滾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72200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健康檢查連續失敗即自動回到上一個可用版本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74836" y="5248656"/>
            <a:ext cx="2619756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7" name="Text 14"/>
          <p:cNvSpPr/>
          <p:nvPr/>
        </p:nvSpPr>
        <p:spPr>
          <a:xfrm>
            <a:off x="8974836" y="5340096"/>
            <a:ext cx="26197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密鑰只在主機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974836" y="5650992"/>
            <a:ext cx="26197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正式環境設定不進版控，管線只做缺鍵警告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本機 · CI · 正式部署：三個環境差在哪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差異全部收斂在設定，不在程式碼——三份 .env 範本就是三個環境的規格書。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27664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3054096"/>
                <a:gridCol w="2889504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本機開發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CI（GitHub Actions）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正式部署（CD）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設定來源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cp .env.example .env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 .env，直接寫在 ci.yml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範本填真值放主機，不進 Git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資料庫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cloud_drive／弱密碼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clouddrive_test（服務容器）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高強度密碼，只走容器網路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JWT 金鑰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development-only-change-me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不需要（測試自簽 token）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openssl rand -hex 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模型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ollama → host.docker.internal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不連模型，eval 走 mock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openai_compatible → gateway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對外曝露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port 8088／8000／5432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無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Cloudflare Tunnel，零對外埠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映像來源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docker compose --build 本地建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建置並推 GHCR（commit SHA）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只拉 GHCR 的 SHA，不在主機建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608576"/>
            <a:ext cx="3553968" cy="36576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範本進版控，真值不進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範本本身就是可讀的規格；真 .env 只存部署主機（chmod 600），管線只做缺鍵警告。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03776" y="4608576"/>
            <a:ext cx="3553968" cy="36576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2" name="Text 9"/>
          <p:cNvSpPr/>
          <p:nvPr/>
        </p:nvSpPr>
        <p:spPr>
          <a:xfrm>
            <a:off x="4303776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CI 根本不需要 .env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303776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它不跑完整系統，只跑測試——env 寫死在 workflow，無密鑰可外洩，也不會因誰的機器設定不同而變綠變紅。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0624" y="4608576"/>
            <a:ext cx="3553968" cy="36576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5" name="Text 12"/>
          <p:cNvSpPr/>
          <p:nvPr/>
        </p:nvSpPr>
        <p:spPr>
          <a:xfrm>
            <a:off x="8040624" y="4700016"/>
            <a:ext cx="3553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模型接法三邊都不同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40624" y="5010912"/>
            <a:ext cx="355396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mock ／ 本機 Ollama ／ 遠端 gateway，程式碼一行沒改——這正是 LLMClient 抽象與 DEC-018 的價值。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5980176"/>
            <a:ext cx="11027664" cy="566928"/>
          </a:xfrm>
          <a:prstGeom prst="roundRect">
            <a:avLst>
              <a:gd name="adj" fmla="val 8065"/>
            </a:avLst>
          </a:prstGeom>
          <a:solidFill>
            <a:srgbClr val="EFF3F6"/>
          </a:solidFill>
          <a:ln w="13970">
            <a:solidFill>
              <a:srgbClr val="2F6F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6007608"/>
            <a:ext cx="10588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唯一只出現在正式環境的變數是 TUNNEL_TOKEN —— 對外曝露是正式環境獨有的能力，本機與 CI 都不該擁有。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部署實戰：自架 runner 與最小權限設計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2026-07-11 首次上線　·　Ubuntu 24.04　·　CI 與 CD 刻意分離在兩種 runner 上。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正式環境容器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60420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3572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433572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健康檢查輪詢上限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逾時自動回滾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53912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27064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字元 SHA 當映像 tag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不使用 latest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47404" y="1609344"/>
            <a:ext cx="2647188" cy="1024128"/>
          </a:xfrm>
          <a:prstGeom prst="roundRect">
            <a:avLst>
              <a:gd name="adj" fmla="val 4464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0556" y="1700784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020556" y="2139696"/>
            <a:ext cx="25008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runner 可用的 sudo 指令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且該腳本不可寫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2761488"/>
            <a:ext cx="6675120" cy="2542032"/>
          </a:xfrm>
          <a:prstGeom prst="roundRect">
            <a:avLst>
              <a:gd name="adj" fmla="val 2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761488"/>
            <a:ext cx="50292" cy="2542032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2907792"/>
            <a:ext cx="6291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deploy-cloud-drive 每次做的事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" y="3310128"/>
            <a:ext cx="627278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驗證參數是 40 字元 SHA，且該 SHA 在 main 歷史上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自我同步：從 repo@SHA 取最新版腳本，原子替換後由新版接手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同步 compose.prod.yml，部署拓撲隨程式碼落地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.env 漂移檢查：只警告主機缺少的鍵，不同步值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pull → up -d → 輪詢 /health；失敗自動回滾上一版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24928" y="2761488"/>
            <a:ext cx="4169664" cy="2542032"/>
          </a:xfrm>
          <a:prstGeom prst="roundRect">
            <a:avLst>
              <a:gd name="adj" fmla="val 2158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2761488"/>
            <a:ext cx="50292" cy="2542032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5" name="Text 23"/>
          <p:cNvSpPr/>
          <p:nvPr/>
        </p:nvSpPr>
        <p:spPr>
          <a:xfrm>
            <a:off x="7626096" y="2907792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最小權限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26096" y="3310128"/>
            <a:ext cx="376732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專用非 root 帳號 gha-runner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sudoers 只授權「呼叫」單一腳本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腳本置於 /usr/local/sbin，runner 不可寫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.env 為 root:root 600，永不進 Git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能改 workspace 腳本的 PR ＝ 拿到主機 root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431536"/>
            <a:ext cx="11027664" cy="960120"/>
          </a:xfrm>
          <a:prstGeom prst="roundRect">
            <a:avLst>
              <a:gd name="adj" fmla="val 4762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513832"/>
            <a:ext cx="10552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踩過的坑：postgres 永遠 unhealthy，但容器內的環境變數其實是好的（PR #8）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04672" y="5824728"/>
            <a:ext cx="10552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compose 的 --env-file 是「取代」預設插值來源而非疊加。腳本只傳了僅含 IMAGE_TAG 的狀態檔，healthcheck 的 ${POSTGRES_USER} 遂成空字串——容器內部由 env_file 注入的變數其實完全正常。修法：先帶 .env 再帶狀態檔。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競品比較與定位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971800"/>
                <a:gridCol w="29809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比較維度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Google Drive／OneDrive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通用 AI 編碼工具 + 本機掛載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CloudDrive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資料存放位置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服務商伺服器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本機，但需掛載第三方雲端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自架主機，完全自有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AI 推論位置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服務商雲端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外部 API 為主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本地模型優先，外送需經隱私閘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對話式檔案操作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有限，且綁定其生態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可以，但需技術背景操作終端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網頁內直接對話，一般使用者可用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擴充新功能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只能等官方或第三方外掛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可寫腳本，但無核可與沙箱機制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對話生成技能，經核可與沙箱後掛選單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整碟時間點還原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僅單檔版本歷史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需自行搭配備份工具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內建時光機，可整碟倒帶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/ 28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前後端與整合驗收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60420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33572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33572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引擎、面板、評測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3912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227064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資料層到前端五階段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47404" y="4041648"/>
            <a:ext cx="2647188" cy="1170432"/>
          </a:xfrm>
          <a:prstGeom prst="roundRect">
            <a:avLst>
              <a:gd name="adj" fmla="val 390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20556" y="41330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/ 33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020556" y="4572000"/>
            <a:ext cx="25008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模組總計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另含外部模型接入 1 / 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27664" cy="548640"/>
          </a:xfrm>
          <a:prstGeom prst="roundRect">
            <a:avLst>
              <a:gd name="adj" fmla="val 8333"/>
            </a:avLst>
          </a:prstGeom>
          <a:solidFill>
            <a:srgbClr val="EFF3F6"/>
          </a:solidFill>
          <a:ln w="13970">
            <a:solidFill>
              <a:srgbClr val="5E8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586984"/>
            <a:ext cx="10588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定位：以隱私與資料主權為前提，把「完整檔案管理」與「可自我擴充的本地 AI 助理」放進同一個可自架的系統。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66928" y="6236208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已知限制：時光機還原硬配額檢查待補強（非阻擋）· 語意搜尋舊檔索引補建尚未背景自動化 · 評測結論綁定單一模型與硬體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為什麼需要開發規則：兩次真實事故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開發最常見的兩個失效模式，都不是「程式寫錯」，而是「看起來做完了」。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70432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只驗表象，沒驗功能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預覽宣稱修好，實際只確認 &lt;iframe&gt; 有渲染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打開仍然不能預覽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27632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27632"/>
            <a:ext cx="50292" cy="192024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73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21424" y="1773936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功能只做一半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2176272"/>
            <a:ext cx="497433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proposal §33 後端完成，前端完全沒接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editor 分享連結開起來與唯讀無異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11027664" cy="658368"/>
          </a:xfrm>
          <a:prstGeom prst="roundRect">
            <a:avLst>
              <a:gd name="adj" fmla="val 6944"/>
            </a:avLst>
          </a:prstGeom>
          <a:solidFill>
            <a:srgbClr val="13212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730752"/>
            <a:ext cx="10479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兩者的單元測試都是綠的。　測試綠 ≠ 功能可用。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590288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同類問題在 W18 一週內又抓到 18 個 —— 全部由實機操作發現，不是單元測試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3776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766560"/>
                <a:gridCol w="252374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commit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問題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性質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1c1a63e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editor 分享不能真的編輯——只比對 owner，沒走 PermissionService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功能只做一半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28f1f78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右鍵 Share 沒接上既有的 ShareDialog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前端沒接後端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212A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db5b2b7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資料夾內的檔案加星後，星號清單看不到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470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查詢範圍錯誤</a:t>
                      </a:r>
                      <a:endParaRPr lang="en-US" sz="15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100584" marR="100584" marT="64008" marB="64008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Vibe Coding：用 AI 協助，但不讓 AI 發散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核心原則：不猜測意圖、文件先行、任務最小化、結果可驗證。文件沒完成前不大量產生程式碼。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606040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F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proposal.md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背景、角色、情境、功能與非功能需求、不在範圍、驗收標準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7540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74136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4136" y="1645920"/>
            <a:ext cx="2606040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86200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詳細設計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20440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F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detailed-design/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模組劃分、依賴關係、資料結構、介面設計、錯誤處理、測試設計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4748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45920"/>
            <a:ext cx="2606040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93408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任務拆分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27648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6D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tasks/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每模組一份任務文件，子任務 checklist 與驗收條件，標示依賴順序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91956" y="2468880"/>
            <a:ext cx="192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88552" y="16459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8552" y="1645920"/>
            <a:ext cx="2606040" cy="4572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179222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00616" y="1792224"/>
            <a:ext cx="1947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 Prompt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34856" y="2139696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6A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prompt.md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34856" y="2468880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主／子代理責任、任務分派、平行規則、測試要求、禁止事項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840480"/>
            <a:ext cx="50292" cy="1783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實際幫上什麼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68096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依任務文件實作模組並同時補測試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eval 案例與重現問題的最小測試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協助定位重複生成與截斷類問題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17920" y="3840480"/>
            <a:ext cx="5376672" cy="178308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840480"/>
            <a:ext cx="50292" cy="1783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398678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刻意設下的限制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19088" y="4389120"/>
            <a:ext cx="49743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不得在需求未確認時直接建立完整系統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不得跳過測試換取速度、不得偽造測試結果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文件與程式碼不一致時不得標記完成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規則怎麼被驗證有效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11027664" cy="1225296"/>
          </a:xfrm>
          <a:prstGeom prst="roundRect">
            <a:avLst>
              <a:gd name="adj" fmla="val 3731"/>
            </a:avLst>
          </a:prstGeom>
          <a:solidFill>
            <a:srgbClr val="EFF3F6"/>
          </a:solidFill>
          <a:ln w="15240">
            <a:solidFill>
              <a:srgbClr val="C9A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71600"/>
            <a:ext cx="10479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同一套「量化 → 修正 → 驗證」，用在流程本身，和 DEC-031/032/033 用在模型上，是同構的。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1792224"/>
            <a:ext cx="104790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模型端：發現跳針 → 加機制約束 → eval 量測歸零。　流程端：發現「測試綠但功能壞」→ 新增「使用者可見功能一律瀏覽器實測」硬規則 → 用 commit 紀錄驗證抓到的 bug 數。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 DEC 決策紀錄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每個決定可追溯、可質疑、可翻案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60420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3572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1,389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433572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測試全綠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 955+73 · 前端 361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3912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E6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227064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項完成定義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全數通過才算完成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47404" y="2724912"/>
            <a:ext cx="2647188" cy="1481328"/>
          </a:xfrm>
          <a:prstGeom prst="roundRect">
            <a:avLst>
              <a:gd name="adj" fmla="val 3086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0556" y="2816352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20556" y="3255264"/>
            <a:ext cx="250088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 fix（W18 單週）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全來自實機操作驗證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407408"/>
            <a:ext cx="11027664" cy="1280160"/>
          </a:xfrm>
          <a:prstGeom prst="roundRect">
            <a:avLst>
              <a:gd name="adj" fmla="val 4286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407408"/>
            <a:ext cx="50292" cy="128016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553712"/>
            <a:ext cx="10643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「完成」的定義（八項全過，缺一不可）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8096" y="4956048"/>
            <a:ext cx="106253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功能實作　·　單元測試通過　·　型別檢查通過　·　Ruff 通過　·　使用者可見功能已瀏覽器實測　·　文件已更新　·　checklist 已更新　·　無未說明技術債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週訓練期軌跡（3/23 – 7/26）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 10 週打底與找題目，後 8 週密集產出。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6420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50292" cy="64008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66420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27048" y="166420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W1–3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3/23 – 4/12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5072" y="168249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VM + Ubuntu + SSH、Docker、Python 虛擬環境比較（conda・venv・pyenv・uv）、Git 與 GitHub；技術棧定案 React + FastAPI + PostgreSQL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95728"/>
            <a:ext cx="50292" cy="64008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39572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摸索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27048" y="239572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W4–10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39572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4/13 – 5/31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05072" y="241401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段考 2 週 + 專題方向討論 5 週；釐清前後端與資料庫的關係、整理 AI 輔助開發流程；題目從購物網站換到 CloudDrive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27248"/>
            <a:ext cx="50292" cy="64008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12724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起步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27048" y="312724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W11–12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33472" y="312724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 – 6/14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05072" y="314553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Caddy + Cloudflare DNS 憑證，打通 HTTPS 反向代理；6/13 一天建立 28 模組骨架，6/14 認證流程與批次選取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85876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858768"/>
            <a:ext cx="50292" cy="64008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385876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爆發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385876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W13–14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633472" y="385876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6/15 – 6/28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05072" y="387705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 Harness（6/17 單日 46 commits）、時光機、全文與語意搜尋、外部模型接入、文件重構 + CI/CD 落地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4590288"/>
            <a:ext cx="11027664" cy="640080"/>
          </a:xfrm>
          <a:prstGeom prst="roundRect">
            <a:avLst>
              <a:gd name="adj" fmla="val 7143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90288"/>
            <a:ext cx="50292" cy="64008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4590288"/>
            <a:ext cx="78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527048" y="4590288"/>
            <a:ext cx="1060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W15–18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633472" y="4590288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6/29 – 7/26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005072" y="4608576"/>
            <a:ext cx="73883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harness 歸類文件與 CLAUDE.md 規則強化；detailed-design 拆模組、需求↔設計對齊；分片續傳、公開分享連結、CD 加 Tunnel；W18 單週 66 commits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66928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commits / 9 天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（6/13 – 6/21）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360420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3572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3433572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單日最高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（6/17 · AI 助理）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53912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C9A9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227064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W18 單週 commits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feat · 18 fix · 13 docs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947404" y="5413248"/>
            <a:ext cx="2647188" cy="1078992"/>
          </a:xfrm>
          <a:prstGeom prst="roundRect">
            <a:avLst>
              <a:gd name="adj" fmla="val 4237"/>
            </a:avLst>
          </a:prstGeom>
          <a:solidFill>
            <a:srgbClr val="EFF3F6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0556" y="5504688"/>
            <a:ext cx="25008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+ 3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9020556" y="5943600"/>
            <a:ext cx="25008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核心模組 + 擴充系統</a:t>
            </a:r>
            <a:endParaRPr lang="en-US" sz="1500" dirty="0"/>
          </a:p>
          <a:p>
            <a:pPr algn="ctr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39 條 DEC 決策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AI 開發踩到的坑，與這半年學到的事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027664" cy="20117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80160"/>
            <a:ext cx="50292" cy="2286000"/>
          </a:xfrm>
          <a:prstGeom prst="rect">
            <a:avLst/>
          </a:prstGeom>
          <a:solidFill>
            <a:srgbClr val="B06A6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環境問題：AI 不會主動提的那一步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VM 裡開好 GPU 直通，卻始終抓不到裝置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給了完整設定步驟，唯獨沒說要重新開機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教訓：AI 熟悉「怎麼設定」，但不熟悉「你的機器現在是什麼狀態」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76672" cy="2286000"/>
          </a:xfrm>
          <a:prstGeom prst="roundRect">
            <a:avLst>
              <a:gd name="adj" fmla="val 2400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50292" cy="228600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426464"/>
            <a:ext cx="4992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驗證問題：功能常常只做一半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1828800"/>
            <a:ext cx="497433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前端做出介面，後端完全找不到對應端點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後端做完，前端沒接，功能等同不存在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教訓：必須自己實際操作驗證，不能相信「已完成」的回報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03904"/>
            <a:ext cx="11027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從不會到會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66928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 與 GitHub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分支、PR、衝突解決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69564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5E8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1004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前後端與資料庫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61004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REST、ORM、非同步、migration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7E6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測試與品質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63640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單元／整合／E2E 三層，型別與靜態檢查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74836" y="4169664"/>
            <a:ext cx="2619756" cy="859536"/>
          </a:xfrm>
          <a:prstGeom prst="roundRect">
            <a:avLst>
              <a:gd name="adj" fmla="val 5319"/>
            </a:avLst>
          </a:prstGeom>
          <a:solidFill>
            <a:srgbClr val="F7F9FA"/>
          </a:solidFill>
          <a:ln w="12700">
            <a:solidFill>
              <a:srgbClr val="B0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6276" y="4242816"/>
            <a:ext cx="24368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Docker 與 CI/CD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066276" y="4517136"/>
            <a:ext cx="24368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容器化、自架 Runner、可回滾部署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5715000"/>
            <a:ext cx="11027664" cy="786384"/>
          </a:xfrm>
          <a:prstGeom prst="roundRect">
            <a:avLst>
              <a:gd name="adj" fmla="val 5814"/>
            </a:avLst>
          </a:prstGeom>
          <a:solidFill>
            <a:srgbClr val="1321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15000"/>
            <a:ext cx="10479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專案的價值不在功能有多少，而在「一個小模型如何被工程機制馴服」的完整證據鏈。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21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Demo：現場操作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全部在自架環境上跑，模型是本機 gemma4:26b，沒有任何雲端 API。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13212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645920"/>
            <a:ext cx="2619756" cy="2926080"/>
          </a:xfrm>
          <a:prstGeom prst="roundRect">
            <a:avLst>
              <a:gd name="adj" fmla="val 1745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619756" cy="45720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F6F8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80160" y="1847088"/>
            <a:ext cx="17236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檔案管理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" y="2432304"/>
            <a:ext cx="22539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登入 → 我的硬碟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上傳、拖放、批次選取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圖片／PDF／Office 預覽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分享連結與權限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69564" y="1645920"/>
            <a:ext cx="2619756" cy="2926080"/>
          </a:xfrm>
          <a:prstGeom prst="roundRect">
            <a:avLst>
              <a:gd name="adj" fmla="val 1745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9564" y="1645920"/>
            <a:ext cx="2619756" cy="45720"/>
          </a:xfrm>
          <a:prstGeom prst="rect">
            <a:avLst/>
          </a:prstGeom>
          <a:solidFill>
            <a:srgbClr val="5E8F72"/>
          </a:solidFill>
          <a:ln/>
        </p:spPr>
      </p:sp>
      <p:sp>
        <p:nvSpPr>
          <p:cNvPr id="15" name="Shape 13"/>
          <p:cNvSpPr/>
          <p:nvPr/>
        </p:nvSpPr>
        <p:spPr>
          <a:xfrm>
            <a:off x="3552444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5E8F72"/>
          </a:solidFill>
          <a:ln/>
        </p:spPr>
      </p:sp>
      <p:sp>
        <p:nvSpPr>
          <p:cNvPr id="16" name="Text 14"/>
          <p:cNvSpPr/>
          <p:nvPr/>
        </p:nvSpPr>
        <p:spPr>
          <a:xfrm>
            <a:off x="3552444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082796" y="1847088"/>
            <a:ext cx="17236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搜尋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52444" y="2432304"/>
            <a:ext cx="22539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檔名搜尋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全文內容搜尋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語意搜尋（pgvector）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1645920"/>
            <a:ext cx="2619756" cy="2926080"/>
          </a:xfrm>
          <a:prstGeom prst="roundRect">
            <a:avLst>
              <a:gd name="adj" fmla="val 1745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645920"/>
            <a:ext cx="2619756" cy="45720"/>
          </a:xfrm>
          <a:prstGeom prst="rect">
            <a:avLst/>
          </a:prstGeom>
          <a:solidFill>
            <a:srgbClr val="7E6D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7E6DA8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885432" y="1847088"/>
            <a:ext cx="17236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助理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55080" y="2432304"/>
            <a:ext cx="22539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一句話下多步驟指令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先出計畫 → 使用者確認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唯讀操作自動執行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現場生成一個新技能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74836" y="1645920"/>
            <a:ext cx="2619756" cy="2926080"/>
          </a:xfrm>
          <a:prstGeom prst="roundRect">
            <a:avLst>
              <a:gd name="adj" fmla="val 1745"/>
            </a:avLst>
          </a:prstGeom>
          <a:solidFill>
            <a:srgbClr val="F7F9FA"/>
          </a:solidFill>
          <a:ln w="9525">
            <a:solidFill>
              <a:srgbClr val="C9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4836" y="1645920"/>
            <a:ext cx="2619756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27" name="Shape 25"/>
          <p:cNvSpPr/>
          <p:nvPr/>
        </p:nvSpPr>
        <p:spPr>
          <a:xfrm>
            <a:off x="9157716" y="18470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C9A94E"/>
          </a:solidFill>
          <a:ln/>
        </p:spPr>
      </p:sp>
      <p:sp>
        <p:nvSpPr>
          <p:cNvPr id="28" name="Text 26"/>
          <p:cNvSpPr/>
          <p:nvPr/>
        </p:nvSpPr>
        <p:spPr>
          <a:xfrm>
            <a:off x="9157716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688068" y="1847088"/>
            <a:ext cx="17236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時光機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57716" y="2432304"/>
            <a:ext cx="225399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時間軸挑一個快照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整碟倒帶還原</a:t>
            </a:r>
            <a:endParaRPr lang="en-US" sz="15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還原前自動建保命快照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5961888"/>
            <a:ext cx="11027664" cy="585216"/>
          </a:xfrm>
          <a:prstGeom prst="roundRect">
            <a:avLst>
              <a:gd name="adj" fmla="val 7813"/>
            </a:avLst>
          </a:prstGeom>
          <a:solidFill>
            <a:srgbClr val="EFF3F6"/>
          </a:solidFill>
          <a:ln w="13970">
            <a:solidFill>
              <a:srgbClr val="C9A9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989320"/>
            <a:ext cx="10588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備援：模型伺服器若當下不可用，助理段改播事先錄好的操作影片；其餘功能不依賴模型，照常現場操作。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737360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88720" y="3255264"/>
            <a:ext cx="2286000" cy="45720"/>
          </a:xfrm>
          <a:prstGeom prst="rect">
            <a:avLst/>
          </a:prstGeom>
          <a:solidFill>
            <a:srgbClr val="C9A94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52958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6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402336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B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完整欄位 ER Diagram 與各模組設計文件備於附錄，歡迎指教。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88720" y="4718304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C2B36"/>
          </a:solidFill>
          <a:ln w="12700">
            <a:solidFill>
              <a:srgbClr val="3549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47914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08176" y="50657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github.com/billwu101/CloudDrive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4718304"/>
            <a:ext cx="4663440" cy="786384"/>
          </a:xfrm>
          <a:prstGeom prst="roundRect">
            <a:avLst>
              <a:gd name="adj" fmla="val 5814"/>
            </a:avLst>
          </a:prstGeom>
          <a:solidFill>
            <a:srgbClr val="1C2B36"/>
          </a:solidFill>
          <a:ln w="12700">
            <a:solidFill>
              <a:srgbClr val="3549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47914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Gemma4APIServer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5936" y="50657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github.com/billwu101/Gemma4APIServer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5815584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吳晉緯　·　沈威廷　　|　　指導教授　呂政修 教授　　|　　國立臺灣科技大學　2026 年 8 月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680192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548640"/>
            <a:ext cx="10021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附錄：完整欄位 ER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024128"/>
            <a:ext cx="1102766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 Q&amp;A 使用，不在正式報告時間內。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1027664" cy="20117"/>
          </a:xfrm>
          <a:prstGeom prst="rect">
            <a:avLst/>
          </a:prstGeom>
          <a:solidFill>
            <a:srgbClr val="5E8F72"/>
          </a:solidFill>
          <a:ln/>
        </p:spPr>
      </p:sp>
      <p:pic>
        <p:nvPicPr>
          <p:cNvPr id="7" name="Image 0" descr="/Users/linyueying/Library/CloudStorage/OneDrive-Personal/NTUST/Mester0/CloudDrive/doc/ppt/01-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330" y="1627632"/>
            <a:ext cx="6970860" cy="4828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NTUST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專題報告 v3.1</dc:title>
  <dc:subject>PptxGenJS Presentation</dc:subject>
  <dc:creator>billwu101</dc:creator>
  <cp:lastModifiedBy>billwu101</cp:lastModifiedBy>
  <cp:revision>1</cp:revision>
  <dcterms:created xsi:type="dcterms:W3CDTF">2026-08-03T06:30:58Z</dcterms:created>
  <dcterms:modified xsi:type="dcterms:W3CDTF">2026-08-03T06:30:58Z</dcterms:modified>
</cp:coreProperties>
</file>