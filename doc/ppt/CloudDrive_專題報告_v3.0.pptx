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73252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8738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</a:t>
            </a:r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　　指導教授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呂政修 教授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51560" y="56692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國立臺灣科技大學　·　2026 年 8 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29712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29712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09872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11040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沈威廷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11040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72656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 · 受控流程 · 客觀評測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11040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772656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19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21936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52816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8" name="Text 36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253984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253984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564880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515600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– 23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564880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CI-CD · 環境與實戰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53984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564880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515600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564880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253984" y="411480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564880" y="411480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515600" y="411480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– 27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564880" y="438912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253984" y="490118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564880" y="490118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0515600" y="490118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– 29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564880" y="517550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P.22–24（Vibe Coding 開發方法）—— 這兩段是報告重心。附錄 P.27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Harness：讓 AI 操作可控、可量測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61872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33502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1554480"/>
            <a:ext cx="10479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先以結構化流程限制模型行為，再以真實模型與確定性驗證器量測可靠度。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66928" y="21762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設計流程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2059229" cy="2395728"/>
          </a:xfrm>
          <a:prstGeom prst="roundRect">
            <a:avLst>
              <a:gd name="adj" fmla="val 2220"/>
            </a:avLst>
          </a:prstGeom>
          <a:solidFill>
            <a:srgbClr val="F7F9FA"/>
          </a:solidFill>
          <a:ln w="16510">
            <a:solidFill>
              <a:srgbClr val="C9A9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487168"/>
            <a:ext cx="2059229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615184"/>
            <a:ext cx="187634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Request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" y="3145536"/>
            <a:ext cx="18763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自然語言需求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4944" y="3474720"/>
            <a:ext cx="1803197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需求可能模糊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不可直接操作資料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35301" y="33832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9037" y="2487168"/>
            <a:ext cx="2059229" cy="2395728"/>
          </a:xfrm>
          <a:prstGeom prst="roundRect">
            <a:avLst>
              <a:gd name="adj" fmla="val 2220"/>
            </a:avLst>
          </a:prstGeom>
          <a:solidFill>
            <a:srgbClr val="F7F9FA"/>
          </a:solidFill>
          <a:ln w="16510">
            <a:solidFill>
              <a:srgbClr val="2F6F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09037" y="2487168"/>
            <a:ext cx="2059229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8" name="Text 16"/>
          <p:cNvSpPr/>
          <p:nvPr/>
        </p:nvSpPr>
        <p:spPr>
          <a:xfrm>
            <a:off x="2900477" y="2615184"/>
            <a:ext cx="187634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</a:t>
            </a:r>
            <a:endParaRPr lang="en-US" sz="15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900477" y="3145536"/>
            <a:ext cx="18763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轉成可檢查的計畫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937053" y="3474720"/>
            <a:ext cx="1803197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JSON plan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 驗證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Registry 工具／技能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77410" y="33832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1146" y="2487168"/>
            <a:ext cx="2059229" cy="2395728"/>
          </a:xfrm>
          <a:prstGeom prst="roundRect">
            <a:avLst>
              <a:gd name="adj" fmla="val 2220"/>
            </a:avLst>
          </a:prstGeom>
          <a:solidFill>
            <a:srgbClr val="F7F9FA"/>
          </a:solidFill>
          <a:ln w="16510">
            <a:solidFill>
              <a:srgbClr val="B0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51146" y="2487168"/>
            <a:ext cx="2059229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4" name="Text 22"/>
          <p:cNvSpPr/>
          <p:nvPr/>
        </p:nvSpPr>
        <p:spPr>
          <a:xfrm>
            <a:off x="5142586" y="2615184"/>
            <a:ext cx="187634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Permission</a:t>
            </a:r>
            <a:endParaRPr lang="en-US" sz="15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142586" y="3145536"/>
            <a:ext cx="18763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權限與風險檢查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79162" y="3474720"/>
            <a:ext cx="1803197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權限檢查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高風險操作判定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是否需要人工核可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19518" y="33832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93254" y="2487168"/>
            <a:ext cx="2059229" cy="2395728"/>
          </a:xfrm>
          <a:prstGeom prst="roundRect">
            <a:avLst>
              <a:gd name="adj" fmla="val 2220"/>
            </a:avLst>
          </a:prstGeom>
          <a:solidFill>
            <a:srgbClr val="F7F9FA"/>
          </a:solidFill>
          <a:ln w="16510">
            <a:solidFill>
              <a:srgbClr val="7E6D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93254" y="2487168"/>
            <a:ext cx="2059229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30" name="Text 28"/>
          <p:cNvSpPr/>
          <p:nvPr/>
        </p:nvSpPr>
        <p:spPr>
          <a:xfrm>
            <a:off x="7384694" y="2615184"/>
            <a:ext cx="187634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Controlled</a:t>
            </a:r>
            <a:endParaRPr lang="en-US" sz="15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84694" y="3145536"/>
            <a:ext cx="18763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受控執行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421270" y="3474720"/>
            <a:ext cx="1803197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只經授權後執行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透過 Service Layer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361627" y="33832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535363" y="2487168"/>
            <a:ext cx="2059229" cy="2395728"/>
          </a:xfrm>
          <a:prstGeom prst="roundRect">
            <a:avLst>
              <a:gd name="adj" fmla="val 2220"/>
            </a:avLst>
          </a:prstGeom>
          <a:solidFill>
            <a:srgbClr val="F7F9FA"/>
          </a:solidFill>
          <a:ln w="16510">
            <a:solidFill>
              <a:srgbClr val="5E8F7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35363" y="2487168"/>
            <a:ext cx="2059229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9626803" y="2615184"/>
            <a:ext cx="187634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5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626803" y="3145536"/>
            <a:ext cx="18763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客觀量測可靠度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663379" y="3474720"/>
            <a:ext cx="1803197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 API</a:t>
            </a:r>
            <a:endParaRPr lang="en-US" sz="1500" dirty="0"/>
          </a:p>
          <a:p>
            <a:pPr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確定性 Verifier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66928" y="5029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設計原則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66928" y="5321808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5413248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　Structure behavior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566928" y="5705856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限制輸出格式與合法技能，先形成完整計畫。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303776" y="5321808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4" name="Text 42"/>
          <p:cNvSpPr/>
          <p:nvPr/>
        </p:nvSpPr>
        <p:spPr>
          <a:xfrm>
            <a:off x="4303776" y="5413248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　Govern execution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4303776" y="5705856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唯讀自動；寫入與生成技能必須經權限與人工核可。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040624" y="5321808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7" name="Text 45"/>
          <p:cNvSpPr/>
          <p:nvPr/>
        </p:nvSpPr>
        <p:spPr>
          <a:xfrm>
            <a:off x="8040624" y="5413248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　Measure reliability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8040624" y="5705856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以真實模型、真實 fixture 與確定性 verifier 重複量測。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架構：四層分工與離線評測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Workflow Pipeline 定義要做什麼；Runtime 確保可靠執行；Service Layer 才真正操作資料。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50292" cy="98755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37360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　Workflow Pipeline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68096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947672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84248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27248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63824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06824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43400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0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22976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665976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2552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724912"/>
            <a:ext cx="50292" cy="987552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2816352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　Agent Harness Runtime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68096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183587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0163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599078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5654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14570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51146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30061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6637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66928" y="3803904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" y="3803904"/>
            <a:ext cx="50292" cy="98755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3895344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　CloudDrive Service Layer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768096" y="4206240"/>
            <a:ext cx="224942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420624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 Service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127248" y="4206240"/>
            <a:ext cx="224942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63824" y="420624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 Service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5486400" y="4206240"/>
            <a:ext cx="224942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22976" y="420624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Skill Service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566928" y="4882896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6928" y="4882896"/>
            <a:ext cx="50292" cy="987552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" y="4974336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　DATA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768096" y="5285232"/>
            <a:ext cx="342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4672" y="5285232"/>
            <a:ext cx="3355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4306824" y="5285232"/>
            <a:ext cx="342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43400" y="5285232"/>
            <a:ext cx="3355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 Storage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8193024" y="1645920"/>
            <a:ext cx="3401568" cy="3236976"/>
          </a:xfrm>
          <a:prstGeom prst="roundRect">
            <a:avLst>
              <a:gd name="adj" fmla="val 1412"/>
            </a:avLst>
          </a:prstGeom>
          <a:solidFill>
            <a:srgbClr val="EFF3F6"/>
          </a:solidFill>
          <a:ln w="17780">
            <a:solidFill>
              <a:srgbClr val="C9A94E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8375904" y="1773936"/>
            <a:ext cx="3035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375904" y="2084832"/>
            <a:ext cx="3035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OFFLINE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375904" y="24140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12480" y="24140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Schema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8375904" y="28712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12480" y="28712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Runner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8375904" y="33284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12480" y="33284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Verifier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375904" y="37856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12480" y="37856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8375904" y="4425696"/>
            <a:ext cx="3035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not in request path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評測介面刻意不在使用者請求路徑上——它從外部呼叫 Production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六核心元件 × 九實作模組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報告用的六元件框架，對應到程式碼裡實際存在的九個模組。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2834640"/>
                <a:gridCol w="570585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核心元件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實作模組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職責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　Execution Loop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Main Loop · Sub-agent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控制任務執行流程；分派步驟給對應程序；處理每一步的結果回傳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T　Tool / Skill Registry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Registry · Built-in Skills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管理可用工具與技能；提供名稱、功能與參數；內建與自建分開管理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　Context Manager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Context Mgmt · Prompt Assembly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整理需求、對話紀錄與任務；組成 system prompt；控制上下文長短與內容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　State Store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Session Persistence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保存 session／訊息／狀態；紀錄執行節點與結果；任務在多次請求間可延續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　Lifecycle Hooks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Governance · Permissions &amp; Safety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執行前後做權限安全檢查；高風險操作要求確認；管理錯誤處理與執行紀錄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V　Evaluation Interface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Offline Evaluation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建立測試案例；驗證規劃、執行結果與狀態；統計錯誤類型以分析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六元件是文獻框架、九模組是可測試的實作切分——兩套命名並存是刻意的，報告講前者，程式碼與測試對後者。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Workflow Pipeline：先形成完整計畫，再依權限分流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2F6F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Requirement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Parsing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889504" y="159105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55264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28416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577840" y="159105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7E6D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16752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66176" y="159105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631936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C9A9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05088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Permission &amp;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Review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2487168"/>
            <a:ext cx="5349240" cy="1444752"/>
          </a:xfrm>
          <a:prstGeom prst="roundRect">
            <a:avLst>
              <a:gd name="adj" fmla="val 3165"/>
            </a:avLst>
          </a:prstGeom>
          <a:solidFill>
            <a:srgbClr val="F7F9FA"/>
          </a:solidFill>
          <a:ln w="17780">
            <a:solidFill>
              <a:srgbClr val="5E8F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2615184"/>
            <a:ext cx="4946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read-only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8096" y="2944368"/>
            <a:ext cx="49469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直接進入 Workflow Execution，不打斷使用者。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45352" y="2487168"/>
            <a:ext cx="5349240" cy="1444752"/>
          </a:xfrm>
          <a:prstGeom prst="roundRect">
            <a:avLst>
              <a:gd name="adj" fmla="val 3165"/>
            </a:avLst>
          </a:prstGeom>
          <a:solidFill>
            <a:srgbClr val="F7F9FA"/>
          </a:solidFill>
          <a:ln w="17780">
            <a:solidFill>
              <a:srgbClr val="B0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615184"/>
            <a:ext cx="4946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46520" y="2944368"/>
            <a:ext cx="49469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 Presentation → 使用者 approve 才執行；reject 即 Cancelled。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66928" y="4151376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151376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Execution Logging　·　Persistence + Governance Hooks　—　兩條路徑最後都寫進同一份稽核紀錄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5998464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6025896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自我撰寫技能（skill-authoring）不走這條管線，另有獨立的 proposal 流程——見下一頁。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Generated Skill Lifecycle：核可後才執行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98448"/>
            <a:ext cx="3553968" cy="3968496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98448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44752"/>
            <a:ext cx="310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78992" y="1444752"/>
            <a:ext cx="2859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&amp; repair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1865376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 Requirement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2267712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49808" y="2432304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432304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Codegen Sub-agent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9808" y="2834640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49808" y="2999232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2999232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JSON / Manifest Validation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" y="3401568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9808" y="3566160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3566160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CodeGuard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517136"/>
            <a:ext cx="318820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錯誤回饋給 codegen，最多 3 輪修復（共 4 次嘗試）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303776" y="1298448"/>
            <a:ext cx="3553968" cy="3968496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3776" y="1298448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4" name="Text 22"/>
          <p:cNvSpPr/>
          <p:nvPr/>
        </p:nvSpPr>
        <p:spPr>
          <a:xfrm>
            <a:off x="4486656" y="1444752"/>
            <a:ext cx="310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815840" y="1444752"/>
            <a:ext cx="2859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gate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486656" y="1865376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3232" y="1865376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Pending Proposal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6656" y="2267712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86656" y="2432304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3232" y="2432304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Approval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486656" y="2834640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86656" y="2999232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3232" y="2999232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Approved？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486656" y="3401568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486656" y="3566160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3232" y="3566160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reject → Rejected / Cancelled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6656" y="4517136"/>
            <a:ext cx="318820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通過靜態驗證只建立 Pending Proposal，不會自動安裝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040624" y="1298448"/>
            <a:ext cx="3553968" cy="3968496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0624" y="1298448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0" name="Text 38"/>
          <p:cNvSpPr/>
          <p:nvPr/>
        </p:nvSpPr>
        <p:spPr>
          <a:xfrm>
            <a:off x="8223504" y="1444752"/>
            <a:ext cx="310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8552688" y="1444752"/>
            <a:ext cx="2859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 after approval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23504" y="1865376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60080" y="1865376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Installed Skill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223504" y="2267712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23504" y="2432304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60080" y="2432304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Execution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8223504" y="2834640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223504" y="2999232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60080" y="2999232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 Ingestion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223504" y="4517136"/>
            <a:ext cx="318820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核可後執行失敗不會自動重新生成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一些限制：通過靜態驗證後只建立 Pending Proposal、使用者核可後才安裝才可進 Sandbox、核可後執行失敗不會自動重新生成——絕不自動執行未審核的程式碼。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Evaluation：用真實資料與確定性驗證器量測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LLM 能防止程式管線退化，但不能證明真實模型的規劃與執行正確。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3553968" cy="1042416"/>
          </a:xfrm>
          <a:prstGeom prst="roundRect">
            <a:avLst>
              <a:gd name="adj" fmla="val 43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9344"/>
            <a:ext cx="3553968" cy="4572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4128" y="1719072"/>
            <a:ext cx="29321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/ integration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048256"/>
            <a:ext cx="322478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LLM；快速、CI 防退化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09344"/>
            <a:ext cx="3553968" cy="1042416"/>
          </a:xfrm>
          <a:prstGeom prst="roundRect">
            <a:avLst>
              <a:gd name="adj" fmla="val 43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09344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2"/>
          <p:cNvSpPr/>
          <p:nvPr/>
        </p:nvSpPr>
        <p:spPr>
          <a:xfrm>
            <a:off x="4468368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60976" y="1719072"/>
            <a:ext cx="29321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API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68368" y="2048256"/>
            <a:ext cx="322478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與產品走同一條路徑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09344"/>
            <a:ext cx="3553968" cy="1042416"/>
          </a:xfrm>
          <a:prstGeom prst="roundRect">
            <a:avLst>
              <a:gd name="adj" fmla="val 43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09344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9" name="Text 17"/>
          <p:cNvSpPr/>
          <p:nvPr/>
        </p:nvSpPr>
        <p:spPr>
          <a:xfrm>
            <a:off x="8205216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97824" y="1719072"/>
            <a:ext cx="29321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verifier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05216" y="2048256"/>
            <a:ext cx="322478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相同結果得到相同判定</a:t>
            </a:r>
            <a:endParaRPr lang="en-US" sz="15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LLM judge = qualitative only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2852928"/>
            <a:ext cx="45720" cy="256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284378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Phase 1｜Run the case　執行測試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66928" y="3182112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273552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　Case Schema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3675888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定義測試案例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801722" y="3182112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74874" y="3273552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　Fixture Builder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874874" y="3675888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建立真實資料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036515" y="3182112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09667" y="3273552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　Runner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09667" y="3675888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執行測試流程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271309" y="3182112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44461" y="3273552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　Production API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344461" y="3675888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正式產品路徑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506102" y="3182112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579254" y="3273552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　Approval Handling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579254" y="3675888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核可處理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45720" cy="25603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0" name="Text 38"/>
          <p:cNvSpPr/>
          <p:nvPr/>
        </p:nvSpPr>
        <p:spPr>
          <a:xfrm>
            <a:off x="713232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Phase 2｜Verify the result　驗證結果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566928" y="4498848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590288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　Result Collector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40080" y="4992624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搜集結果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2801722" y="4498848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5E8F72"/>
          </a:solidFill>
          <a:ln w="16510">
            <a:solidFill>
              <a:srgbClr val="5E8F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74874" y="4590288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　Deterministic Verifier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2874874" y="4992624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固定規則驗證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5036515" y="4498848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09667" y="4590288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　Scoring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109667" y="4992624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評分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71309" y="4498848"/>
            <a:ext cx="2088490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44461" y="4590288"/>
            <a:ext cx="194218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　Report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7344461" y="4992624"/>
            <a:ext cx="194218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評測報告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566928" y="5522976"/>
            <a:ext cx="11027664" cy="932688"/>
          </a:xfrm>
          <a:prstGeom prst="roundRect">
            <a:avLst>
              <a:gd name="adj" fmla="val 4902"/>
            </a:avLst>
          </a:prstGeom>
          <a:solidFill>
            <a:srgbClr val="EFF3F6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4672" y="55778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Verifier 檢查七項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04672" y="5852160"/>
            <a:ext cx="105521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fixture/data · plan correctness · reference grounding · execution · final state · collateral damage · generated output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04672" y="6126480"/>
            <a:ext cx="105521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EC3 的生成程式碼另外在評測端沙箱實際執行——不只看它「產得出來」，還看它「跑起來對不對」。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EC1–EC4：四個獨立案例集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依「任務複雜度 × 是否涉及寫入」遞增；各層是獨立案例集，不是同一任務的四個階段。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5029200"/>
                <a:gridCol w="307238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唯讀多工具查詢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查詢作為脈絡 ＋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需使用者確認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生成技能 ＋ 執行側驗證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需使用者核可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多步驟、跨步驟引用 ＋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需使用者確認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67588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案例產生器：5 情境 × 20 主題 = 100 案，不是手工湊的</a:t>
            </a:r>
            <a:endParaRPr lang="en-US" sz="1700" dirty="0"/>
          </a:p>
        </p:txBody>
      </p:sp>
      <p:pic>
        <p:nvPicPr>
          <p:cNvPr id="9" name="Image 0" descr="/Users/linyueying/Library/CloudStorage/OneDrive-Personal/NTUST/Mester0/CloudDrive/doc/ppt/08-ec1-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5168" y="4023360"/>
            <a:ext cx="4358640" cy="2212848"/>
          </a:xfrm>
          <a:prstGeom prst="rect">
            <a:avLst/>
          </a:prstGeom>
        </p:spPr>
      </p:pic>
      <p:pic>
        <p:nvPicPr>
          <p:cNvPr id="10" name="Image 1" descr="/Users/linyueying/Library/CloudStorage/OneDrive-Personal/NTUST/Mester0/CloudDrive/doc/ppt/09-ec1-top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4170346"/>
            <a:ext cx="4169664" cy="19188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實測結果：EC1–EC4 通過率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 case 跑 3 次；case-level 以至少 2/3 通過為門檻。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389 / 420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92.62% · Case threshold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以 ≥2/3 通過計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1128 / 1260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33572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89.52%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 pass（全 run 計）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337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3/3 全過的案例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佔 80.2%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不穩定案例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2/3：52　1/3：13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2962656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分層通過率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66928" y="33467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EC1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225296" y="3401568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2" name="Shape 20"/>
          <p:cNvSpPr/>
          <p:nvPr/>
        </p:nvSpPr>
        <p:spPr>
          <a:xfrm>
            <a:off x="1225296" y="3401568"/>
            <a:ext cx="3008376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225296" y="3621024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1225296" y="3621024"/>
            <a:ext cx="2944368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5" name="Text 23"/>
          <p:cNvSpPr/>
          <p:nvPr/>
        </p:nvSpPr>
        <p:spPr>
          <a:xfrm>
            <a:off x="4498848" y="3346704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94% / 92%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66928" y="391363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EC2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225296" y="3968496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8" name="Shape 26"/>
          <p:cNvSpPr/>
          <p:nvPr/>
        </p:nvSpPr>
        <p:spPr>
          <a:xfrm>
            <a:off x="1225296" y="3968496"/>
            <a:ext cx="2880360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1225296" y="4187952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0" name="Shape 28"/>
          <p:cNvSpPr/>
          <p:nvPr/>
        </p:nvSpPr>
        <p:spPr>
          <a:xfrm>
            <a:off x="1225296" y="4187952"/>
            <a:ext cx="2816352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913632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 / 88%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66928" y="4480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225296" y="4535424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4" name="Shape 32"/>
          <p:cNvSpPr/>
          <p:nvPr/>
        </p:nvSpPr>
        <p:spPr>
          <a:xfrm>
            <a:off x="1225296" y="4535424"/>
            <a:ext cx="2784348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1225296" y="4754880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6" name="Shape 34"/>
          <p:cNvSpPr/>
          <p:nvPr/>
        </p:nvSpPr>
        <p:spPr>
          <a:xfrm>
            <a:off x="1225296" y="4754880"/>
            <a:ext cx="2528316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7" name="Text 35"/>
          <p:cNvSpPr/>
          <p:nvPr/>
        </p:nvSpPr>
        <p:spPr>
          <a:xfrm>
            <a:off x="4498848" y="44805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87% / 79%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EC4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1225296" y="5102352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25296" y="5102352"/>
            <a:ext cx="3200400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5296" y="5321808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2" name="Shape 40"/>
          <p:cNvSpPr/>
          <p:nvPr/>
        </p:nvSpPr>
        <p:spPr>
          <a:xfrm>
            <a:off x="1225296" y="5321808"/>
            <a:ext cx="3190799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43" name="Text 41"/>
          <p:cNvSpPr/>
          <p:nvPr/>
        </p:nvSpPr>
        <p:spPr>
          <a:xfrm>
            <a:off x="4498848" y="5047488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/ 99.7%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66928" y="566928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</a:t>
            </a:r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threshold　</a:t>
            </a:r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</a:t>
            </a:r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 pass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245352" y="2962656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三次跑批的穩定性分佈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6245352" y="3346704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45352" y="3346704"/>
            <a:ext cx="45720" cy="4572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8" name="Text 46"/>
          <p:cNvSpPr/>
          <p:nvPr/>
        </p:nvSpPr>
        <p:spPr>
          <a:xfrm>
            <a:off x="6428232" y="334670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3/3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7251192" y="3502152"/>
            <a:ext cx="3246120" cy="146304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588752" y="334670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337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6245352" y="3913632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45352" y="3913632"/>
            <a:ext cx="45720" cy="4572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53" name="Text 51"/>
          <p:cNvSpPr/>
          <p:nvPr/>
        </p:nvSpPr>
        <p:spPr>
          <a:xfrm>
            <a:off x="6428232" y="391363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2/3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7251192" y="4069080"/>
            <a:ext cx="500885" cy="146304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55" name="Text 53"/>
          <p:cNvSpPr/>
          <p:nvPr/>
        </p:nvSpPr>
        <p:spPr>
          <a:xfrm>
            <a:off x="10588752" y="391363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6245352" y="4480560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45352" y="4480560"/>
            <a:ext cx="45720" cy="4572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8" name="Text 56"/>
          <p:cNvSpPr/>
          <p:nvPr/>
        </p:nvSpPr>
        <p:spPr>
          <a:xfrm>
            <a:off x="6428232" y="44805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7251192" y="4636008"/>
            <a:ext cx="125221" cy="146304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0" name="Text 58"/>
          <p:cNvSpPr/>
          <p:nvPr/>
        </p:nvSpPr>
        <p:spPr>
          <a:xfrm>
            <a:off x="10588752" y="44805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245352" y="5047488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45352" y="5047488"/>
            <a:ext cx="45720" cy="45720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63" name="Text 61"/>
          <p:cNvSpPr/>
          <p:nvPr/>
        </p:nvSpPr>
        <p:spPr>
          <a:xfrm>
            <a:off x="6428232" y="504748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0/3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7251192" y="5202936"/>
            <a:ext cx="173383" cy="146304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65" name="Text 63"/>
          <p:cNvSpPr/>
          <p:nvPr/>
        </p:nvSpPr>
        <p:spPr>
          <a:xfrm>
            <a:off x="10588752" y="504748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6245352" y="566928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337 + 52 = 389 通過門檻；18 個三次全敗。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&amp; Tool Uses：用量與工具呼叫指標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 = 960 runs　·　不依賴人為訂定的「標準步驟」，因此可跨案例與跨模型比較。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2,043,273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Input tokens total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355,719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33572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Output tokens total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2,398,992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27064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Total tokens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1,903.96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020556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Average tokens / run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2889504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Average tokens by EC tier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66928" y="327355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EC1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225296" y="339242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2" name="Shape 20"/>
          <p:cNvSpPr/>
          <p:nvPr/>
        </p:nvSpPr>
        <p:spPr>
          <a:xfrm>
            <a:off x="1225296" y="3392424"/>
            <a:ext cx="3351756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3" name="Text 21"/>
          <p:cNvSpPr/>
          <p:nvPr/>
        </p:nvSpPr>
        <p:spPr>
          <a:xfrm>
            <a:off x="4782312" y="327355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1987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6928" y="38221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EC2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225296" y="394106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25296" y="3941064"/>
            <a:ext cx="3520440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7" name="Text 25"/>
          <p:cNvSpPr/>
          <p:nvPr/>
        </p:nvSpPr>
        <p:spPr>
          <a:xfrm>
            <a:off x="4782312" y="382219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2087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" y="437083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225296" y="448970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0" name="Shape 28"/>
          <p:cNvSpPr/>
          <p:nvPr/>
        </p:nvSpPr>
        <p:spPr>
          <a:xfrm>
            <a:off x="1225296" y="4489704"/>
            <a:ext cx="2440861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1" name="Text 29"/>
          <p:cNvSpPr/>
          <p:nvPr/>
        </p:nvSpPr>
        <p:spPr>
          <a:xfrm>
            <a:off x="4782312" y="437083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66928" y="491947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EC4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225296" y="503834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4" name="Shape 32"/>
          <p:cNvSpPr/>
          <p:nvPr/>
        </p:nvSpPr>
        <p:spPr>
          <a:xfrm>
            <a:off x="1225296" y="5038344"/>
            <a:ext cx="3471522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5" name="Text 33"/>
          <p:cNvSpPr/>
          <p:nvPr/>
        </p:nvSpPr>
        <p:spPr>
          <a:xfrm>
            <a:off x="4782312" y="491947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2058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245352" y="2889504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Average tool uses（各層平均工具呼叫次數）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6245352" y="327355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EC1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903720" y="339242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3392424"/>
            <a:ext cx="3520440" cy="1828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0736" y="327355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4.92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45352" y="38221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EC2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903720" y="394106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3" name="Shape 41"/>
          <p:cNvSpPr/>
          <p:nvPr/>
        </p:nvSpPr>
        <p:spPr>
          <a:xfrm>
            <a:off x="6903720" y="3941064"/>
            <a:ext cx="3327245" cy="1828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460736" y="382219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4.65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245352" y="437083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EC3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903720" y="448970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7" name="Text 45"/>
          <p:cNvSpPr/>
          <p:nvPr/>
        </p:nvSpPr>
        <p:spPr>
          <a:xfrm>
            <a:off x="10460736" y="437083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不適用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245352" y="491947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EC4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903720" y="503834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5038344"/>
            <a:ext cx="2962321" cy="1828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51" name="Text 49"/>
          <p:cNvSpPr/>
          <p:nvPr/>
        </p:nvSpPr>
        <p:spPr>
          <a:xfrm>
            <a:off x="10460736" y="491947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4.14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EC3 為生成技能測試，不走工具呼叫路徑，故無工具次數；它的 token 也最低（1447），因為輸出是程式碼而非多輪工具規劃。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評測本身的缺陷、現行限制與未來工作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371600"/>
          </a:xfrm>
          <a:prstGeom prst="roundRect">
            <a:avLst>
              <a:gd name="adj" fmla="val 3333"/>
            </a:avLst>
          </a:prstGeom>
          <a:solidFill>
            <a:srgbClr val="EFF3F6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71600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評測深度：舊案例可能用空帳號、假 ID、根本沒真正執行就通過——只檢查了流程對不對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04672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fixture/data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25189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52621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grounding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45705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73137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correctness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66222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3654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result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86738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14170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state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07255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4687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collateral damage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927771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55203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code output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4672" y="217627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新增的確定性檢查：確認資料真實有效 · 檢查計畫正確性 · 執行過程是否安全 · 驗證結果符合預期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66928" y="2834640"/>
            <a:ext cx="5376672" cy="2377440"/>
          </a:xfrm>
          <a:prstGeom prst="roundRect">
            <a:avLst>
              <a:gd name="adj" fmla="val 230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2834640"/>
            <a:ext cx="50292" cy="23774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298094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現行限制（誠實列出）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8096" y="3383280"/>
            <a:ext cx="4974336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未真實對生成技能的執行效果做測試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測試案例無紀錄 latency 資料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記憶與長對話追蹤能力有限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執行流程以串行為主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LLM 生成計畫缺乏動態調整能力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217920" y="2834640"/>
            <a:ext cx="5376672" cy="2377440"/>
          </a:xfrm>
          <a:prstGeom prst="roundRect">
            <a:avLst>
              <a:gd name="adj" fmla="val 230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2834640"/>
            <a:ext cx="50292" cy="237744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298094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未來工作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419088" y="3383280"/>
            <a:ext cx="4974336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測試案例更多元化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擴充 Playwright E2E 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多元測試 generated skill runtime cases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做不同模型的受控 A/B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增加 tool-call effectiveness 指標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另含外部模型接入 1 / 1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2026-08-02T15:50:54Z</dcterms:created>
  <dcterms:modified xsi:type="dcterms:W3CDTF">2026-08-02T15:50:54Z</dcterms:modified>
</cp:coreProperties>
</file>