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9712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29712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09872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11040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沈威廷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1040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72656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 · 受控流程 · 客觀評測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11040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72656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19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21936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2816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8" name="Text 36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253984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253984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564880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515600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– 23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64880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CI-CD · 環境與實戰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53984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64880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515600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64880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253984" y="411480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64880" y="411480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515600" y="411480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27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564880" y="438912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253984" y="490118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564880" y="490118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0515600" y="490118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– 29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564880" y="517550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5B6470"/>
                </a:solidFill>
                <a:latin typeface="Georgia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Why </a:t>
            </a:r>
            <a:r>
              <a:rPr sz="3000" b="1" dirty="0" err="1">
                <a:solidFill>
                  <a:srgbClr val="13212A"/>
                </a:solidFill>
                <a:latin typeface="PingFang TC"/>
              </a:rPr>
              <a:t>Harness：讓</a:t>
            </a:r>
            <a:r>
              <a:rPr lang="zh-TW" altLang="en-US" sz="3000" b="1" dirty="0">
                <a:solidFill>
                  <a:srgbClr val="13212A"/>
                </a:solidFill>
                <a:latin typeface="PingFang TC"/>
              </a:rPr>
              <a:t> </a:t>
            </a:r>
            <a:r>
              <a:rPr sz="3000" b="1" dirty="0">
                <a:solidFill>
                  <a:srgbClr val="13212A"/>
                </a:solidFill>
                <a:latin typeface="PingFang TC"/>
              </a:rPr>
              <a:t>AI </a:t>
            </a:r>
            <a:r>
              <a:rPr sz="3000" b="1" dirty="0" err="1">
                <a:solidFill>
                  <a:srgbClr val="13212A"/>
                </a:solidFill>
                <a:latin typeface="PingFang TC"/>
              </a:rPr>
              <a:t>操作可控、可量測</a:t>
            </a:r>
            <a:endParaRPr sz="3000" b="1" dirty="0">
              <a:solidFill>
                <a:srgbClr val="13212A"/>
              </a:solidFill>
              <a:latin typeface="PingFang TC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243584"/>
            <a:ext cx="10396728" cy="730792"/>
          </a:xfrm>
          <a:prstGeom prst="roundRect">
            <a:avLst/>
          </a:prstGeom>
          <a:solidFill>
            <a:srgbClr val="13212A"/>
          </a:solidFill>
          <a:ln w="12700">
            <a:solidFill>
              <a:srgbClr val="132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268972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C9A94E"/>
                </a:solidFill>
                <a:latin typeface="Georgia"/>
              </a:rPr>
              <a:t>CORE IDEA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515860"/>
            <a:ext cx="1001268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PingFang TC"/>
              </a:rPr>
              <a:t>「</a:t>
            </a:r>
            <a:r>
              <a:rPr sz="2000" b="1" dirty="0" err="1">
                <a:solidFill>
                  <a:srgbClr val="FFFFFF"/>
                </a:solidFill>
                <a:latin typeface="PingFang TC"/>
              </a:rPr>
              <a:t>先以結構化流程限制模型行為，再以真實模型與確定性驗證器量測可靠度</a:t>
            </a:r>
            <a:r>
              <a:rPr sz="2000" b="1" dirty="0">
                <a:solidFill>
                  <a:srgbClr val="FFFFFF"/>
                </a:solidFill>
                <a:latin typeface="PingFang TC"/>
              </a:rPr>
              <a:t>。」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1588" y="4951061"/>
            <a:ext cx="3328416" cy="13258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6180" y="5133941"/>
            <a:ext cx="384048" cy="384048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49956" y="5060789"/>
            <a:ext cx="2468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F6F8F"/>
                </a:solidFill>
                <a:latin typeface="Georgia"/>
              </a:rPr>
              <a:t>Structure behavior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0227" y="5517987"/>
            <a:ext cx="2999232" cy="576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5B6470"/>
                </a:solidFill>
                <a:latin typeface="PingFang TC"/>
              </a:rPr>
              <a:t>限制輸出格式與合法技</a:t>
            </a:r>
            <a:r>
              <a:rPr lang="zh-TW" altLang="en-US" sz="1350" b="0" dirty="0">
                <a:solidFill>
                  <a:srgbClr val="5B6470"/>
                </a:solidFill>
                <a:latin typeface="PingFang TC"/>
              </a:rPr>
              <a:t>能</a:t>
            </a:r>
            <a:endParaRPr sz="13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249188" y="4951061"/>
            <a:ext cx="3328416" cy="13258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413780" y="5133941"/>
            <a:ext cx="384048" cy="384048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07556" y="5060789"/>
            <a:ext cx="2468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7E6DA8"/>
                </a:solidFill>
                <a:latin typeface="Georgia"/>
              </a:rPr>
              <a:t>Govern execution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13780" y="5463125"/>
            <a:ext cx="2999232" cy="576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5B6470"/>
                </a:solidFill>
                <a:latin typeface="PingFang TC"/>
              </a:rPr>
              <a:t>寫入與生成技能必須經權限與人工核可</a:t>
            </a:r>
            <a:endParaRPr sz="13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906787" y="4951061"/>
            <a:ext cx="3328416" cy="13258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071379" y="5133941"/>
            <a:ext cx="384048" cy="384048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5156" y="5060789"/>
            <a:ext cx="2468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8F72"/>
                </a:solidFill>
                <a:latin typeface="Georgia"/>
              </a:rPr>
              <a:t>Measure reliability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71379" y="5463125"/>
            <a:ext cx="2999232" cy="576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5B6470"/>
                </a:solidFill>
                <a:latin typeface="PingFang TC"/>
              </a:rPr>
              <a:t>以真實模型、真實</a:t>
            </a:r>
            <a:r>
              <a:rPr sz="1350" b="0" dirty="0">
                <a:solidFill>
                  <a:srgbClr val="5B6470"/>
                </a:solidFill>
                <a:latin typeface="PingFang TC"/>
              </a:rPr>
              <a:t> fixture </a:t>
            </a:r>
            <a:r>
              <a:rPr sz="1350" b="0" dirty="0" err="1">
                <a:solidFill>
                  <a:srgbClr val="5B6470"/>
                </a:solidFill>
                <a:latin typeface="PingFang TC"/>
              </a:rPr>
              <a:t>與確定性</a:t>
            </a:r>
            <a:r>
              <a:rPr sz="1350" b="0" dirty="0">
                <a:solidFill>
                  <a:srgbClr val="5B6470"/>
                </a:solidFill>
                <a:latin typeface="PingFang TC"/>
              </a:rPr>
              <a:t> verifier </a:t>
            </a:r>
            <a:r>
              <a:rPr sz="1350" b="0" dirty="0" err="1">
                <a:solidFill>
                  <a:srgbClr val="5B6470"/>
                </a:solidFill>
                <a:latin typeface="PingFang TC"/>
              </a:rPr>
              <a:t>重複量測</a:t>
            </a:r>
            <a:r>
              <a:rPr sz="1350" b="0" dirty="0">
                <a:solidFill>
                  <a:srgbClr val="5B6470"/>
                </a:solidFill>
                <a:latin typeface="PingFang TC"/>
              </a:rPr>
              <a:t>。</a:t>
            </a:r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339F5F62-E3C2-868E-1110-275B5AAF9384}"/>
              </a:ext>
            </a:extLst>
          </p:cNvPr>
          <p:cNvSpPr/>
          <p:nvPr/>
        </p:nvSpPr>
        <p:spPr>
          <a:xfrm>
            <a:off x="2298088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9175A871-CD49-6B5D-C86E-91E1A566F6A5}"/>
              </a:ext>
            </a:extLst>
          </p:cNvPr>
          <p:cNvSpPr/>
          <p:nvPr/>
        </p:nvSpPr>
        <p:spPr>
          <a:xfrm>
            <a:off x="4520080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967D3F1-9B28-F511-390D-FA60FF07B0E2}"/>
              </a:ext>
            </a:extLst>
          </p:cNvPr>
          <p:cNvSpPr/>
          <p:nvPr/>
        </p:nvSpPr>
        <p:spPr>
          <a:xfrm>
            <a:off x="6742072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E3D2BA35-ABC2-136B-A64C-C42CA4D4FB7E}"/>
              </a:ext>
            </a:extLst>
          </p:cNvPr>
          <p:cNvSpPr/>
          <p:nvPr/>
        </p:nvSpPr>
        <p:spPr>
          <a:xfrm>
            <a:off x="8964064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5459C830-B4A5-7008-8162-4E54996E9BAB}"/>
              </a:ext>
            </a:extLst>
          </p:cNvPr>
          <p:cNvSpPr/>
          <p:nvPr/>
        </p:nvSpPr>
        <p:spPr>
          <a:xfrm>
            <a:off x="393152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EAF4F8"/>
          </a:solidFill>
          <a:ln w="13970">
            <a:solidFill>
              <a:srgbClr val="2C7899"/>
            </a:solidFill>
            <a:prstDash val="solid"/>
          </a:ln>
        </p:spPr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215225BB-8FA5-7D18-BBD9-F0D0E83A7E06}"/>
              </a:ext>
            </a:extLst>
          </p:cNvPr>
          <p:cNvSpPr/>
          <p:nvPr/>
        </p:nvSpPr>
        <p:spPr>
          <a:xfrm>
            <a:off x="574477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789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User Request</a:t>
            </a:r>
            <a:endParaRPr lang="en-US" sz="1400" dirty="0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4AB2AF70-5CBC-6402-BB06-943754CAE339}"/>
              </a:ext>
            </a:extLst>
          </p:cNvPr>
          <p:cNvSpPr/>
          <p:nvPr/>
        </p:nvSpPr>
        <p:spPr>
          <a:xfrm>
            <a:off x="556912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自然語言需求</a:t>
            </a:r>
            <a:endParaRPr lang="en-US" sz="1200" dirty="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CE11B6D6-ABD8-6C52-1CE2-759520B0598E}"/>
              </a:ext>
            </a:extLst>
          </p:cNvPr>
          <p:cNvSpPr/>
          <p:nvPr/>
        </p:nvSpPr>
        <p:spPr>
          <a:xfrm>
            <a:off x="696806" y="341915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需求可能模糊</a:t>
            </a:r>
            <a:endParaRPr lang="en-US" sz="1100" dirty="0"/>
          </a:p>
        </p:txBody>
      </p:sp>
      <p:sp>
        <p:nvSpPr>
          <p:cNvPr id="47" name="Text 13">
            <a:extLst>
              <a:ext uri="{FF2B5EF4-FFF2-40B4-BE49-F238E27FC236}">
                <a16:creationId xmlns:a16="http://schemas.microsoft.com/office/drawing/2014/main" id="{6E231DB5-9884-FD94-EAEF-89A791FDAB60}"/>
              </a:ext>
            </a:extLst>
          </p:cNvPr>
          <p:cNvSpPr/>
          <p:nvPr/>
        </p:nvSpPr>
        <p:spPr>
          <a:xfrm>
            <a:off x="696806" y="3629463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不可直接操作資料</a:t>
            </a:r>
            <a:endParaRPr lang="en-US" sz="1100" dirty="0"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B46C6F99-D744-12B2-150B-3BF142EDCFB1}"/>
              </a:ext>
            </a:extLst>
          </p:cNvPr>
          <p:cNvSpPr/>
          <p:nvPr/>
        </p:nvSpPr>
        <p:spPr>
          <a:xfrm>
            <a:off x="2615144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F0EBF8"/>
          </a:solidFill>
          <a:ln w="13970">
            <a:solidFill>
              <a:srgbClr val="7E68B0"/>
            </a:solidFill>
            <a:prstDash val="solid"/>
          </a:ln>
        </p:spPr>
      </p:sp>
      <p:sp>
        <p:nvSpPr>
          <p:cNvPr id="49" name="Text 15">
            <a:extLst>
              <a:ext uri="{FF2B5EF4-FFF2-40B4-BE49-F238E27FC236}">
                <a16:creationId xmlns:a16="http://schemas.microsoft.com/office/drawing/2014/main" id="{F5DE929C-E25C-ED16-8517-C5A9B2C72288}"/>
              </a:ext>
            </a:extLst>
          </p:cNvPr>
          <p:cNvSpPr/>
          <p:nvPr/>
        </p:nvSpPr>
        <p:spPr>
          <a:xfrm>
            <a:off x="2796469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E68B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Structured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E68B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Workflow</a:t>
            </a:r>
            <a:endParaRPr lang="en-US" sz="1400" dirty="0"/>
          </a:p>
        </p:txBody>
      </p:sp>
      <p:sp>
        <p:nvSpPr>
          <p:cNvPr id="50" name="Text 16">
            <a:extLst>
              <a:ext uri="{FF2B5EF4-FFF2-40B4-BE49-F238E27FC236}">
                <a16:creationId xmlns:a16="http://schemas.microsoft.com/office/drawing/2014/main" id="{104B3DC7-09FE-EB5B-CF61-02BA0C68F5BE}"/>
              </a:ext>
            </a:extLst>
          </p:cNvPr>
          <p:cNvSpPr/>
          <p:nvPr/>
        </p:nvSpPr>
        <p:spPr>
          <a:xfrm>
            <a:off x="2778904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轉成可檢查的計畫</a:t>
            </a:r>
            <a:endParaRPr lang="en-US" sz="1200" dirty="0"/>
          </a:p>
        </p:txBody>
      </p:sp>
      <p:sp>
        <p:nvSpPr>
          <p:cNvPr id="51" name="Text 17">
            <a:extLst>
              <a:ext uri="{FF2B5EF4-FFF2-40B4-BE49-F238E27FC236}">
                <a16:creationId xmlns:a16="http://schemas.microsoft.com/office/drawing/2014/main" id="{DD55D39F-802F-728E-A162-4A00BB082C3F}"/>
              </a:ext>
            </a:extLst>
          </p:cNvPr>
          <p:cNvSpPr/>
          <p:nvPr/>
        </p:nvSpPr>
        <p:spPr>
          <a:xfrm>
            <a:off x="2908260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JSON plan</a:t>
            </a:r>
            <a:endParaRPr lang="en-US" sz="1100" dirty="0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14C7F727-EF48-6A8D-511B-58F045648AC4}"/>
              </a:ext>
            </a:extLst>
          </p:cNvPr>
          <p:cNvSpPr/>
          <p:nvPr/>
        </p:nvSpPr>
        <p:spPr>
          <a:xfrm>
            <a:off x="2908260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Schema 驗證</a:t>
            </a:r>
            <a:endParaRPr lang="en-US" sz="1100" dirty="0"/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5375E559-44A6-4000-0DB9-AAA6AB769443}"/>
              </a:ext>
            </a:extLst>
          </p:cNvPr>
          <p:cNvSpPr/>
          <p:nvPr/>
        </p:nvSpPr>
        <p:spPr>
          <a:xfrm>
            <a:off x="2908260" y="380638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Registry 工具／技能</a:t>
            </a:r>
            <a:endParaRPr lang="en-US" sz="1100" dirty="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776B11A0-C6EC-5C9A-3F6F-4E8F93059106}"/>
              </a:ext>
            </a:extLst>
          </p:cNvPr>
          <p:cNvSpPr/>
          <p:nvPr/>
        </p:nvSpPr>
        <p:spPr>
          <a:xfrm>
            <a:off x="4837136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F8EAEA"/>
          </a:solidFill>
          <a:ln w="13970">
            <a:solidFill>
              <a:srgbClr val="B66C69"/>
            </a:solidFill>
            <a:prstDash val="solid"/>
          </a:ln>
        </p:spPr>
      </p:sp>
      <p:sp>
        <p:nvSpPr>
          <p:cNvPr id="55" name="Text 21">
            <a:extLst>
              <a:ext uri="{FF2B5EF4-FFF2-40B4-BE49-F238E27FC236}">
                <a16:creationId xmlns:a16="http://schemas.microsoft.com/office/drawing/2014/main" id="{9601A3E2-60AA-3DDE-4CC8-BA44892EAFEF}"/>
              </a:ext>
            </a:extLst>
          </p:cNvPr>
          <p:cNvSpPr/>
          <p:nvPr/>
        </p:nvSpPr>
        <p:spPr>
          <a:xfrm>
            <a:off x="5018461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66C6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Permission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B66C6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Review</a:t>
            </a:r>
            <a:endParaRPr lang="en-US" sz="1400" dirty="0"/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A54CF298-944B-CB5D-AB48-B689F4AECC0F}"/>
              </a:ext>
            </a:extLst>
          </p:cNvPr>
          <p:cNvSpPr/>
          <p:nvPr/>
        </p:nvSpPr>
        <p:spPr>
          <a:xfrm>
            <a:off x="5000896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權限與風險檢查</a:t>
            </a:r>
            <a:endParaRPr lang="en-US" sz="12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F8732FC3-3A2E-4049-E57F-9C19A6795AEF}"/>
              </a:ext>
            </a:extLst>
          </p:cNvPr>
          <p:cNvSpPr/>
          <p:nvPr/>
        </p:nvSpPr>
        <p:spPr>
          <a:xfrm>
            <a:off x="5130252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權限檢查</a:t>
            </a:r>
            <a:endParaRPr lang="en-US" sz="1100" dirty="0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F286328A-6C2E-08A3-6F0D-D3C5E480C391}"/>
              </a:ext>
            </a:extLst>
          </p:cNvPr>
          <p:cNvSpPr/>
          <p:nvPr/>
        </p:nvSpPr>
        <p:spPr>
          <a:xfrm>
            <a:off x="5130252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高風險操作判定</a:t>
            </a:r>
            <a:endParaRPr lang="en-US" sz="11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7912D885-6AB1-D7F1-F394-A2E32964DC33}"/>
              </a:ext>
            </a:extLst>
          </p:cNvPr>
          <p:cNvSpPr/>
          <p:nvPr/>
        </p:nvSpPr>
        <p:spPr>
          <a:xfrm>
            <a:off x="5130252" y="380638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是否需要人工核可</a:t>
            </a:r>
            <a:endParaRPr lang="en-US" sz="1100" dirty="0"/>
          </a:p>
        </p:txBody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15C8CEED-9FE1-CFD5-4BB5-BFCB95B9C09B}"/>
              </a:ext>
            </a:extLst>
          </p:cNvPr>
          <p:cNvSpPr/>
          <p:nvPr/>
        </p:nvSpPr>
        <p:spPr>
          <a:xfrm>
            <a:off x="7059128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F8F1DE"/>
          </a:solidFill>
          <a:ln w="13970">
            <a:solidFill>
              <a:srgbClr val="C6A142"/>
            </a:solidFill>
            <a:prstDash val="solid"/>
          </a:ln>
        </p:spPr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B9BDA725-89A2-17B7-6E39-85B004A3B162}"/>
              </a:ext>
            </a:extLst>
          </p:cNvPr>
          <p:cNvSpPr/>
          <p:nvPr/>
        </p:nvSpPr>
        <p:spPr>
          <a:xfrm>
            <a:off x="7240453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A14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Controlled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C6A14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5A4E802D-A6F9-3326-F930-260854CADEA9}"/>
              </a:ext>
            </a:extLst>
          </p:cNvPr>
          <p:cNvSpPr/>
          <p:nvPr/>
        </p:nvSpPr>
        <p:spPr>
          <a:xfrm>
            <a:off x="7222888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受控執行</a:t>
            </a:r>
            <a:endParaRPr lang="en-US" sz="1200" dirty="0"/>
          </a:p>
        </p:txBody>
      </p:sp>
      <p:sp>
        <p:nvSpPr>
          <p:cNvPr id="63" name="Text 29">
            <a:extLst>
              <a:ext uri="{FF2B5EF4-FFF2-40B4-BE49-F238E27FC236}">
                <a16:creationId xmlns:a16="http://schemas.microsoft.com/office/drawing/2014/main" id="{565E9861-7192-421A-543F-9B173356E297}"/>
              </a:ext>
            </a:extLst>
          </p:cNvPr>
          <p:cNvSpPr/>
          <p:nvPr/>
        </p:nvSpPr>
        <p:spPr>
          <a:xfrm>
            <a:off x="7368119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只經授權後執行</a:t>
            </a:r>
            <a:endParaRPr lang="en-US" sz="1100" dirty="0"/>
          </a:p>
        </p:txBody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9ED56735-24E7-661D-C6D4-B86FF37933B4}"/>
              </a:ext>
            </a:extLst>
          </p:cNvPr>
          <p:cNvSpPr/>
          <p:nvPr/>
        </p:nvSpPr>
        <p:spPr>
          <a:xfrm>
            <a:off x="7368119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透過 Service Layer</a:t>
            </a:r>
            <a:endParaRPr lang="en-US" sz="1100" dirty="0"/>
          </a:p>
        </p:txBody>
      </p:sp>
      <p:sp>
        <p:nvSpPr>
          <p:cNvPr id="65" name="Shape 31">
            <a:extLst>
              <a:ext uri="{FF2B5EF4-FFF2-40B4-BE49-F238E27FC236}">
                <a16:creationId xmlns:a16="http://schemas.microsoft.com/office/drawing/2014/main" id="{C6AFE4D1-0E8D-38E1-B4AC-6CFC6B9571E5}"/>
              </a:ext>
            </a:extLst>
          </p:cNvPr>
          <p:cNvSpPr/>
          <p:nvPr/>
        </p:nvSpPr>
        <p:spPr>
          <a:xfrm>
            <a:off x="9281120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EAF5EF"/>
          </a:solidFill>
          <a:ln w="13970">
            <a:solidFill>
              <a:srgbClr val="5B936E"/>
            </a:solidFill>
            <a:prstDash val="solid"/>
          </a:ln>
        </p:spPr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F526C21C-20D9-325B-1E42-8DE90CF0D722}"/>
              </a:ext>
            </a:extLst>
          </p:cNvPr>
          <p:cNvSpPr/>
          <p:nvPr/>
        </p:nvSpPr>
        <p:spPr>
          <a:xfrm>
            <a:off x="9462445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93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Objective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5B93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67" name="Text 33">
            <a:extLst>
              <a:ext uri="{FF2B5EF4-FFF2-40B4-BE49-F238E27FC236}">
                <a16:creationId xmlns:a16="http://schemas.microsoft.com/office/drawing/2014/main" id="{B881A13F-F009-21E3-1CE4-A88BCF61CA28}"/>
              </a:ext>
            </a:extLst>
          </p:cNvPr>
          <p:cNvSpPr/>
          <p:nvPr/>
        </p:nvSpPr>
        <p:spPr>
          <a:xfrm>
            <a:off x="9444880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客觀量測可靠度</a:t>
            </a:r>
            <a:endParaRPr lang="en-US" sz="1200" dirty="0"/>
          </a:p>
        </p:txBody>
      </p:sp>
      <p:sp>
        <p:nvSpPr>
          <p:cNvPr id="68" name="Text 34">
            <a:extLst>
              <a:ext uri="{FF2B5EF4-FFF2-40B4-BE49-F238E27FC236}">
                <a16:creationId xmlns:a16="http://schemas.microsoft.com/office/drawing/2014/main" id="{41183E64-C900-C6EC-1463-C73A1C7240E3}"/>
              </a:ext>
            </a:extLst>
          </p:cNvPr>
          <p:cNvSpPr/>
          <p:nvPr/>
        </p:nvSpPr>
        <p:spPr>
          <a:xfrm>
            <a:off x="9572388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真實模型</a:t>
            </a:r>
            <a:endParaRPr lang="en-US" sz="1100" dirty="0"/>
          </a:p>
        </p:txBody>
      </p:sp>
      <p:sp>
        <p:nvSpPr>
          <p:cNvPr id="69" name="Text 35">
            <a:extLst>
              <a:ext uri="{FF2B5EF4-FFF2-40B4-BE49-F238E27FC236}">
                <a16:creationId xmlns:a16="http://schemas.microsoft.com/office/drawing/2014/main" id="{92A21415-BBFB-45CD-364A-31700581887A}"/>
              </a:ext>
            </a:extLst>
          </p:cNvPr>
          <p:cNvSpPr/>
          <p:nvPr/>
        </p:nvSpPr>
        <p:spPr>
          <a:xfrm>
            <a:off x="9572388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正式 API</a:t>
            </a:r>
            <a:endParaRPr lang="en-US" sz="1100" dirty="0"/>
          </a:p>
        </p:txBody>
      </p:sp>
      <p:sp>
        <p:nvSpPr>
          <p:cNvPr id="70" name="Text 36">
            <a:extLst>
              <a:ext uri="{FF2B5EF4-FFF2-40B4-BE49-F238E27FC236}">
                <a16:creationId xmlns:a16="http://schemas.microsoft.com/office/drawing/2014/main" id="{5F2C4C0B-EDAE-7B34-4EB1-7C09CD72AEE2}"/>
              </a:ext>
            </a:extLst>
          </p:cNvPr>
          <p:cNvSpPr/>
          <p:nvPr/>
        </p:nvSpPr>
        <p:spPr>
          <a:xfrm>
            <a:off x="9572388" y="380638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確定性 Verifier</a:t>
            </a:r>
            <a:endParaRPr lang="en-US" sz="1100" dirty="0"/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8BC6BD85-3E98-DA90-F5C7-9A89D1607387}"/>
              </a:ext>
            </a:extLst>
          </p:cNvPr>
          <p:cNvSpPr txBox="1"/>
          <p:nvPr/>
        </p:nvSpPr>
        <p:spPr>
          <a:xfrm>
            <a:off x="5270757" y="20603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設計流程</a:t>
            </a: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9D2D0E6F-4D6E-FA23-004E-44ACA52FC9E3}"/>
              </a:ext>
            </a:extLst>
          </p:cNvPr>
          <p:cNvSpPr txBox="1"/>
          <p:nvPr/>
        </p:nvSpPr>
        <p:spPr>
          <a:xfrm>
            <a:off x="5270757" y="442451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設計原則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ounded Rectangle 17">
            <a:extLst>
              <a:ext uri="{FF2B5EF4-FFF2-40B4-BE49-F238E27FC236}">
                <a16:creationId xmlns:a16="http://schemas.microsoft.com/office/drawing/2014/main" id="{A49E1F0C-1035-4D01-BABB-CED16E145BDD}"/>
              </a:ext>
            </a:extLst>
          </p:cNvPr>
          <p:cNvSpPr/>
          <p:nvPr/>
        </p:nvSpPr>
        <p:spPr>
          <a:xfrm>
            <a:off x="660365" y="3876727"/>
            <a:ext cx="8522210" cy="1100888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Harness Architecture：四層分工與離線評測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66928" y="1042415"/>
            <a:ext cx="105613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B6470"/>
                </a:solidFill>
                <a:latin typeface="PingFang TC"/>
              </a:rPr>
              <a:t>Workflow Pipeline 定義要做什麼；Runtime 確保可靠執行；Service Layer 才真正操作資料。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0365" y="1477597"/>
            <a:ext cx="8503920" cy="1087987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3243" y="1582597"/>
            <a:ext cx="2286000" cy="2724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2F6F8F"/>
                </a:solidFill>
                <a:latin typeface="Georgia"/>
              </a:rPr>
              <a:t>1  Workflow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804" y="2676162"/>
            <a:ext cx="8503920" cy="1089987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5119" y="2671590"/>
            <a:ext cx="2395939" cy="3705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7E6DA8"/>
                </a:solidFill>
                <a:latin typeface="Georgia"/>
              </a:rPr>
              <a:t>2  Agent Harness Runtime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655" y="5088193"/>
            <a:ext cx="8503920" cy="1111788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843243" y="3935322"/>
            <a:ext cx="2763802" cy="3160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C9A94E"/>
                </a:solidFill>
                <a:latin typeface="Georgia"/>
              </a:rPr>
              <a:t>3  Cloud</a:t>
            </a:r>
            <a:r>
              <a:rPr lang="zh-TW" altLang="en-US" sz="1500" b="1" dirty="0">
                <a:solidFill>
                  <a:srgbClr val="C9A94E"/>
                </a:solidFill>
                <a:latin typeface="Georgia"/>
              </a:rPr>
              <a:t> </a:t>
            </a:r>
            <a:r>
              <a:rPr sz="1500" b="1" dirty="0">
                <a:solidFill>
                  <a:srgbClr val="C9A94E"/>
                </a:solidFill>
                <a:latin typeface="Georgia"/>
              </a:rPr>
              <a:t>Drive Service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6146" y="1999082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Parse</a:t>
            </a:r>
          </a:p>
        </p:txBody>
      </p:sp>
      <p:sp>
        <p:nvSpPr>
          <p:cNvPr id="16" name="Chevron 15"/>
          <p:cNvSpPr/>
          <p:nvPr/>
        </p:nvSpPr>
        <p:spPr>
          <a:xfrm>
            <a:off x="2668001" y="2116323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93234" y="1987835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Plan</a:t>
            </a:r>
          </a:p>
        </p:txBody>
      </p:sp>
      <p:sp>
        <p:nvSpPr>
          <p:cNvPr id="18" name="Chevron 17"/>
          <p:cNvSpPr/>
          <p:nvPr/>
        </p:nvSpPr>
        <p:spPr>
          <a:xfrm>
            <a:off x="3822799" y="2088576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012537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Validate</a:t>
            </a:r>
          </a:p>
        </p:txBody>
      </p:sp>
      <p:sp>
        <p:nvSpPr>
          <p:cNvPr id="20" name="Chevron 19"/>
          <p:cNvSpPr/>
          <p:nvPr/>
        </p:nvSpPr>
        <p:spPr>
          <a:xfrm>
            <a:off x="4995517" y="2116324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192113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Review</a:t>
            </a:r>
          </a:p>
        </p:txBody>
      </p:sp>
      <p:sp>
        <p:nvSpPr>
          <p:cNvPr id="22" name="Chevron 21"/>
          <p:cNvSpPr/>
          <p:nvPr/>
        </p:nvSpPr>
        <p:spPr>
          <a:xfrm>
            <a:off x="6129373" y="2116325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85405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Execute</a:t>
            </a:r>
          </a:p>
        </p:txBody>
      </p:sp>
      <p:sp>
        <p:nvSpPr>
          <p:cNvPr id="24" name="Chevron 23"/>
          <p:cNvSpPr/>
          <p:nvPr/>
        </p:nvSpPr>
        <p:spPr>
          <a:xfrm>
            <a:off x="7313521" y="2116326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555837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Log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13889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2F6F8F"/>
                </a:solidFill>
                <a:latin typeface="Georgia"/>
              </a:rPr>
              <a:t>Execution 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86657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6DA8"/>
                </a:solidFill>
                <a:latin typeface="Georgia"/>
              </a:rPr>
              <a:t>Registry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9424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9A94E"/>
                </a:solidFill>
                <a:latin typeface="Georgia"/>
              </a:rPr>
              <a:t>Context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32193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E8F72"/>
                </a:solidFill>
                <a:latin typeface="Georgia"/>
              </a:rPr>
              <a:t>State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4961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6A66"/>
                </a:solidFill>
                <a:latin typeface="Georgia"/>
              </a:rPr>
              <a:t>Lifecycle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89761" y="4357016"/>
            <a:ext cx="1942575" cy="3923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F6F8F"/>
                </a:solidFill>
                <a:latin typeface="Georgia"/>
              </a:rPr>
              <a:t>Drive Service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92881" y="4357016"/>
            <a:ext cx="1942575" cy="3923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8F72"/>
                </a:solidFill>
                <a:latin typeface="Georgia"/>
              </a:rPr>
              <a:t>Upload Service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0" y="4357016"/>
            <a:ext cx="1942575" cy="3923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7E6DA8"/>
                </a:solidFill>
                <a:latin typeface="Georgia"/>
              </a:rPr>
              <a:t>Assistant</a:t>
            </a:r>
            <a:r>
              <a:rPr lang="en-US" sz="1200" b="1" dirty="0">
                <a:solidFill>
                  <a:srgbClr val="7E6DA8"/>
                </a:solidFill>
                <a:latin typeface="Georgia"/>
              </a:rPr>
              <a:t> </a:t>
            </a:r>
            <a:r>
              <a:rPr sz="1200" b="1" dirty="0">
                <a:solidFill>
                  <a:srgbClr val="7E6DA8"/>
                </a:solidFill>
                <a:latin typeface="Georgia"/>
              </a:rPr>
              <a:t>Skill</a:t>
            </a:r>
            <a:r>
              <a:rPr lang="en-US" sz="1200" b="1" dirty="0">
                <a:solidFill>
                  <a:srgbClr val="7E6DA8"/>
                </a:solidFill>
                <a:latin typeface="Georgia"/>
              </a:rPr>
              <a:t> </a:t>
            </a:r>
            <a:r>
              <a:rPr sz="1200" b="1" dirty="0">
                <a:solidFill>
                  <a:srgbClr val="7E6DA8"/>
                </a:solidFill>
                <a:latin typeface="Georgia"/>
              </a:rPr>
              <a:t>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1477597"/>
            <a:ext cx="2011680" cy="4208495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646920" y="1764792"/>
            <a:ext cx="16002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E6DA8"/>
                </a:solidFill>
                <a:latin typeface="Georgia"/>
              </a:rPr>
              <a:t>Evaluation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29800" y="2084831"/>
            <a:ext cx="1234440" cy="23774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F7F1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9A94E"/>
                </a:solidFill>
                <a:latin typeface="PingFang TC"/>
              </a:rPr>
              <a:t>OFFLINE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2542032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Case Schema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8360" y="3136391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Runner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38360" y="3730752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Verifier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8360" y="4325112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Scoring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46920" y="5010912"/>
            <a:ext cx="1591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E6DA8"/>
                </a:solidFill>
                <a:latin typeface="Georgia"/>
              </a:rPr>
              <a:t>not in request path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98864" y="3165925"/>
            <a:ext cx="237744" cy="0"/>
          </a:xfrm>
          <a:prstGeom prst="line">
            <a:avLst/>
          </a:prstGeom>
          <a:ln w="15875">
            <a:solidFill>
              <a:srgbClr val="7E6D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11">
            <a:extLst>
              <a:ext uri="{FF2B5EF4-FFF2-40B4-BE49-F238E27FC236}">
                <a16:creationId xmlns:a16="http://schemas.microsoft.com/office/drawing/2014/main" id="{C02354C8-BB80-CEFF-958C-62ADB81BF3EE}"/>
              </a:ext>
            </a:extLst>
          </p:cNvPr>
          <p:cNvSpPr/>
          <p:nvPr/>
        </p:nvSpPr>
        <p:spPr>
          <a:xfrm>
            <a:off x="898111" y="5252785"/>
            <a:ext cx="3139232" cy="3596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lang="en" altLang="zh-TW" sz="1400" b="1" dirty="0">
                <a:solidFill>
                  <a:srgbClr val="5E8F72"/>
                </a:solidFill>
                <a:latin typeface="Georgia"/>
              </a:rPr>
              <a:t>4 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1" dirty="0">
              <a:solidFill>
                <a:srgbClr val="5E8F72"/>
              </a:solidFill>
              <a:latin typeface="Georgia"/>
            </a:endParaRPr>
          </a:p>
        </p:txBody>
      </p:sp>
      <p:sp>
        <p:nvSpPr>
          <p:cNvPr id="49" name="Rounded Rectangle 30">
            <a:extLst>
              <a:ext uri="{FF2B5EF4-FFF2-40B4-BE49-F238E27FC236}">
                <a16:creationId xmlns:a16="http://schemas.microsoft.com/office/drawing/2014/main" id="{89E4B102-137B-AEC1-D27B-118418E02EE8}"/>
              </a:ext>
            </a:extLst>
          </p:cNvPr>
          <p:cNvSpPr/>
          <p:nvPr/>
        </p:nvSpPr>
        <p:spPr>
          <a:xfrm>
            <a:off x="2893234" y="5358384"/>
            <a:ext cx="1868111" cy="6148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" altLang="zh-TW" sz="1200" b="1" dirty="0">
                <a:solidFill>
                  <a:srgbClr val="2F6F8F"/>
                </a:solidFill>
                <a:latin typeface="Georgia"/>
              </a:rPr>
              <a:t>PostgreSQL</a:t>
            </a:r>
            <a:endParaRPr sz="1200" b="1" dirty="0">
              <a:solidFill>
                <a:srgbClr val="2F6F8F"/>
              </a:solidFill>
              <a:latin typeface="Georgia"/>
            </a:endParaRPr>
          </a:p>
        </p:txBody>
      </p:sp>
      <p:sp>
        <p:nvSpPr>
          <p:cNvPr id="50" name="Rounded Rectangle 32">
            <a:extLst>
              <a:ext uri="{FF2B5EF4-FFF2-40B4-BE49-F238E27FC236}">
                <a16:creationId xmlns:a16="http://schemas.microsoft.com/office/drawing/2014/main" id="{1EBF458F-6DAD-2029-D4D8-CC60B55D0D44}"/>
              </a:ext>
            </a:extLst>
          </p:cNvPr>
          <p:cNvSpPr/>
          <p:nvPr/>
        </p:nvSpPr>
        <p:spPr>
          <a:xfrm>
            <a:off x="5001926" y="5358384"/>
            <a:ext cx="1868111" cy="6148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" altLang="zh-TW" sz="1200" b="1" dirty="0">
                <a:solidFill>
                  <a:srgbClr val="7E6DA8"/>
                </a:solidFill>
                <a:latin typeface="Georgia"/>
              </a:rPr>
              <a:t>Object Storage</a:t>
            </a:r>
            <a:endParaRPr sz="1200" b="1" dirty="0">
              <a:solidFill>
                <a:srgbClr val="7E6DA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Six Core Components × Nine Runtime Modules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61404" y="1243584"/>
            <a:ext cx="5230368" cy="1627613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Oval 7"/>
          <p:cNvSpPr/>
          <p:nvPr/>
        </p:nvSpPr>
        <p:spPr>
          <a:xfrm>
            <a:off x="625995" y="1444753"/>
            <a:ext cx="512064" cy="512064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E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4364" y="137160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F6F8F"/>
                </a:solidFill>
                <a:latin typeface="Georgia"/>
              </a:rPr>
              <a:t>Execution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059" y="177393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Main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8059" y="2285583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Sub-agent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6091" y="1243584"/>
            <a:ext cx="5230368" cy="1627613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130683" y="1444753"/>
            <a:ext cx="512064" cy="512064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9052" y="137160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E6DA8"/>
                </a:solidFill>
                <a:latin typeface="Georgia"/>
              </a:rPr>
              <a:t>Tool / Skill Registry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42747" y="1791806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Registry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42747" y="2285583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Built-in Skills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404" y="2999214"/>
            <a:ext cx="5230368" cy="1627613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25995" y="3200383"/>
            <a:ext cx="512064" cy="512064"/>
          </a:xfrm>
          <a:prstGeom prst="ellipse">
            <a:avLst/>
          </a:prstGeom>
          <a:solidFill>
            <a:srgbClr val="C9A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4364" y="312723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A94E"/>
                </a:solidFill>
                <a:latin typeface="Georgia"/>
              </a:rPr>
              <a:t>Context Manager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8059" y="352956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Context Management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38059" y="4023345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13212A"/>
                </a:solidFill>
                <a:latin typeface="Georgia"/>
              </a:rPr>
              <a:t>System Prompt Assembly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091" y="2999214"/>
            <a:ext cx="5230368" cy="1627613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130683" y="3200383"/>
            <a:ext cx="512064" cy="512064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9052" y="312723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8F72"/>
                </a:solidFill>
                <a:latin typeface="Georgia"/>
              </a:rPr>
              <a:t>State 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2747" y="352956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Session Persistence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404" y="4754844"/>
            <a:ext cx="5230368" cy="1627613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25995" y="4956013"/>
            <a:ext cx="512064" cy="512064"/>
          </a:xfrm>
          <a:prstGeom prst="ellipse">
            <a:avLst/>
          </a:prstGeom>
          <a:solidFill>
            <a:srgbClr val="B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4364" y="488286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06A66"/>
                </a:solidFill>
                <a:latin typeface="Georgia"/>
              </a:rPr>
              <a:t>Lifecycle Hooks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059" y="528519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Governance Hooks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38059" y="5802157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Permissions &amp; Safety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66091" y="4754844"/>
            <a:ext cx="5230368" cy="1627613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130683" y="4956013"/>
            <a:ext cx="512064" cy="512064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V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9052" y="488286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E6DA8"/>
                </a:solidFill>
                <a:latin typeface="Georgia"/>
              </a:rPr>
              <a:t>Evaluation Interface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747" y="528519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Offline Evaluation</a:t>
            </a:r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1AC3AEBB-31C2-0251-75C5-ACBE2CEF2D0C}"/>
              </a:ext>
            </a:extLst>
          </p:cNvPr>
          <p:cNvSpPr/>
          <p:nvPr/>
        </p:nvSpPr>
        <p:spPr>
          <a:xfrm>
            <a:off x="3113163" y="1791806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控制任務執行流程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分派步驟給對應程序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處理每一步的結果回傳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80492D0B-23C5-C8F1-2E60-27C6D0A6F147}"/>
              </a:ext>
            </a:extLst>
          </p:cNvPr>
          <p:cNvSpPr/>
          <p:nvPr/>
        </p:nvSpPr>
        <p:spPr>
          <a:xfrm>
            <a:off x="8562988" y="1862019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管理系統可使用工具與技能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提供技能名稱、功能、參數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將內建與自建技能分開管理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5" name="Text 9">
            <a:extLst>
              <a:ext uri="{FF2B5EF4-FFF2-40B4-BE49-F238E27FC236}">
                <a16:creationId xmlns:a16="http://schemas.microsoft.com/office/drawing/2014/main" id="{F9C79573-7E31-82DE-BB04-561F311EE3B3}"/>
              </a:ext>
            </a:extLst>
          </p:cNvPr>
          <p:cNvSpPr/>
          <p:nvPr/>
        </p:nvSpPr>
        <p:spPr>
          <a:xfrm>
            <a:off x="3113162" y="3566141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整理需求、對話紀錄與任務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工具說明、規則等組成</a:t>
            </a:r>
            <a:r>
              <a:rPr lang="en-US" altLang="zh-TW" sz="1300" dirty="0"/>
              <a:t>Prompt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控制上下文長短、內容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2A29C6F2-8ED1-1280-79F5-A4F42C32F36F}"/>
              </a:ext>
            </a:extLst>
          </p:cNvPr>
          <p:cNvSpPr/>
          <p:nvPr/>
        </p:nvSpPr>
        <p:spPr>
          <a:xfrm>
            <a:off x="8562987" y="3547856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保存對話</a:t>
            </a:r>
            <a:r>
              <a:rPr lang="en-US" altLang="zh-TW" sz="1300" dirty="0"/>
              <a:t>session</a:t>
            </a:r>
            <a:r>
              <a:rPr lang="zh-TW" altLang="en-US" sz="1300" dirty="0"/>
              <a:t>、訊息、狀態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紀錄執行節點與結果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使任務在多次請求間可延續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F7AD3187-A931-D84E-7BF3-823E03A4FC71}"/>
              </a:ext>
            </a:extLst>
          </p:cNvPr>
          <p:cNvSpPr/>
          <p:nvPr/>
        </p:nvSpPr>
        <p:spPr>
          <a:xfrm>
            <a:off x="3113161" y="5321771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執行前後做權限安全檢查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高風險操作要求使用者確認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管理錯誤處理與執行紀錄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D343B08D-07CE-F9FB-5009-D9616E620A40}"/>
              </a:ext>
            </a:extLst>
          </p:cNvPr>
          <p:cNvSpPr/>
          <p:nvPr/>
        </p:nvSpPr>
        <p:spPr>
          <a:xfrm>
            <a:off x="8562986" y="5418109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建立測試案例進行測試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驗證規劃、執行結果及狀態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統計錯誤類型以分析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Workflow Pipeline：先形成完整計畫，再依權限分流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71447" y="1490471"/>
            <a:ext cx="1517904" cy="804672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Requirement
Parsing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5383" y="1490471"/>
            <a:ext cx="1517904" cy="804672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Structured
Planning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9319" y="1490471"/>
            <a:ext cx="1517904" cy="804672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Skill
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3255" y="1490471"/>
            <a:ext cx="1517904" cy="804672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Permission &amp;
Safety Review</a:t>
            </a:r>
          </a:p>
        </p:txBody>
      </p:sp>
      <p:sp>
        <p:nvSpPr>
          <p:cNvPr id="18" name="Diamond 17"/>
          <p:cNvSpPr/>
          <p:nvPr/>
        </p:nvSpPr>
        <p:spPr>
          <a:xfrm>
            <a:off x="7679491" y="1348740"/>
            <a:ext cx="1298448" cy="1078992"/>
          </a:xfrm>
          <a:prstGeom prst="diamond">
            <a:avLst/>
          </a:prstGeom>
          <a:solidFill>
            <a:srgbClr val="F7F1E2"/>
          </a:solidFill>
          <a:ln w="1524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50612" y="1321308"/>
            <a:ext cx="9326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E8F72"/>
                </a:solidFill>
                <a:latin typeface="Georgia"/>
              </a:rPr>
              <a:t>read-only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52948" y="1568196"/>
            <a:ext cx="1901952" cy="640080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212A"/>
                </a:solidFill>
                <a:latin typeface="Georgia"/>
              </a:rPr>
              <a:t>Workflow
Execution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56200" y="2563524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E6DA8"/>
                </a:solidFill>
                <a:latin typeface="Georgia"/>
              </a:rPr>
              <a:t>write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96127" y="3278281"/>
            <a:ext cx="1481328" cy="640080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Plan
Presentation</a:t>
            </a:r>
          </a:p>
        </p:txBody>
      </p:sp>
      <p:sp>
        <p:nvSpPr>
          <p:cNvPr id="30" name="Diamond 29"/>
          <p:cNvSpPr/>
          <p:nvPr/>
        </p:nvSpPr>
        <p:spPr>
          <a:xfrm>
            <a:off x="3293942" y="3012450"/>
            <a:ext cx="1408176" cy="1170590"/>
          </a:xfrm>
          <a:prstGeom prst="diamond">
            <a:avLst/>
          </a:prstGeom>
          <a:solidFill>
            <a:srgbClr val="F1EEF7"/>
          </a:solidFill>
          <a:ln w="1524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075755" y="4215279"/>
            <a:ext cx="6858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5E8F72"/>
                </a:solidFill>
                <a:latin typeface="Georgia"/>
              </a:rPr>
              <a:t>approve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2367" y="3285839"/>
            <a:ext cx="6858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B06A66"/>
                </a:solidFill>
                <a:latin typeface="Georgia"/>
              </a:rPr>
              <a:t>reject</a:t>
            </a:r>
          </a:p>
        </p:txBody>
      </p:sp>
      <p:cxnSp>
        <p:nvCxnSpPr>
          <p:cNvPr id="38" name="Connector 37"/>
          <p:cNvCxnSpPr>
            <a:cxnSpLocks/>
            <a:stCxn id="30" idx="1"/>
            <a:endCxn id="39" idx="3"/>
          </p:cNvCxnSpPr>
          <p:nvPr/>
        </p:nvCxnSpPr>
        <p:spPr>
          <a:xfrm flipH="1">
            <a:off x="2553278" y="3597745"/>
            <a:ext cx="740664" cy="488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71950" y="3282591"/>
            <a:ext cx="1481328" cy="640080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6A66"/>
                </a:solidFill>
                <a:latin typeface="Georgia"/>
              </a:rPr>
              <a:t>Cancelled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52948" y="4434840"/>
            <a:ext cx="1901952" cy="1005840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Execution
Logging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26100" y="5486400"/>
            <a:ext cx="1755648" cy="237744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EA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2F6F8F"/>
                </a:solidFill>
                <a:latin typeface="PingFang TC"/>
              </a:rPr>
              <a:t>Persistence + Governance Hooks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5724144"/>
            <a:ext cx="7132320" cy="585216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22960" y="5833872"/>
            <a:ext cx="310896" cy="310896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61872" y="5779008"/>
            <a:ext cx="627278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7E6DA8"/>
                </a:solidFill>
                <a:latin typeface="Georgia"/>
              </a:rPr>
              <a:t>Skill-authoring requests use a separate proposal flow.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89219" y="1790386"/>
            <a:ext cx="107899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C9A94E"/>
                </a:solidFill>
                <a:latin typeface="Georgia"/>
              </a:rPr>
              <a:t>Permission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45287" y="3536601"/>
            <a:ext cx="117043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dirty="0">
                <a:solidFill>
                  <a:srgbClr val="7E6DA8"/>
                </a:solidFill>
                <a:latin typeface="Georgia"/>
              </a:rPr>
              <a:t>User Approval</a:t>
            </a:r>
          </a:p>
        </p:txBody>
      </p:sp>
      <p:cxnSp>
        <p:nvCxnSpPr>
          <p:cNvPr id="57" name="Connector 37">
            <a:extLst>
              <a:ext uri="{FF2B5EF4-FFF2-40B4-BE49-F238E27FC236}">
                <a16:creationId xmlns:a16="http://schemas.microsoft.com/office/drawing/2014/main" id="{F9662D65-3735-CBFF-B5CA-EC43B292B3DF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2089351" y="1892807"/>
            <a:ext cx="25603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Connector 37">
            <a:extLst>
              <a:ext uri="{FF2B5EF4-FFF2-40B4-BE49-F238E27FC236}">
                <a16:creationId xmlns:a16="http://schemas.microsoft.com/office/drawing/2014/main" id="{5EF56CEC-46E7-9BDF-621A-8ED3E19D347C}"/>
              </a:ext>
            </a:extLst>
          </p:cNvPr>
          <p:cNvCxnSpPr>
            <a:cxnSpLocks/>
          </p:cNvCxnSpPr>
          <p:nvPr/>
        </p:nvCxnSpPr>
        <p:spPr>
          <a:xfrm>
            <a:off x="3863287" y="1899007"/>
            <a:ext cx="25603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Connector 37">
            <a:extLst>
              <a:ext uri="{FF2B5EF4-FFF2-40B4-BE49-F238E27FC236}">
                <a16:creationId xmlns:a16="http://schemas.microsoft.com/office/drawing/2014/main" id="{EC64D0BB-7D37-062C-D4B5-75DDA4567F3A}"/>
              </a:ext>
            </a:extLst>
          </p:cNvPr>
          <p:cNvCxnSpPr>
            <a:cxnSpLocks/>
          </p:cNvCxnSpPr>
          <p:nvPr/>
        </p:nvCxnSpPr>
        <p:spPr>
          <a:xfrm>
            <a:off x="5637223" y="1892390"/>
            <a:ext cx="25603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Connector 37">
            <a:extLst>
              <a:ext uri="{FF2B5EF4-FFF2-40B4-BE49-F238E27FC236}">
                <a16:creationId xmlns:a16="http://schemas.microsoft.com/office/drawing/2014/main" id="{46ED3019-7B7D-5E26-B363-0C29FA6B389B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 flipV="1">
            <a:off x="7411159" y="1888236"/>
            <a:ext cx="268332" cy="457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9" name="Connector 37">
            <a:extLst>
              <a:ext uri="{FF2B5EF4-FFF2-40B4-BE49-F238E27FC236}">
                <a16:creationId xmlns:a16="http://schemas.microsoft.com/office/drawing/2014/main" id="{0563D84A-8C64-E35A-BE76-0ED64B3CA87A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8977939" y="1888236"/>
            <a:ext cx="37500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nector 37">
            <a:extLst>
              <a:ext uri="{FF2B5EF4-FFF2-40B4-BE49-F238E27FC236}">
                <a16:creationId xmlns:a16="http://schemas.microsoft.com/office/drawing/2014/main" id="{B41AD3F7-A419-A81C-B5CD-45CEF7CA7AA6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>
            <a:off x="10303924" y="2208276"/>
            <a:ext cx="0" cy="222656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肘形接點 85">
            <a:extLst>
              <a:ext uri="{FF2B5EF4-FFF2-40B4-BE49-F238E27FC236}">
                <a16:creationId xmlns:a16="http://schemas.microsoft.com/office/drawing/2014/main" id="{05A07E20-48E8-98BE-C22F-BECC77FB6057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7174629" y="2329854"/>
            <a:ext cx="1056209" cy="125196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Connector 37">
            <a:extLst>
              <a:ext uri="{FF2B5EF4-FFF2-40B4-BE49-F238E27FC236}">
                <a16:creationId xmlns:a16="http://schemas.microsoft.com/office/drawing/2014/main" id="{36B3AA4D-6DFD-FBE5-DA6A-AFBA3E6C8DC5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flipH="1" flipV="1">
            <a:off x="4702118" y="3597745"/>
            <a:ext cx="894009" cy="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肘形接點 107">
            <a:extLst>
              <a:ext uri="{FF2B5EF4-FFF2-40B4-BE49-F238E27FC236}">
                <a16:creationId xmlns:a16="http://schemas.microsoft.com/office/drawing/2014/main" id="{A752D1D0-0945-804A-79B3-FA29B6018E66}"/>
              </a:ext>
            </a:extLst>
          </p:cNvPr>
          <p:cNvCxnSpPr>
            <a:cxnSpLocks/>
            <a:stCxn id="39" idx="2"/>
          </p:cNvCxnSpPr>
          <p:nvPr/>
        </p:nvCxnSpPr>
        <p:spPr>
          <a:xfrm rot="16200000" flipH="1">
            <a:off x="4961027" y="774258"/>
            <a:ext cx="1243509" cy="7540334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3" name="肘形接點 112">
            <a:extLst>
              <a:ext uri="{FF2B5EF4-FFF2-40B4-BE49-F238E27FC236}">
                <a16:creationId xmlns:a16="http://schemas.microsoft.com/office/drawing/2014/main" id="{74D7C30F-E5DA-69E8-C473-8A772F793BA2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7076751" y="3723263"/>
            <a:ext cx="3227173" cy="711577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1" name="肘形接點 120">
            <a:extLst>
              <a:ext uri="{FF2B5EF4-FFF2-40B4-BE49-F238E27FC236}">
                <a16:creationId xmlns:a16="http://schemas.microsoft.com/office/drawing/2014/main" id="{5F2D631B-FC95-2511-CC71-15EB935DCE67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6361169" y="1819901"/>
            <a:ext cx="628640" cy="5354918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Generated Skill Lifecycle：核可後才執行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1104" y="1188721"/>
            <a:ext cx="4151376" cy="530349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EA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F6F8F"/>
                </a:solidFill>
                <a:latin typeface="Georgia"/>
              </a:rPr>
              <a:t>1  Generate &amp; repair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7072" y="1188721"/>
            <a:ext cx="2340864" cy="530349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6DA8"/>
                </a:solidFill>
                <a:latin typeface="Georgia"/>
              </a:rPr>
              <a:t>2  Human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72528" y="1188721"/>
            <a:ext cx="4078224" cy="530349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EA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E8F72"/>
                </a:solidFill>
                <a:latin typeface="Georgia"/>
              </a:rPr>
              <a:t>3  Execute after approval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40797"/>
            <a:ext cx="1353312" cy="749808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3212A"/>
                </a:solidFill>
                <a:latin typeface="Georgia"/>
              </a:rPr>
              <a:t>Skill
Requirement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1947672" y="3233405"/>
            <a:ext cx="146304" cy="164592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21408" y="2940797"/>
            <a:ext cx="1353312" cy="749808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3212A"/>
                </a:solidFill>
                <a:latin typeface="Georgia"/>
              </a:rPr>
              <a:t>Codegen
Sub-agent</a:t>
            </a:r>
          </a:p>
        </p:txBody>
      </p:sp>
      <p:sp>
        <p:nvSpPr>
          <p:cNvPr id="13" name="Chevron 12"/>
          <p:cNvSpPr/>
          <p:nvPr/>
        </p:nvSpPr>
        <p:spPr>
          <a:xfrm>
            <a:off x="3493008" y="3224260"/>
            <a:ext cx="146304" cy="164592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75888" y="2940797"/>
            <a:ext cx="1554480" cy="749808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13212A"/>
                </a:solidFill>
                <a:latin typeface="Georgia"/>
              </a:rPr>
              <a:t>JSON / Manifest
Validation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5248656" y="3224260"/>
            <a:ext cx="146304" cy="164592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13248" y="2940797"/>
            <a:ext cx="1353312" cy="749808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dirty="0" err="1">
                <a:solidFill>
                  <a:srgbClr val="13212A"/>
                </a:solidFill>
                <a:latin typeface="Georgia"/>
              </a:rPr>
              <a:t>CodeGuard</a:t>
            </a:r>
            <a:endParaRPr sz="1350" b="1" dirty="0">
              <a:solidFill>
                <a:srgbClr val="13212A"/>
              </a:solidFill>
              <a:latin typeface="Georg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21408" y="1920238"/>
            <a:ext cx="4645152" cy="649226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B6470"/>
                </a:solidFill>
                <a:latin typeface="Georgia"/>
              </a:rPr>
              <a:t>Observable errors feed back to codegen
max 3 repair rounds (4 attempts)</a:t>
            </a:r>
          </a:p>
        </p:txBody>
      </p:sp>
      <p:cxnSp>
        <p:nvCxnSpPr>
          <p:cNvPr id="18" name="Connector 17"/>
          <p:cNvCxnSpPr>
            <a:cxnSpLocks/>
            <a:endCxn id="12" idx="0"/>
          </p:cNvCxnSpPr>
          <p:nvPr/>
        </p:nvCxnSpPr>
        <p:spPr>
          <a:xfrm>
            <a:off x="2798064" y="2569464"/>
            <a:ext cx="0" cy="371333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cxnSpLocks/>
            <a:stCxn id="16" idx="0"/>
          </p:cNvCxnSpPr>
          <p:nvPr/>
        </p:nvCxnSpPr>
        <p:spPr>
          <a:xfrm flipV="1">
            <a:off x="6089904" y="2569464"/>
            <a:ext cx="0" cy="371333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Down Arrow 19"/>
          <p:cNvSpPr/>
          <p:nvPr/>
        </p:nvSpPr>
        <p:spPr>
          <a:xfrm>
            <a:off x="5998464" y="3891772"/>
            <a:ext cx="182880" cy="256032"/>
          </a:xfrm>
          <a:prstGeom prst="downArrow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315712" y="4288537"/>
            <a:ext cx="1591056" cy="694944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3212A"/>
                </a:solidFill>
                <a:latin typeface="Georgia"/>
              </a:rPr>
              <a:t>Pending
Proposal</a:t>
            </a:r>
          </a:p>
        </p:txBody>
      </p:sp>
      <p:sp>
        <p:nvSpPr>
          <p:cNvPr id="22" name="Diamond 21"/>
          <p:cNvSpPr/>
          <p:nvPr/>
        </p:nvSpPr>
        <p:spPr>
          <a:xfrm>
            <a:off x="7208520" y="4087369"/>
            <a:ext cx="1289304" cy="1097280"/>
          </a:xfrm>
          <a:prstGeom prst="diamond">
            <a:avLst/>
          </a:prstGeom>
          <a:solidFill>
            <a:srgbClr val="F1EEF7"/>
          </a:solidFill>
          <a:ln w="1524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3" name="Chevron 22"/>
          <p:cNvSpPr/>
          <p:nvPr/>
        </p:nvSpPr>
        <p:spPr>
          <a:xfrm>
            <a:off x="6989064" y="4519872"/>
            <a:ext cx="192024" cy="207577"/>
          </a:xfrm>
          <a:prstGeom prst="chevron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717280" y="4288537"/>
            <a:ext cx="1316736" cy="694944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13212A"/>
                </a:solidFill>
                <a:latin typeface="Georgia"/>
              </a:rPr>
              <a:t>Installed
Skill</a:t>
            </a:r>
          </a:p>
        </p:txBody>
      </p:sp>
      <p:sp>
        <p:nvSpPr>
          <p:cNvPr id="25" name="Chevron 24"/>
          <p:cNvSpPr/>
          <p:nvPr/>
        </p:nvSpPr>
        <p:spPr>
          <a:xfrm>
            <a:off x="8479536" y="4544569"/>
            <a:ext cx="182880" cy="182880"/>
          </a:xfrm>
          <a:prstGeom prst="chevron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253472" y="4288537"/>
            <a:ext cx="1097280" cy="694944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Sandbox
Execution</a:t>
            </a:r>
          </a:p>
        </p:txBody>
      </p:sp>
      <p:sp>
        <p:nvSpPr>
          <p:cNvPr id="27" name="Chevron 26"/>
          <p:cNvSpPr/>
          <p:nvPr/>
        </p:nvSpPr>
        <p:spPr>
          <a:xfrm>
            <a:off x="10052304" y="4544569"/>
            <a:ext cx="146304" cy="182880"/>
          </a:xfrm>
          <a:prstGeom prst="chevron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Down Arrow 27"/>
          <p:cNvSpPr/>
          <p:nvPr/>
        </p:nvSpPr>
        <p:spPr>
          <a:xfrm>
            <a:off x="10710672" y="5029201"/>
            <a:ext cx="182880" cy="228600"/>
          </a:xfrm>
          <a:prstGeom prst="downArrow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704832" y="5312665"/>
            <a:ext cx="1828800" cy="548640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212A"/>
                </a:solidFill>
                <a:latin typeface="Georgia"/>
              </a:rPr>
              <a:t>Output Ingestion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2918" y="5315398"/>
            <a:ext cx="5943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B06A66"/>
                </a:solidFill>
                <a:latin typeface="Georgia"/>
              </a:rPr>
              <a:t>reject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1737" y="5184649"/>
            <a:ext cx="0" cy="512064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027637" y="5690302"/>
            <a:ext cx="1755648" cy="457200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B06A66"/>
                </a:solidFill>
                <a:latin typeface="Georgia"/>
              </a:rPr>
              <a:t>Rejected / Cancelled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72000"/>
            <a:ext cx="4224528" cy="173736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77824" y="4773168"/>
            <a:ext cx="374903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2F6F8F"/>
                </a:solidFill>
                <a:latin typeface="Georgia"/>
              </a:rPr>
              <a:t>一些限制</a:t>
            </a:r>
            <a:endParaRPr sz="1500" b="1" dirty="0">
              <a:solidFill>
                <a:srgbClr val="2F6F8F"/>
              </a:solidFill>
              <a:latin typeface="Georgia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77824" y="5138928"/>
            <a:ext cx="376732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5B6470"/>
                </a:solidFill>
                <a:latin typeface="PingFang TC"/>
              </a:rPr>
              <a:t>• 通過靜態驗證後，只建立 Pending Proposal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5486400"/>
            <a:ext cx="376732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dirty="0">
                <a:solidFill>
                  <a:srgbClr val="5B6470"/>
                </a:solidFill>
                <a:latin typeface="PingFang TC"/>
              </a:rPr>
              <a:t>• </a:t>
            </a:r>
            <a:r>
              <a:rPr sz="1320" b="0" dirty="0" err="1">
                <a:solidFill>
                  <a:srgbClr val="5B6470"/>
                </a:solidFill>
                <a:latin typeface="PingFang TC"/>
              </a:rPr>
              <a:t>使用者核可後才安裝，之後才可進</a:t>
            </a:r>
            <a:r>
              <a:rPr sz="1320" b="0" dirty="0">
                <a:solidFill>
                  <a:srgbClr val="5B6470"/>
                </a:solidFill>
                <a:latin typeface="PingFang TC"/>
              </a:rPr>
              <a:t> Sandbox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833872"/>
            <a:ext cx="376732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5B6470"/>
                </a:solidFill>
                <a:latin typeface="PingFang TC"/>
              </a:rPr>
              <a:t>• 核可後執行失敗不會自動重新生成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8248" y="4562857"/>
            <a:ext cx="113385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dirty="0">
                <a:solidFill>
                  <a:srgbClr val="7E6DA8"/>
                </a:solidFill>
                <a:latin typeface="Georgia"/>
              </a:rPr>
              <a:t>User Approval</a:t>
            </a:r>
          </a:p>
        </p:txBody>
      </p:sp>
      <p:sp>
        <p:nvSpPr>
          <p:cNvPr id="54" name="Rectangle 32">
            <a:extLst>
              <a:ext uri="{FF2B5EF4-FFF2-40B4-BE49-F238E27FC236}">
                <a16:creationId xmlns:a16="http://schemas.microsoft.com/office/drawing/2014/main" id="{C918DBB5-452A-B89C-FC61-8A1E8AE76B81}"/>
              </a:ext>
            </a:extLst>
          </p:cNvPr>
          <p:cNvSpPr/>
          <p:nvPr/>
        </p:nvSpPr>
        <p:spPr>
          <a:xfrm>
            <a:off x="8154924" y="4090575"/>
            <a:ext cx="6858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5E8F72"/>
                </a:solidFill>
                <a:latin typeface="Georgia"/>
              </a:rPr>
              <a:t>approve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Why Evaluation：用真實資料與確定性驗證器量測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4493" y="1579232"/>
            <a:ext cx="2370146" cy="4096512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5112" y="1780400"/>
            <a:ext cx="2197686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7E6DA8"/>
                </a:solidFill>
                <a:latin typeface="Georgia"/>
              </a:rPr>
              <a:t>Why real-model evaluation?</a:t>
            </a:r>
          </a:p>
        </p:txBody>
      </p:sp>
      <p:sp>
        <p:nvSpPr>
          <p:cNvPr id="9" name="Oval 8"/>
          <p:cNvSpPr/>
          <p:nvPr/>
        </p:nvSpPr>
        <p:spPr>
          <a:xfrm>
            <a:off x="566824" y="2237600"/>
            <a:ext cx="354465" cy="365760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2312" y="2251457"/>
            <a:ext cx="1772327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2F6F8F"/>
                </a:solidFill>
                <a:latin typeface="Georgia"/>
              </a:rPr>
              <a:t>Unit /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2312" y="2475344"/>
            <a:ext cx="1772327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5B6470"/>
                </a:solidFill>
                <a:latin typeface="PingFang TC"/>
              </a:rPr>
              <a:t>Mock </a:t>
            </a:r>
            <a:r>
              <a:rPr lang="en-US" sz="1250" dirty="0">
                <a:solidFill>
                  <a:srgbClr val="5B6470"/>
                </a:solidFill>
                <a:latin typeface="PingFang TC"/>
              </a:rPr>
              <a:t>LLM</a:t>
            </a:r>
            <a:endParaRPr sz="12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66824" y="3188576"/>
            <a:ext cx="354465" cy="365760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312" y="3170288"/>
            <a:ext cx="1772327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7E6DA8"/>
                </a:solidFill>
                <a:latin typeface="Georgia"/>
              </a:rPr>
              <a:t>Production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312" y="3426320"/>
            <a:ext cx="1772327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50" dirty="0" err="1">
                <a:solidFill>
                  <a:srgbClr val="5B6470"/>
                </a:solidFill>
                <a:latin typeface="PingFang TC"/>
              </a:rPr>
              <a:t>與產品</a:t>
            </a:r>
            <a:r>
              <a:rPr sz="1250" b="0" dirty="0" err="1">
                <a:solidFill>
                  <a:srgbClr val="5B6470"/>
                </a:solidFill>
                <a:latin typeface="PingFang TC"/>
              </a:rPr>
              <a:t>走同一條路徑</a:t>
            </a:r>
            <a:endParaRPr sz="12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66824" y="4139552"/>
            <a:ext cx="354465" cy="365760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2468" y="4185272"/>
            <a:ext cx="200273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5E8F72"/>
                </a:solidFill>
                <a:latin typeface="Georgia"/>
              </a:rPr>
              <a:t>Deterministic</a:t>
            </a:r>
            <a:endParaRPr lang="en-US" sz="1350" b="1" dirty="0">
              <a:solidFill>
                <a:srgbClr val="5E8F72"/>
              </a:solidFill>
              <a:latin typeface="Georgia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5E8F72"/>
                </a:solidFill>
                <a:latin typeface="Georgia"/>
              </a:rPr>
              <a:t> verifier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312" y="4514960"/>
            <a:ext cx="1772327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dirty="0" err="1">
                <a:solidFill>
                  <a:srgbClr val="5B6470"/>
                </a:solidFill>
                <a:latin typeface="PingFang TC"/>
              </a:rPr>
              <a:t>相同結果得到相同判定</a:t>
            </a:r>
            <a:endParaRPr sz="12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82033" y="5137685"/>
            <a:ext cx="2250855" cy="292608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C9A94E"/>
                </a:solidFill>
                <a:latin typeface="Georgia"/>
              </a:rPr>
              <a:t>LLM judge = qualitative only</a:t>
            </a:r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61AF373B-B8C3-C3CB-5C8A-F94AC8B59EF9}"/>
              </a:ext>
            </a:extLst>
          </p:cNvPr>
          <p:cNvSpPr/>
          <p:nvPr/>
        </p:nvSpPr>
        <p:spPr>
          <a:xfrm>
            <a:off x="2876526" y="1261872"/>
            <a:ext cx="8845672" cy="234541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2DCE5"/>
            </a:solidFill>
            <a:prstDash val="solid"/>
          </a:ln>
        </p:spPr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F1ED05F7-66E7-01B1-7D55-C2A85F4E7F59}"/>
              </a:ext>
            </a:extLst>
          </p:cNvPr>
          <p:cNvSpPr/>
          <p:nvPr/>
        </p:nvSpPr>
        <p:spPr>
          <a:xfrm>
            <a:off x="2876526" y="1261872"/>
            <a:ext cx="8845672" cy="317360"/>
          </a:xfrm>
          <a:prstGeom prst="rect">
            <a:avLst/>
          </a:prstGeom>
          <a:solidFill>
            <a:srgbClr val="7E68B0"/>
          </a:solidFill>
          <a:ln w="12700">
            <a:solidFill>
              <a:srgbClr val="7E68B0"/>
            </a:solidFill>
            <a:prstDash val="solid"/>
          </a:ln>
        </p:spPr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9665916F-913C-722A-8F00-71F2E158CA9A}"/>
              </a:ext>
            </a:extLst>
          </p:cNvPr>
          <p:cNvSpPr/>
          <p:nvPr/>
        </p:nvSpPr>
        <p:spPr>
          <a:xfrm>
            <a:off x="3058379" y="1339595"/>
            <a:ext cx="8627242" cy="1633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Phase 1｜Run the case（執行測試）</a:t>
            </a:r>
            <a:endParaRPr lang="en-US" sz="1600" dirty="0"/>
          </a:p>
        </p:txBody>
      </p:sp>
      <p:sp>
        <p:nvSpPr>
          <p:cNvPr id="46" name="Shape 24">
            <a:extLst>
              <a:ext uri="{FF2B5EF4-FFF2-40B4-BE49-F238E27FC236}">
                <a16:creationId xmlns:a16="http://schemas.microsoft.com/office/drawing/2014/main" id="{13DAF08C-0A76-5ACC-85CE-EFC1882FE57B}"/>
              </a:ext>
            </a:extLst>
          </p:cNvPr>
          <p:cNvSpPr/>
          <p:nvPr/>
        </p:nvSpPr>
        <p:spPr>
          <a:xfrm>
            <a:off x="4782345" y="4139552"/>
            <a:ext cx="7035351" cy="23454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CE5"/>
            </a:solidFill>
            <a:prstDash val="solid"/>
          </a:ln>
        </p:spPr>
      </p:sp>
      <p:sp>
        <p:nvSpPr>
          <p:cNvPr id="47" name="Shape 25">
            <a:extLst>
              <a:ext uri="{FF2B5EF4-FFF2-40B4-BE49-F238E27FC236}">
                <a16:creationId xmlns:a16="http://schemas.microsoft.com/office/drawing/2014/main" id="{A23F83E4-8D81-0789-C872-8AC83F39A24C}"/>
              </a:ext>
            </a:extLst>
          </p:cNvPr>
          <p:cNvSpPr/>
          <p:nvPr/>
        </p:nvSpPr>
        <p:spPr>
          <a:xfrm>
            <a:off x="4782345" y="4139552"/>
            <a:ext cx="7035351" cy="279426"/>
          </a:xfrm>
          <a:prstGeom prst="rect">
            <a:avLst/>
          </a:prstGeom>
          <a:solidFill>
            <a:srgbClr val="7E68B0"/>
          </a:solidFill>
          <a:ln w="12700">
            <a:solidFill>
              <a:srgbClr val="7E68B0"/>
            </a:solidFill>
            <a:prstDash val="solid"/>
          </a:ln>
        </p:spPr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4A789540-254B-CAED-E2DD-7E0144E46DC4}"/>
              </a:ext>
            </a:extLst>
          </p:cNvPr>
          <p:cNvSpPr/>
          <p:nvPr/>
        </p:nvSpPr>
        <p:spPr>
          <a:xfrm>
            <a:off x="5325718" y="4196860"/>
            <a:ext cx="6455402" cy="1579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Phase 2｜Verify the result（驗證結果）</a:t>
            </a:r>
            <a:endParaRPr lang="en-US" sz="1600" dirty="0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18049DB4-2777-F6A6-E03F-C217AF325288}"/>
              </a:ext>
            </a:extLst>
          </p:cNvPr>
          <p:cNvSpPr/>
          <p:nvPr/>
        </p:nvSpPr>
        <p:spPr>
          <a:xfrm>
            <a:off x="2917810" y="1664209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EAF4F8"/>
          </a:solidFill>
          <a:ln w="13970">
            <a:solidFill>
              <a:srgbClr val="2C7899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54" name="Text 32">
            <a:extLst>
              <a:ext uri="{FF2B5EF4-FFF2-40B4-BE49-F238E27FC236}">
                <a16:creationId xmlns:a16="http://schemas.microsoft.com/office/drawing/2014/main" id="{85D08BDC-8FAD-F5E7-443C-FDA0D612A25C}"/>
              </a:ext>
            </a:extLst>
          </p:cNvPr>
          <p:cNvSpPr/>
          <p:nvPr/>
        </p:nvSpPr>
        <p:spPr>
          <a:xfrm>
            <a:off x="2991174" y="1629834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Case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Schema</a:t>
            </a:r>
            <a:endParaRPr lang="en-US" sz="1200" dirty="0"/>
          </a:p>
        </p:txBody>
      </p:sp>
      <p:sp>
        <p:nvSpPr>
          <p:cNvPr id="55" name="Text 33">
            <a:extLst>
              <a:ext uri="{FF2B5EF4-FFF2-40B4-BE49-F238E27FC236}">
                <a16:creationId xmlns:a16="http://schemas.microsoft.com/office/drawing/2014/main" id="{84CBA761-4C7B-3698-0B81-0C56DF3BF145}"/>
              </a:ext>
            </a:extLst>
          </p:cNvPr>
          <p:cNvSpPr/>
          <p:nvPr/>
        </p:nvSpPr>
        <p:spPr>
          <a:xfrm>
            <a:off x="3002044" y="2054720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定義測試案例</a:t>
            </a:r>
            <a:endParaRPr lang="en-US" sz="1200" dirty="0"/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0856B203-B1B1-DE4B-5419-F849E95FD2DB}"/>
              </a:ext>
            </a:extLst>
          </p:cNvPr>
          <p:cNvSpPr/>
          <p:nvPr/>
        </p:nvSpPr>
        <p:spPr>
          <a:xfrm>
            <a:off x="4686847" y="1699667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0EBF8"/>
          </a:solidFill>
          <a:ln w="13970">
            <a:solidFill>
              <a:srgbClr val="7E68B0"/>
            </a:solidFill>
            <a:prstDash val="solid"/>
          </a:ln>
        </p:spPr>
      </p:sp>
      <p:sp>
        <p:nvSpPr>
          <p:cNvPr id="57" name="Text 35">
            <a:extLst>
              <a:ext uri="{FF2B5EF4-FFF2-40B4-BE49-F238E27FC236}">
                <a16:creationId xmlns:a16="http://schemas.microsoft.com/office/drawing/2014/main" id="{20E6E8E7-5548-9201-0C2A-8B76A8898D43}"/>
              </a:ext>
            </a:extLst>
          </p:cNvPr>
          <p:cNvSpPr/>
          <p:nvPr/>
        </p:nvSpPr>
        <p:spPr>
          <a:xfrm>
            <a:off x="4754313" y="1671952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Fixture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Builder</a:t>
            </a:r>
            <a:endParaRPr lang="en-US" sz="1200" dirty="0"/>
          </a:p>
        </p:txBody>
      </p:sp>
      <p:sp>
        <p:nvSpPr>
          <p:cNvPr id="58" name="Text 36">
            <a:extLst>
              <a:ext uri="{FF2B5EF4-FFF2-40B4-BE49-F238E27FC236}">
                <a16:creationId xmlns:a16="http://schemas.microsoft.com/office/drawing/2014/main" id="{9DEB8239-55C6-46A9-6E19-265153DA7F0B}"/>
              </a:ext>
            </a:extLst>
          </p:cNvPr>
          <p:cNvSpPr/>
          <p:nvPr/>
        </p:nvSpPr>
        <p:spPr>
          <a:xfrm>
            <a:off x="4765183" y="2073935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建立真實資料</a:t>
            </a:r>
            <a:endParaRPr lang="en-US" sz="1200" dirty="0"/>
          </a:p>
        </p:txBody>
      </p:sp>
      <p:sp>
        <p:nvSpPr>
          <p:cNvPr id="59" name="Shape 37">
            <a:extLst>
              <a:ext uri="{FF2B5EF4-FFF2-40B4-BE49-F238E27FC236}">
                <a16:creationId xmlns:a16="http://schemas.microsoft.com/office/drawing/2014/main" id="{787F15D0-76C9-B9FE-F94A-421B07919CA4}"/>
              </a:ext>
            </a:extLst>
          </p:cNvPr>
          <p:cNvSpPr/>
          <p:nvPr/>
        </p:nvSpPr>
        <p:spPr>
          <a:xfrm>
            <a:off x="6487135" y="1701112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F1DE"/>
          </a:solidFill>
          <a:ln w="13970">
            <a:solidFill>
              <a:srgbClr val="C6A142"/>
            </a:solidFill>
            <a:prstDash val="solid"/>
          </a:ln>
        </p:spPr>
      </p:sp>
      <p:sp>
        <p:nvSpPr>
          <p:cNvPr id="60" name="Text 38">
            <a:extLst>
              <a:ext uri="{FF2B5EF4-FFF2-40B4-BE49-F238E27FC236}">
                <a16:creationId xmlns:a16="http://schemas.microsoft.com/office/drawing/2014/main" id="{EC5E1504-169A-8447-50BD-56E034765D3B}"/>
              </a:ext>
            </a:extLst>
          </p:cNvPr>
          <p:cNvSpPr/>
          <p:nvPr/>
        </p:nvSpPr>
        <p:spPr>
          <a:xfrm>
            <a:off x="6584457" y="1672038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Runner</a:t>
            </a:r>
            <a:endParaRPr lang="en-US" sz="1200" dirty="0"/>
          </a:p>
        </p:txBody>
      </p:sp>
      <p:sp>
        <p:nvSpPr>
          <p:cNvPr id="61" name="Text 39">
            <a:extLst>
              <a:ext uri="{FF2B5EF4-FFF2-40B4-BE49-F238E27FC236}">
                <a16:creationId xmlns:a16="http://schemas.microsoft.com/office/drawing/2014/main" id="{46362141-24C4-BD04-A3FF-93E97144623B}"/>
              </a:ext>
            </a:extLst>
          </p:cNvPr>
          <p:cNvSpPr/>
          <p:nvPr/>
        </p:nvSpPr>
        <p:spPr>
          <a:xfrm>
            <a:off x="6587911" y="2076017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執行測試流程</a:t>
            </a:r>
            <a:endParaRPr lang="en-US" sz="1200" dirty="0"/>
          </a:p>
        </p:txBody>
      </p:sp>
      <p:sp>
        <p:nvSpPr>
          <p:cNvPr id="62" name="Shape 40">
            <a:extLst>
              <a:ext uri="{FF2B5EF4-FFF2-40B4-BE49-F238E27FC236}">
                <a16:creationId xmlns:a16="http://schemas.microsoft.com/office/drawing/2014/main" id="{219CE800-6C0E-5D70-1F12-F84F5878B393}"/>
              </a:ext>
            </a:extLst>
          </p:cNvPr>
          <p:cNvSpPr/>
          <p:nvPr/>
        </p:nvSpPr>
        <p:spPr>
          <a:xfrm>
            <a:off x="8300021" y="1717297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EAEA"/>
          </a:solidFill>
          <a:ln w="13970">
            <a:solidFill>
              <a:srgbClr val="B66C69"/>
            </a:solidFill>
            <a:prstDash val="solid"/>
          </a:ln>
        </p:spPr>
      </p:sp>
      <p:sp>
        <p:nvSpPr>
          <p:cNvPr id="63" name="Text 41">
            <a:extLst>
              <a:ext uri="{FF2B5EF4-FFF2-40B4-BE49-F238E27FC236}">
                <a16:creationId xmlns:a16="http://schemas.microsoft.com/office/drawing/2014/main" id="{5961EF25-E954-8BAC-58AB-52A2B58F9725}"/>
              </a:ext>
            </a:extLst>
          </p:cNvPr>
          <p:cNvSpPr/>
          <p:nvPr/>
        </p:nvSpPr>
        <p:spPr>
          <a:xfrm>
            <a:off x="8375072" y="1675379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Production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API</a:t>
            </a:r>
            <a:endParaRPr lang="en-US" sz="1200" dirty="0"/>
          </a:p>
        </p:txBody>
      </p:sp>
      <p:sp>
        <p:nvSpPr>
          <p:cNvPr id="64" name="Text 42">
            <a:extLst>
              <a:ext uri="{FF2B5EF4-FFF2-40B4-BE49-F238E27FC236}">
                <a16:creationId xmlns:a16="http://schemas.microsoft.com/office/drawing/2014/main" id="{6C7429CC-9AFC-2E74-8DB1-D6762FA49F15}"/>
              </a:ext>
            </a:extLst>
          </p:cNvPr>
          <p:cNvSpPr/>
          <p:nvPr/>
        </p:nvSpPr>
        <p:spPr>
          <a:xfrm>
            <a:off x="8396814" y="2057946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正式產品路徑</a:t>
            </a:r>
            <a:endParaRPr lang="en-US" sz="1200" dirty="0"/>
          </a:p>
        </p:txBody>
      </p:sp>
      <p:sp>
        <p:nvSpPr>
          <p:cNvPr id="65" name="Shape 43">
            <a:extLst>
              <a:ext uri="{FF2B5EF4-FFF2-40B4-BE49-F238E27FC236}">
                <a16:creationId xmlns:a16="http://schemas.microsoft.com/office/drawing/2014/main" id="{F480BF8C-5BDD-BD83-96F5-2A4CA361168A}"/>
              </a:ext>
            </a:extLst>
          </p:cNvPr>
          <p:cNvSpPr/>
          <p:nvPr/>
        </p:nvSpPr>
        <p:spPr>
          <a:xfrm>
            <a:off x="10052407" y="1717174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EAF5EF"/>
          </a:solidFill>
          <a:ln w="13970">
            <a:solidFill>
              <a:srgbClr val="5B936E"/>
            </a:solidFill>
            <a:prstDash val="solid"/>
          </a:ln>
        </p:spPr>
      </p:sp>
      <p:sp>
        <p:nvSpPr>
          <p:cNvPr id="66" name="Text 44">
            <a:extLst>
              <a:ext uri="{FF2B5EF4-FFF2-40B4-BE49-F238E27FC236}">
                <a16:creationId xmlns:a16="http://schemas.microsoft.com/office/drawing/2014/main" id="{BB4F7716-5192-48FB-1614-2793F5FCFAA9}"/>
              </a:ext>
            </a:extLst>
          </p:cNvPr>
          <p:cNvSpPr/>
          <p:nvPr/>
        </p:nvSpPr>
        <p:spPr>
          <a:xfrm>
            <a:off x="10168017" y="1656619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Approval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Handling</a:t>
            </a:r>
            <a:endParaRPr lang="en-US" sz="1200" dirty="0"/>
          </a:p>
        </p:txBody>
      </p:sp>
      <p:sp>
        <p:nvSpPr>
          <p:cNvPr id="67" name="Text 45">
            <a:extLst>
              <a:ext uri="{FF2B5EF4-FFF2-40B4-BE49-F238E27FC236}">
                <a16:creationId xmlns:a16="http://schemas.microsoft.com/office/drawing/2014/main" id="{FCFC6550-3276-035A-4C1D-903B31415343}"/>
              </a:ext>
            </a:extLst>
          </p:cNvPr>
          <p:cNvSpPr/>
          <p:nvPr/>
        </p:nvSpPr>
        <p:spPr>
          <a:xfrm>
            <a:off x="10151393" y="2049192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核可處理</a:t>
            </a:r>
            <a:endParaRPr lang="en-US" sz="1200" dirty="0"/>
          </a:p>
        </p:txBody>
      </p:sp>
      <p:sp>
        <p:nvSpPr>
          <p:cNvPr id="69" name="Shape 47">
            <a:extLst>
              <a:ext uri="{FF2B5EF4-FFF2-40B4-BE49-F238E27FC236}">
                <a16:creationId xmlns:a16="http://schemas.microsoft.com/office/drawing/2014/main" id="{72DBF2BC-1639-961B-61BC-00BEBE8B7D24}"/>
              </a:ext>
            </a:extLst>
          </p:cNvPr>
          <p:cNvSpPr/>
          <p:nvPr/>
        </p:nvSpPr>
        <p:spPr>
          <a:xfrm>
            <a:off x="2861758" y="4238638"/>
            <a:ext cx="1751061" cy="2171700"/>
          </a:xfrm>
          <a:prstGeom prst="roundRect">
            <a:avLst>
              <a:gd name="adj" fmla="val 19048"/>
            </a:avLst>
          </a:prstGeom>
          <a:solidFill>
            <a:srgbClr val="0E1B24"/>
          </a:solidFill>
          <a:ln w="13970">
            <a:solidFill>
              <a:srgbClr val="0E1B24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73" name="Shape 51">
            <a:extLst>
              <a:ext uri="{FF2B5EF4-FFF2-40B4-BE49-F238E27FC236}">
                <a16:creationId xmlns:a16="http://schemas.microsoft.com/office/drawing/2014/main" id="{67DA3D33-ED90-DEC1-3451-7EFF96665E1E}"/>
              </a:ext>
            </a:extLst>
          </p:cNvPr>
          <p:cNvSpPr/>
          <p:nvPr/>
        </p:nvSpPr>
        <p:spPr>
          <a:xfrm>
            <a:off x="4492726" y="2650532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74" name="Shape 52">
            <a:extLst>
              <a:ext uri="{FF2B5EF4-FFF2-40B4-BE49-F238E27FC236}">
                <a16:creationId xmlns:a16="http://schemas.microsoft.com/office/drawing/2014/main" id="{67539AD7-08EE-D767-04BC-53594644577A}"/>
              </a:ext>
            </a:extLst>
          </p:cNvPr>
          <p:cNvSpPr/>
          <p:nvPr/>
        </p:nvSpPr>
        <p:spPr>
          <a:xfrm>
            <a:off x="6284277" y="2617113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027BBE2A-3B0D-49CD-8911-6D12D79AEF1D}"/>
              </a:ext>
            </a:extLst>
          </p:cNvPr>
          <p:cNvSpPr txBox="1"/>
          <p:nvPr/>
        </p:nvSpPr>
        <p:spPr>
          <a:xfrm>
            <a:off x="2978735" y="4316362"/>
            <a:ext cx="155042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1400" dirty="0">
                <a:solidFill>
                  <a:schemeClr val="bg1"/>
                </a:solidFill>
              </a:rPr>
              <a:t>  </a:t>
            </a:r>
            <a:r>
              <a:rPr kumimoji="1" lang="zh-TW" altLang="en-US" sz="1400" dirty="0">
                <a:solidFill>
                  <a:schemeClr val="bg1"/>
                </a:solidFill>
              </a:rPr>
              <a:t>執行紀錄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algn="ctr"/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計畫步驟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工具呼叫紀錄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en-US" altLang="zh-TW" sz="1400" dirty="0">
                <a:solidFill>
                  <a:schemeClr val="bg1"/>
                </a:solidFill>
              </a:rPr>
              <a:t>API</a:t>
            </a:r>
            <a:r>
              <a:rPr kumimoji="1" lang="zh-TW" altLang="en-US" sz="1400" dirty="0">
                <a:solidFill>
                  <a:schemeClr val="bg1"/>
                </a:solidFill>
              </a:rPr>
              <a:t>回應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核可紀錄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資料庫狀態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檔案產出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錯誤事件紀錄</a:t>
            </a:r>
            <a:endParaRPr kumimoji="1" lang="en-US" altLang="zh-TW" sz="1400" dirty="0">
              <a:solidFill>
                <a:schemeClr val="bg1"/>
              </a:solidFill>
            </a:endParaRPr>
          </a:p>
        </p:txBody>
      </p:sp>
      <p:cxnSp>
        <p:nvCxnSpPr>
          <p:cNvPr id="88" name="肘形接點 87">
            <a:extLst>
              <a:ext uri="{FF2B5EF4-FFF2-40B4-BE49-F238E27FC236}">
                <a16:creationId xmlns:a16="http://schemas.microsoft.com/office/drawing/2014/main" id="{7CAE832F-FEB6-2611-0765-9824B7867748}"/>
              </a:ext>
            </a:extLst>
          </p:cNvPr>
          <p:cNvCxnSpPr>
            <a:cxnSpLocks/>
            <a:stCxn id="65" idx="3"/>
            <a:endCxn id="69" idx="0"/>
          </p:cNvCxnSpPr>
          <p:nvPr/>
        </p:nvCxnSpPr>
        <p:spPr>
          <a:xfrm flipH="1">
            <a:off x="3737289" y="2617646"/>
            <a:ext cx="7869599" cy="1620992"/>
          </a:xfrm>
          <a:prstGeom prst="bentConnector4">
            <a:avLst>
              <a:gd name="adj1" fmla="val -2905"/>
              <a:gd name="adj2" fmla="val 77775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Shape 31">
            <a:extLst>
              <a:ext uri="{FF2B5EF4-FFF2-40B4-BE49-F238E27FC236}">
                <a16:creationId xmlns:a16="http://schemas.microsoft.com/office/drawing/2014/main" id="{5DDCDD84-EF81-9D46-BAC3-48F84B121188}"/>
              </a:ext>
            </a:extLst>
          </p:cNvPr>
          <p:cNvSpPr/>
          <p:nvPr/>
        </p:nvSpPr>
        <p:spPr>
          <a:xfrm>
            <a:off x="4825294" y="4514960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EAF4F8"/>
          </a:solidFill>
          <a:ln w="13970">
            <a:solidFill>
              <a:srgbClr val="2C7899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14" name="Shape 34">
            <a:extLst>
              <a:ext uri="{FF2B5EF4-FFF2-40B4-BE49-F238E27FC236}">
                <a16:creationId xmlns:a16="http://schemas.microsoft.com/office/drawing/2014/main" id="{DF6E06AB-972F-E195-9972-212D9689AE4F}"/>
              </a:ext>
            </a:extLst>
          </p:cNvPr>
          <p:cNvSpPr/>
          <p:nvPr/>
        </p:nvSpPr>
        <p:spPr>
          <a:xfrm>
            <a:off x="6594331" y="4550418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0EBF8"/>
          </a:solidFill>
          <a:ln w="13970">
            <a:solidFill>
              <a:srgbClr val="7E68B0"/>
            </a:solidFill>
            <a:prstDash val="solid"/>
          </a:ln>
        </p:spPr>
      </p:sp>
      <p:sp>
        <p:nvSpPr>
          <p:cNvPr id="117" name="Shape 37">
            <a:extLst>
              <a:ext uri="{FF2B5EF4-FFF2-40B4-BE49-F238E27FC236}">
                <a16:creationId xmlns:a16="http://schemas.microsoft.com/office/drawing/2014/main" id="{1B9536AC-6C6C-7A77-CE67-BBA72A9EBF18}"/>
              </a:ext>
            </a:extLst>
          </p:cNvPr>
          <p:cNvSpPr/>
          <p:nvPr/>
        </p:nvSpPr>
        <p:spPr>
          <a:xfrm>
            <a:off x="8394619" y="4551863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F1DE"/>
          </a:solidFill>
          <a:ln w="13970">
            <a:solidFill>
              <a:srgbClr val="C6A142"/>
            </a:solidFill>
            <a:prstDash val="solid"/>
          </a:ln>
        </p:spPr>
      </p:sp>
      <p:sp>
        <p:nvSpPr>
          <p:cNvPr id="120" name="Shape 40">
            <a:extLst>
              <a:ext uri="{FF2B5EF4-FFF2-40B4-BE49-F238E27FC236}">
                <a16:creationId xmlns:a16="http://schemas.microsoft.com/office/drawing/2014/main" id="{B230CB26-6CBC-CF49-3827-907D0FE3DEBF}"/>
              </a:ext>
            </a:extLst>
          </p:cNvPr>
          <p:cNvSpPr/>
          <p:nvPr/>
        </p:nvSpPr>
        <p:spPr>
          <a:xfrm>
            <a:off x="10207505" y="4568048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EAEA"/>
          </a:solidFill>
          <a:ln w="13970">
            <a:solidFill>
              <a:srgbClr val="B66C69"/>
            </a:solidFill>
            <a:prstDash val="solid"/>
          </a:ln>
        </p:spPr>
      </p:sp>
      <p:sp>
        <p:nvSpPr>
          <p:cNvPr id="76" name="Text 54">
            <a:extLst>
              <a:ext uri="{FF2B5EF4-FFF2-40B4-BE49-F238E27FC236}">
                <a16:creationId xmlns:a16="http://schemas.microsoft.com/office/drawing/2014/main" id="{C5D275A2-78CD-7CA5-321C-96D6B2A21F18}"/>
              </a:ext>
            </a:extLst>
          </p:cNvPr>
          <p:cNvSpPr/>
          <p:nvPr/>
        </p:nvSpPr>
        <p:spPr>
          <a:xfrm>
            <a:off x="4937930" y="4465362"/>
            <a:ext cx="1314176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Result Collector</a:t>
            </a:r>
            <a:endParaRPr lang="en-US" sz="1200" dirty="0"/>
          </a:p>
        </p:txBody>
      </p:sp>
      <p:sp>
        <p:nvSpPr>
          <p:cNvPr id="77" name="Text 55">
            <a:extLst>
              <a:ext uri="{FF2B5EF4-FFF2-40B4-BE49-F238E27FC236}">
                <a16:creationId xmlns:a16="http://schemas.microsoft.com/office/drawing/2014/main" id="{9FFD5C6C-5F01-4DBE-A59A-CEA98FAEBF60}"/>
              </a:ext>
            </a:extLst>
          </p:cNvPr>
          <p:cNvSpPr/>
          <p:nvPr/>
        </p:nvSpPr>
        <p:spPr>
          <a:xfrm>
            <a:off x="5019508" y="4884210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搜集結果</a:t>
            </a:r>
            <a:endParaRPr lang="en-US" sz="1200" dirty="0"/>
          </a:p>
        </p:txBody>
      </p:sp>
      <p:sp>
        <p:nvSpPr>
          <p:cNvPr id="79" name="Text 57">
            <a:extLst>
              <a:ext uri="{FF2B5EF4-FFF2-40B4-BE49-F238E27FC236}">
                <a16:creationId xmlns:a16="http://schemas.microsoft.com/office/drawing/2014/main" id="{BF166DDD-8D0D-2B52-3798-06764759D164}"/>
              </a:ext>
            </a:extLst>
          </p:cNvPr>
          <p:cNvSpPr/>
          <p:nvPr/>
        </p:nvSpPr>
        <p:spPr>
          <a:xfrm>
            <a:off x="6702930" y="4576897"/>
            <a:ext cx="1337281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Deterministic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Verifier</a:t>
            </a:r>
            <a:endParaRPr lang="en-US" sz="1200" dirty="0"/>
          </a:p>
        </p:txBody>
      </p:sp>
      <p:sp>
        <p:nvSpPr>
          <p:cNvPr id="80" name="Text 58">
            <a:extLst>
              <a:ext uri="{FF2B5EF4-FFF2-40B4-BE49-F238E27FC236}">
                <a16:creationId xmlns:a16="http://schemas.microsoft.com/office/drawing/2014/main" id="{50776557-5FE5-0627-0D53-8FAB3F104476}"/>
              </a:ext>
            </a:extLst>
          </p:cNvPr>
          <p:cNvSpPr/>
          <p:nvPr/>
        </p:nvSpPr>
        <p:spPr>
          <a:xfrm>
            <a:off x="6834919" y="5006295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固定規則驗證</a:t>
            </a:r>
            <a:endParaRPr lang="en-US" sz="1200" dirty="0"/>
          </a:p>
        </p:txBody>
      </p:sp>
      <p:sp>
        <p:nvSpPr>
          <p:cNvPr id="82" name="Text 60">
            <a:extLst>
              <a:ext uri="{FF2B5EF4-FFF2-40B4-BE49-F238E27FC236}">
                <a16:creationId xmlns:a16="http://schemas.microsoft.com/office/drawing/2014/main" id="{421EF667-A0A6-641D-C74C-295459AC4CE4}"/>
              </a:ext>
            </a:extLst>
          </p:cNvPr>
          <p:cNvSpPr/>
          <p:nvPr/>
        </p:nvSpPr>
        <p:spPr>
          <a:xfrm>
            <a:off x="8623135" y="4482714"/>
            <a:ext cx="1097163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8. Scoring</a:t>
            </a:r>
            <a:endParaRPr lang="en-US" sz="1200" dirty="0"/>
          </a:p>
        </p:txBody>
      </p:sp>
      <p:sp>
        <p:nvSpPr>
          <p:cNvPr id="83" name="Text 61">
            <a:extLst>
              <a:ext uri="{FF2B5EF4-FFF2-40B4-BE49-F238E27FC236}">
                <a16:creationId xmlns:a16="http://schemas.microsoft.com/office/drawing/2014/main" id="{76075ECE-05E6-F666-B7F6-2957A37F1350}"/>
              </a:ext>
            </a:extLst>
          </p:cNvPr>
          <p:cNvSpPr/>
          <p:nvPr/>
        </p:nvSpPr>
        <p:spPr>
          <a:xfrm>
            <a:off x="8621858" y="4886693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評分</a:t>
            </a:r>
            <a:endParaRPr lang="en-US" sz="1200" dirty="0"/>
          </a:p>
        </p:txBody>
      </p:sp>
      <p:sp>
        <p:nvSpPr>
          <p:cNvPr id="85" name="Text 63">
            <a:extLst>
              <a:ext uri="{FF2B5EF4-FFF2-40B4-BE49-F238E27FC236}">
                <a16:creationId xmlns:a16="http://schemas.microsoft.com/office/drawing/2014/main" id="{E99B848E-D76B-D0D5-0DC1-2C44E1592486}"/>
              </a:ext>
            </a:extLst>
          </p:cNvPr>
          <p:cNvSpPr/>
          <p:nvPr/>
        </p:nvSpPr>
        <p:spPr>
          <a:xfrm>
            <a:off x="10424700" y="4482714"/>
            <a:ext cx="1097163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9. Report</a:t>
            </a:r>
            <a:endParaRPr lang="en-US" sz="1200" dirty="0"/>
          </a:p>
        </p:txBody>
      </p:sp>
      <p:sp>
        <p:nvSpPr>
          <p:cNvPr id="86" name="Text 64">
            <a:extLst>
              <a:ext uri="{FF2B5EF4-FFF2-40B4-BE49-F238E27FC236}">
                <a16:creationId xmlns:a16="http://schemas.microsoft.com/office/drawing/2014/main" id="{291CFBAE-5944-9C7A-E1E9-B480AEC0C976}"/>
              </a:ext>
            </a:extLst>
          </p:cNvPr>
          <p:cNvSpPr/>
          <p:nvPr/>
        </p:nvSpPr>
        <p:spPr>
          <a:xfrm>
            <a:off x="10423423" y="4886693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評測報告</a:t>
            </a:r>
            <a:endParaRPr lang="en-US" sz="1200" dirty="0"/>
          </a:p>
        </p:txBody>
      </p:sp>
      <p:sp>
        <p:nvSpPr>
          <p:cNvPr id="131" name="Shape 51">
            <a:extLst>
              <a:ext uri="{FF2B5EF4-FFF2-40B4-BE49-F238E27FC236}">
                <a16:creationId xmlns:a16="http://schemas.microsoft.com/office/drawing/2014/main" id="{918B159C-84D4-7CF5-32CA-2284F46EFA34}"/>
              </a:ext>
            </a:extLst>
          </p:cNvPr>
          <p:cNvSpPr/>
          <p:nvPr/>
        </p:nvSpPr>
        <p:spPr>
          <a:xfrm>
            <a:off x="8073742" y="2598100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2" name="Shape 52">
            <a:extLst>
              <a:ext uri="{FF2B5EF4-FFF2-40B4-BE49-F238E27FC236}">
                <a16:creationId xmlns:a16="http://schemas.microsoft.com/office/drawing/2014/main" id="{D983984A-057B-3DF8-692D-D9E305F72F5E}"/>
              </a:ext>
            </a:extLst>
          </p:cNvPr>
          <p:cNvSpPr/>
          <p:nvPr/>
        </p:nvSpPr>
        <p:spPr>
          <a:xfrm>
            <a:off x="9865293" y="2564681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5" name="Shape 51">
            <a:extLst>
              <a:ext uri="{FF2B5EF4-FFF2-40B4-BE49-F238E27FC236}">
                <a16:creationId xmlns:a16="http://schemas.microsoft.com/office/drawing/2014/main" id="{CC824AB1-2005-E5E0-E115-2178C7FB14F8}"/>
              </a:ext>
            </a:extLst>
          </p:cNvPr>
          <p:cNvSpPr/>
          <p:nvPr/>
        </p:nvSpPr>
        <p:spPr>
          <a:xfrm>
            <a:off x="6388803" y="5524474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6" name="Shape 52">
            <a:extLst>
              <a:ext uri="{FF2B5EF4-FFF2-40B4-BE49-F238E27FC236}">
                <a16:creationId xmlns:a16="http://schemas.microsoft.com/office/drawing/2014/main" id="{F91413A7-A19E-7D44-BB08-0E269A135C4C}"/>
              </a:ext>
            </a:extLst>
          </p:cNvPr>
          <p:cNvSpPr/>
          <p:nvPr/>
        </p:nvSpPr>
        <p:spPr>
          <a:xfrm>
            <a:off x="8180354" y="5491055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7" name="Shape 52">
            <a:extLst>
              <a:ext uri="{FF2B5EF4-FFF2-40B4-BE49-F238E27FC236}">
                <a16:creationId xmlns:a16="http://schemas.microsoft.com/office/drawing/2014/main" id="{B5853BE9-BC68-A236-F7B4-905479183E95}"/>
              </a:ext>
            </a:extLst>
          </p:cNvPr>
          <p:cNvSpPr/>
          <p:nvPr/>
        </p:nvSpPr>
        <p:spPr>
          <a:xfrm>
            <a:off x="10020391" y="5468520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8" name="Shape 52">
            <a:extLst>
              <a:ext uri="{FF2B5EF4-FFF2-40B4-BE49-F238E27FC236}">
                <a16:creationId xmlns:a16="http://schemas.microsoft.com/office/drawing/2014/main" id="{06C022DD-6446-88D4-182E-A4C5C6BFEF91}"/>
              </a:ext>
            </a:extLst>
          </p:cNvPr>
          <p:cNvSpPr/>
          <p:nvPr/>
        </p:nvSpPr>
        <p:spPr>
          <a:xfrm>
            <a:off x="4638180" y="5462586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pic>
        <p:nvPicPr>
          <p:cNvPr id="139" name="圖片 138">
            <a:extLst>
              <a:ext uri="{FF2B5EF4-FFF2-40B4-BE49-F238E27FC236}">
                <a16:creationId xmlns:a16="http://schemas.microsoft.com/office/drawing/2014/main" id="{9608DF74-4BBC-3DF6-1E98-C8D6CB5B4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914" y="4355714"/>
            <a:ext cx="292100" cy="254000"/>
          </a:xfrm>
          <a:prstGeom prst="rect">
            <a:avLst/>
          </a:prstGeom>
        </p:spPr>
      </p:pic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DC95499B-13A6-A959-80C3-65BD6682DD26}"/>
              </a:ext>
            </a:extLst>
          </p:cNvPr>
          <p:cNvSpPr txBox="1"/>
          <p:nvPr/>
        </p:nvSpPr>
        <p:spPr>
          <a:xfrm>
            <a:off x="3095475" y="2333927"/>
            <a:ext cx="11480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輸入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目標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初始狀態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預期結果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權限設定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核可設定</a:t>
            </a:r>
            <a:endParaRPr kumimoji="1" lang="en-US" altLang="zh-TW" sz="1200" dirty="0"/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C33D91EE-0569-DA3A-FAEE-D7D30378F0ED}"/>
              </a:ext>
            </a:extLst>
          </p:cNvPr>
          <p:cNvSpPr txBox="1"/>
          <p:nvPr/>
        </p:nvSpPr>
        <p:spPr>
          <a:xfrm>
            <a:off x="4854689" y="2349923"/>
            <a:ext cx="1396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使用者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權限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資料夾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檔案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檔案內容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既有技能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其他環境資料</a:t>
            </a:r>
            <a:endParaRPr kumimoji="1" lang="en-US" altLang="zh-TW" sz="1200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021DF371-EC10-03E8-1148-1B39DE99C331}"/>
              </a:ext>
            </a:extLst>
          </p:cNvPr>
          <p:cNvSpPr txBox="1"/>
          <p:nvPr/>
        </p:nvSpPr>
        <p:spPr>
          <a:xfrm>
            <a:off x="6653937" y="2392479"/>
            <a:ext cx="10887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發送請求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處理回應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紀錄步驟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控制流程</a:t>
            </a:r>
            <a:endParaRPr kumimoji="1" lang="en-US" altLang="zh-TW" sz="1200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8C1BB862-99F7-2DD6-3D81-548BC5678C7A}"/>
              </a:ext>
            </a:extLst>
          </p:cNvPr>
          <p:cNvSpPr txBox="1"/>
          <p:nvPr/>
        </p:nvSpPr>
        <p:spPr>
          <a:xfrm>
            <a:off x="8464381" y="2346109"/>
            <a:ext cx="13019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連接模型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計畫步驟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工具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技能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2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資料庫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存檔</a:t>
            </a:r>
            <a:endParaRPr kumimoji="1" lang="en-US" altLang="zh-TW" sz="1200" dirty="0"/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3EEC570F-3230-894B-AED3-C4870FAFCC1E}"/>
              </a:ext>
            </a:extLst>
          </p:cNvPr>
          <p:cNvSpPr txBox="1"/>
          <p:nvPr/>
        </p:nvSpPr>
        <p:spPr>
          <a:xfrm>
            <a:off x="10237168" y="2330501"/>
            <a:ext cx="13965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核可與否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接受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拒絕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驗證核可流程</a:t>
            </a:r>
            <a:endParaRPr kumimoji="1" lang="en-US" altLang="zh-TW" sz="1200" dirty="0"/>
          </a:p>
          <a:p>
            <a:endParaRPr kumimoji="1" lang="en-US" altLang="zh-TW" sz="1200" dirty="0"/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C20F4074-8A3B-433A-34D6-3B2732EC7280}"/>
              </a:ext>
            </a:extLst>
          </p:cNvPr>
          <p:cNvSpPr txBox="1"/>
          <p:nvPr/>
        </p:nvSpPr>
        <p:spPr>
          <a:xfrm>
            <a:off x="5016481" y="5214568"/>
            <a:ext cx="1088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搜集紀錄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整理資料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關聯資訊</a:t>
            </a:r>
            <a:endParaRPr kumimoji="1" lang="en-US" altLang="zh-TW" sz="1200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54621D0-5EB9-966A-F0C9-8C539A1FBD1E}"/>
              </a:ext>
            </a:extLst>
          </p:cNvPr>
          <p:cNvSpPr txBox="1"/>
          <p:nvPr/>
        </p:nvSpPr>
        <p:spPr>
          <a:xfrm>
            <a:off x="6790473" y="5044149"/>
            <a:ext cx="1242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資料真實性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計劃正確性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執行安全性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結果正確性</a:t>
            </a:r>
            <a:endParaRPr kumimoji="1" lang="en-US" altLang="zh-TW" sz="1200" dirty="0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B3F97DB6-E2FA-8DC1-1609-7D92E41DB176}"/>
              </a:ext>
            </a:extLst>
          </p:cNvPr>
          <p:cNvSpPr txBox="1"/>
          <p:nvPr/>
        </p:nvSpPr>
        <p:spPr>
          <a:xfrm>
            <a:off x="8536994" y="5252586"/>
            <a:ext cx="13965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各項驗證結果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計算分數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成功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失敗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錯誤類型</a:t>
            </a:r>
            <a:endParaRPr kumimoji="1" lang="en-US" altLang="zh-TW" sz="1200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B1CBEFB6-D779-DB60-489E-AC5D811D2C6C}"/>
              </a:ext>
            </a:extLst>
          </p:cNvPr>
          <p:cNvSpPr txBox="1"/>
          <p:nvPr/>
        </p:nvSpPr>
        <p:spPr>
          <a:xfrm>
            <a:off x="10327664" y="5200256"/>
            <a:ext cx="1242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整體成功率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分類指標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案例分析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趨勢比較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改善建議</a:t>
            </a:r>
            <a:endParaRPr kumimoji="1" lang="en-US" altLang="zh-TW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EC1–EC4：四個獨立案例集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1280160"/>
            <a:ext cx="5248656" cy="1005841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68096" y="1499616"/>
            <a:ext cx="585216" cy="585216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7904" y="1444752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8F"/>
                </a:solidFill>
                <a:latin typeface="Georgia"/>
              </a:rPr>
              <a:t>EC1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44752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F6F8F"/>
                </a:solidFill>
                <a:latin typeface="Georgia"/>
              </a:rPr>
              <a:t>100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7904" y="1828800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12A"/>
                </a:solidFill>
                <a:latin typeface="PingFang TC"/>
              </a:rPr>
              <a:t>唯讀多工具查詢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12534" y="1792224"/>
            <a:ext cx="1528730" cy="237744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EA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 err="1">
                <a:solidFill>
                  <a:srgbClr val="5E8F72"/>
                </a:solidFill>
                <a:latin typeface="PingFang TC"/>
              </a:rPr>
              <a:t>自動執行</a:t>
            </a:r>
            <a:endParaRPr sz="1150" b="1" dirty="0">
              <a:solidFill>
                <a:srgbClr val="5E8F72"/>
              </a:solidFill>
              <a:latin typeface="PingFang TC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89904" y="1280160"/>
            <a:ext cx="5248656" cy="1005841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91072" y="1499616"/>
            <a:ext cx="585216" cy="585216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444752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E6DA8"/>
                </a:solidFill>
                <a:latin typeface="Georgia"/>
              </a:rPr>
              <a:t>EC2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30384" y="1444752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E6DA8"/>
                </a:solidFill>
                <a:latin typeface="Georgia"/>
              </a:rPr>
              <a:t>120 cases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12A"/>
                </a:solidFill>
                <a:latin typeface="PingFang TC"/>
              </a:rPr>
              <a:t>查詢作為脈絡＋寫入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1935" y="1844986"/>
            <a:ext cx="1359408" cy="203271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 err="1">
                <a:solidFill>
                  <a:srgbClr val="7E6DA8"/>
                </a:solidFill>
                <a:latin typeface="PingFang TC"/>
              </a:rPr>
              <a:t>需使用者確認</a:t>
            </a:r>
            <a:endParaRPr sz="1150" b="1" dirty="0">
              <a:solidFill>
                <a:srgbClr val="7E6DA8"/>
              </a:solidFill>
              <a:latin typeface="PingFang TC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66928" y="2505457"/>
            <a:ext cx="5248656" cy="1005841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8096" y="2724913"/>
            <a:ext cx="585216" cy="585216"/>
          </a:xfrm>
          <a:prstGeom prst="ellipse">
            <a:avLst/>
          </a:prstGeom>
          <a:solidFill>
            <a:srgbClr val="C9A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17904" y="2670048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9A94E"/>
                </a:solidFill>
                <a:latin typeface="Georgia"/>
              </a:rPr>
              <a:t>EC3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8" y="2670048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A94E"/>
                </a:solidFill>
                <a:latin typeface="Georgia"/>
              </a:rPr>
              <a:t>100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7904" y="3054096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3212A"/>
                </a:solidFill>
                <a:latin typeface="PingFang TC"/>
              </a:rPr>
              <a:t>生成技能＋執行側驗證</a:t>
            </a:r>
            <a:endParaRPr sz="1600" b="1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154424" y="3081527"/>
            <a:ext cx="1244950" cy="201169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E6DA8"/>
                </a:solidFill>
                <a:latin typeface="PingFang TC"/>
              </a:rPr>
              <a:t>需使用者核可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9904" y="2505457"/>
            <a:ext cx="5248656" cy="1005841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291072" y="2724913"/>
            <a:ext cx="585216" cy="585216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670048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E8F72"/>
                </a:solidFill>
                <a:latin typeface="Georgia"/>
              </a:rPr>
              <a:t>EC4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2670048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E8F72"/>
                </a:solidFill>
                <a:latin typeface="Georgia"/>
              </a:rPr>
              <a:t>100 cases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054096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3212A"/>
                </a:solidFill>
                <a:latin typeface="PingFang TC"/>
              </a:rPr>
              <a:t>多步驟、跨步驟引用＋寫入</a:t>
            </a:r>
            <a:endParaRPr sz="1600" b="1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671935" y="3105806"/>
            <a:ext cx="1392305" cy="240898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 err="1">
                <a:solidFill>
                  <a:srgbClr val="7E6DA8"/>
                </a:solidFill>
                <a:latin typeface="PingFang TC"/>
              </a:rPr>
              <a:t>需使用者確認</a:t>
            </a:r>
            <a:endParaRPr sz="1150" b="1" dirty="0">
              <a:solidFill>
                <a:srgbClr val="7E6DA8"/>
              </a:solidFill>
              <a:latin typeface="PingFang TC"/>
            </a:endParaRP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F44B1E36-D1BC-3621-7CA5-D0F7CC96E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2" y="3950207"/>
            <a:ext cx="5386452" cy="2734660"/>
          </a:xfrm>
          <a:prstGeom prst="rect">
            <a:avLst/>
          </a:prstGeom>
        </p:spPr>
      </p:pic>
      <p:sp>
        <p:nvSpPr>
          <p:cNvPr id="39" name="Rectangle 24">
            <a:extLst>
              <a:ext uri="{FF2B5EF4-FFF2-40B4-BE49-F238E27FC236}">
                <a16:creationId xmlns:a16="http://schemas.microsoft.com/office/drawing/2014/main" id="{5C572E95-9D63-236C-E038-597A51A05010}"/>
              </a:ext>
            </a:extLst>
          </p:cNvPr>
          <p:cNvSpPr/>
          <p:nvPr/>
        </p:nvSpPr>
        <p:spPr>
          <a:xfrm>
            <a:off x="566928" y="3605050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13212A"/>
                </a:solidFill>
                <a:latin typeface="PingFang TC"/>
              </a:rPr>
              <a:t>Generator</a:t>
            </a:r>
            <a:r>
              <a:rPr lang="zh-TW" altLang="en-US" sz="1600" b="1" dirty="0">
                <a:solidFill>
                  <a:srgbClr val="13212A"/>
                </a:solidFill>
                <a:latin typeface="PingFang TC"/>
              </a:rPr>
              <a:t> 範例：</a:t>
            </a:r>
            <a:endParaRPr sz="1600" b="1" dirty="0">
              <a:solidFill>
                <a:srgbClr val="13212A"/>
              </a:solidFill>
              <a:latin typeface="PingFang TC"/>
            </a:endParaRPr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6E899CD9-F246-7BC0-9E58-4919FA726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107" y="3986783"/>
            <a:ext cx="5642987" cy="259689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Latest </a:t>
            </a:r>
            <a:r>
              <a:rPr lang="en-US" sz="3000" b="1" dirty="0">
                <a:solidFill>
                  <a:srgbClr val="13212A"/>
                </a:solidFill>
                <a:latin typeface="PingFang TC"/>
              </a:rPr>
              <a:t>Test</a:t>
            </a:r>
            <a:endParaRPr sz="3000" b="1" dirty="0">
              <a:solidFill>
                <a:srgbClr val="13212A"/>
              </a:solidFill>
              <a:latin typeface="PingFang TC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66928" y="1042415"/>
            <a:ext cx="105613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endParaRPr sz="16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7022592" cy="438912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20666" y="1590742"/>
            <a:ext cx="28346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3212A"/>
                </a:solidFill>
                <a:latin typeface="Georgia"/>
              </a:rPr>
              <a:t>EC1–EC4 pass 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54296" y="1609345"/>
            <a:ext cx="182880" cy="182880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92040" y="1581913"/>
            <a:ext cx="1078992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0"/>
                </a:solidFill>
                <a:latin typeface="Georgia"/>
              </a:rPr>
              <a:t>Case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25896" y="1609345"/>
            <a:ext cx="182880" cy="182880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81913"/>
            <a:ext cx="1078992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dirty="0">
                <a:solidFill>
                  <a:srgbClr val="5B6470"/>
                </a:solidFill>
                <a:latin typeface="Georgia"/>
              </a:rPr>
              <a:t>Run pass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78992" y="5340096"/>
            <a:ext cx="6144767" cy="0"/>
          </a:xfrm>
          <a:prstGeom prst="line">
            <a:avLst/>
          </a:prstGeom>
          <a:ln w="1016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9808" y="5221224"/>
            <a:ext cx="29260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470"/>
                </a:solidFill>
                <a:latin typeface="Georgia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3749039"/>
            <a:ext cx="6144767" cy="0"/>
          </a:xfrm>
          <a:prstGeom prst="line">
            <a:avLst/>
          </a:prstGeom>
          <a:ln w="1016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49808" y="3630168"/>
            <a:ext cx="29260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470"/>
                </a:solidFill>
                <a:latin typeface="Georgia"/>
              </a:rPr>
              <a:t>50%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78992" y="2157984"/>
            <a:ext cx="6144767" cy="0"/>
          </a:xfrm>
          <a:prstGeom prst="line">
            <a:avLst/>
          </a:prstGeom>
          <a:ln w="1016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49808" y="2039112"/>
            <a:ext cx="29260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470"/>
                </a:solidFill>
                <a:latin typeface="Georgia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81912" y="2348910"/>
            <a:ext cx="310896" cy="2991185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508760" y="207459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02536" y="2412552"/>
            <a:ext cx="310896" cy="2927543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929384" y="2138232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8F72"/>
                </a:solidFill>
                <a:latin typeface="Georgia"/>
              </a:rPr>
              <a:t>92%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99232" y="2476195"/>
            <a:ext cx="310896" cy="2863900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926080" y="2201875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90%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9856" y="2546838"/>
            <a:ext cx="310896" cy="2793257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46704" y="2272518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5E8F72"/>
                </a:solidFill>
                <a:latin typeface="Georgia"/>
              </a:rPr>
              <a:t>8</a:t>
            </a:r>
            <a:r>
              <a:rPr lang="en-US" sz="1050" b="1" dirty="0">
                <a:solidFill>
                  <a:srgbClr val="5E8F72"/>
                </a:solidFill>
                <a:latin typeface="Georgia"/>
              </a:rPr>
              <a:t>8</a:t>
            </a:r>
            <a:r>
              <a:rPr sz="1050" b="1" dirty="0">
                <a:solidFill>
                  <a:srgbClr val="5E8F72"/>
                </a:solidFill>
                <a:latin typeface="Georgia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6552" y="2571658"/>
            <a:ext cx="310896" cy="2768437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43400" y="2297338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87%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37176" y="2826227"/>
            <a:ext cx="310896" cy="2513868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64024" y="2551907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8F72"/>
                </a:solidFill>
                <a:latin typeface="Georgia"/>
              </a:rPr>
              <a:t>79%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2157984"/>
            <a:ext cx="310896" cy="3182112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760720" y="1883664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4496" y="2168484"/>
            <a:ext cx="310896" cy="3171611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81344" y="1894164"/>
            <a:ext cx="530352" cy="1906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5E8F72"/>
                </a:solidFill>
                <a:latin typeface="Georgia"/>
              </a:rPr>
              <a:t>99.</a:t>
            </a:r>
            <a:r>
              <a:rPr lang="en-US" sz="1050" b="1" dirty="0">
                <a:solidFill>
                  <a:srgbClr val="5E8F72"/>
                </a:solidFill>
                <a:latin typeface="Georgia"/>
              </a:rPr>
              <a:t>7</a:t>
            </a:r>
            <a:r>
              <a:rPr sz="1050" b="1" dirty="0">
                <a:solidFill>
                  <a:srgbClr val="5E8F72"/>
                </a:solidFill>
                <a:latin typeface="Georgia"/>
              </a:rPr>
              <a:t>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18704" y="1572768"/>
            <a:ext cx="3602736" cy="1005840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74736" y="1728216"/>
            <a:ext cx="1664208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5E8F72"/>
                </a:solidFill>
                <a:latin typeface="Georgia"/>
              </a:rPr>
              <a:t>389 / 420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02368" y="1700784"/>
            <a:ext cx="142646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212A"/>
                </a:solidFill>
                <a:latin typeface="Georgia"/>
              </a:rPr>
              <a:t>92.62%
Case threshold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18704" y="2724912"/>
            <a:ext cx="3602736" cy="1005840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74736" y="2880360"/>
            <a:ext cx="1664208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9A94E"/>
                </a:solidFill>
                <a:latin typeface="Georgia"/>
              </a:rPr>
              <a:t>1128 / 1260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02368" y="2852928"/>
            <a:ext cx="142646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13212A"/>
                </a:solidFill>
                <a:latin typeface="Georgia"/>
              </a:rPr>
              <a:t>89.52%
Run pass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18704" y="3877056"/>
            <a:ext cx="3602736" cy="1956816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156448" y="4023360"/>
            <a:ext cx="2487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Stability across 3 runs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38160" y="4443984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E8F72"/>
                </a:solidFill>
                <a:latin typeface="Georgia"/>
              </a:rPr>
              <a:t>3/3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50224" y="4462272"/>
            <a:ext cx="1920240" cy="164592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716768" y="4443984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E8F72"/>
                </a:solidFill>
                <a:latin typeface="Georgia"/>
              </a:rPr>
              <a:t>337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4736592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F6F8F"/>
                </a:solidFill>
                <a:latin typeface="Georgia"/>
              </a:rPr>
              <a:t>2/3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50224" y="4754880"/>
            <a:ext cx="296298" cy="16459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0716768" y="4736592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F6F8F"/>
                </a:solidFill>
                <a:latin typeface="Georgia"/>
              </a:rPr>
              <a:t>52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38160" y="5029200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A94E"/>
                </a:solidFill>
                <a:latin typeface="Georgia"/>
              </a:rPr>
              <a:t>1/3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047488"/>
            <a:ext cx="74074" cy="164592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716768" y="5029200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A94E"/>
                </a:solidFill>
                <a:latin typeface="Georgia"/>
              </a:rPr>
              <a:t>13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60" y="5321808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6A66"/>
                </a:solidFill>
                <a:latin typeface="Georgia"/>
              </a:rPr>
              <a:t>0/3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50224" y="5340096"/>
            <a:ext cx="102564" cy="164592"/>
          </a:xfrm>
          <a:prstGeom prst="rect">
            <a:avLst/>
          </a:prstGeom>
          <a:solidFill>
            <a:srgbClr val="B06A66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716768" y="5321808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6A66"/>
                </a:solidFill>
                <a:latin typeface="Georgia"/>
              </a:rPr>
              <a:t>18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" y="6053328"/>
            <a:ext cx="10954512" cy="438912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每個 </a:t>
            </a:r>
            <a:r>
              <a:rPr lang="en" altLang="zh-TW" sz="1400" b="1" dirty="0">
                <a:solidFill>
                  <a:srgbClr val="13212A"/>
                </a:solidFill>
                <a:latin typeface="PingFang TC"/>
              </a:rPr>
              <a:t>case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跑 </a:t>
            </a:r>
            <a:r>
              <a:rPr lang="en-US" altLang="zh-TW" sz="1400" b="1" dirty="0">
                <a:solidFill>
                  <a:srgbClr val="13212A"/>
                </a:solidFill>
                <a:latin typeface="PingFang TC"/>
              </a:rPr>
              <a:t>3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次，</a:t>
            </a:r>
            <a:r>
              <a:rPr lang="en" altLang="zh-TW" sz="1400" b="1" dirty="0">
                <a:solidFill>
                  <a:srgbClr val="13212A"/>
                </a:solidFill>
                <a:latin typeface="PingFang TC"/>
              </a:rPr>
              <a:t>case-level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以至少 </a:t>
            </a:r>
            <a:r>
              <a:rPr lang="en-US" altLang="zh-TW" sz="1400" b="1" dirty="0">
                <a:solidFill>
                  <a:srgbClr val="13212A"/>
                </a:solidFill>
                <a:latin typeface="PingFang TC"/>
              </a:rPr>
              <a:t>2/3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通過為門檻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Token &amp; Tool </a:t>
            </a:r>
            <a:r>
              <a:rPr lang="en-US" sz="3000" b="1" dirty="0">
                <a:solidFill>
                  <a:srgbClr val="13212A"/>
                </a:solidFill>
                <a:latin typeface="PingFang TC"/>
              </a:rPr>
              <a:t>Uses</a:t>
            </a:r>
            <a:endParaRPr sz="3000" b="1" dirty="0">
              <a:solidFill>
                <a:srgbClr val="13212A"/>
              </a:solidFill>
              <a:latin typeface="PingFang TC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79692" y="1344168"/>
            <a:ext cx="2523744" cy="804672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9420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8F"/>
                </a:solidFill>
                <a:latin typeface="Georgia"/>
              </a:rPr>
              <a:t>2,043,273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420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0" b="1" dirty="0">
                <a:solidFill>
                  <a:srgbClr val="13212A"/>
                </a:solidFill>
                <a:latin typeface="Georgia"/>
              </a:rPr>
              <a:t>Input tokens</a:t>
            </a:r>
            <a:r>
              <a:rPr sz="1150" b="1" dirty="0">
                <a:solidFill>
                  <a:srgbClr val="13212A"/>
                </a:solidFill>
                <a:latin typeface="Georgia"/>
              </a:rPr>
              <a:t>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2035" y="1344168"/>
            <a:ext cx="2523744" cy="804672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41763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E6DA8"/>
                </a:solidFill>
                <a:latin typeface="Georgia"/>
              </a:rPr>
              <a:t>355,719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1763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0" b="1" dirty="0">
                <a:solidFill>
                  <a:srgbClr val="13212A"/>
                </a:solidFill>
                <a:latin typeface="Georgia"/>
              </a:rPr>
              <a:t>Output tokens</a:t>
            </a:r>
            <a:r>
              <a:rPr sz="1150" b="1" dirty="0">
                <a:solidFill>
                  <a:srgbClr val="13212A"/>
                </a:solidFill>
                <a:latin typeface="Georgia"/>
              </a:rPr>
              <a:t> 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4379" y="1344168"/>
            <a:ext cx="2523744" cy="804672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4107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E8F72"/>
                </a:solidFill>
                <a:latin typeface="Georgia"/>
              </a:rPr>
              <a:t>2,398,992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4107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Total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6724" y="1344168"/>
            <a:ext cx="2523744" cy="804672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846452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9A94E"/>
                </a:solidFill>
                <a:latin typeface="Georgia"/>
              </a:rPr>
              <a:t>1,903.96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46452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Average</a:t>
            </a:r>
            <a:r>
              <a:rPr lang="en-US" sz="1150" b="1" dirty="0">
                <a:solidFill>
                  <a:srgbClr val="13212A"/>
                </a:solidFill>
                <a:latin typeface="Georgia"/>
              </a:rPr>
              <a:t> tokens</a:t>
            </a:r>
            <a:endParaRPr sz="1150" b="1" dirty="0">
              <a:solidFill>
                <a:srgbClr val="13212A"/>
              </a:solidFill>
              <a:latin typeface="Georgi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79692" y="2496312"/>
            <a:ext cx="6419088" cy="3526116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4596" y="2622565"/>
            <a:ext cx="28346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212A"/>
                </a:solidFill>
                <a:latin typeface="Georgia"/>
              </a:rPr>
              <a:t>Average tokens by EC tier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8732" y="2642616"/>
            <a:ext cx="164592" cy="16459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66476" y="2615184"/>
            <a:ext cx="84124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50" dirty="0">
                <a:solidFill>
                  <a:srgbClr val="5B6470"/>
                </a:solidFill>
                <a:latin typeface="Georgia"/>
              </a:rPr>
              <a:t>Input tokens</a:t>
            </a:r>
            <a:endParaRPr sz="1050" b="0" dirty="0">
              <a:solidFill>
                <a:srgbClr val="5B6470"/>
              </a:solidFill>
              <a:latin typeface="Georgia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307724" y="2642616"/>
            <a:ext cx="164592" cy="164592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45468" y="2615184"/>
            <a:ext cx="93268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50" dirty="0">
                <a:solidFill>
                  <a:srgbClr val="5B6470"/>
                </a:solidFill>
                <a:latin typeface="Georgia"/>
              </a:rPr>
              <a:t>Output tokens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316" y="3573117"/>
            <a:ext cx="566928" cy="1702970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0316" y="3395949"/>
            <a:ext cx="566928" cy="177167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5724" y="3139917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1987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724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08492" y="3503665"/>
            <a:ext cx="566928" cy="177242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308492" y="3301736"/>
            <a:ext cx="566928" cy="201929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143899" y="3045704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2087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3899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16668" y="4430965"/>
            <a:ext cx="566928" cy="84512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716668" y="3906711"/>
            <a:ext cx="566928" cy="524254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552076" y="3650679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1447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52076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4844" y="3506570"/>
            <a:ext cx="566928" cy="1769517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124844" y="3328371"/>
            <a:ext cx="566928" cy="178198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960252" y="3072339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2058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60252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54012" y="5276088"/>
            <a:ext cx="5797296" cy="0"/>
          </a:xfrm>
          <a:prstGeom prst="line">
            <a:avLst/>
          </a:prstGeom>
          <a:ln w="1143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118236" y="2496312"/>
            <a:ext cx="4224528" cy="3526116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612012" y="2615824"/>
            <a:ext cx="2359152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13212A"/>
                </a:solidFill>
                <a:latin typeface="Georgia"/>
              </a:rPr>
              <a:t>Average tool uses</a:t>
            </a:r>
            <a:endParaRPr sz="1400" b="1" dirty="0">
              <a:solidFill>
                <a:srgbClr val="13212A"/>
              </a:solidFill>
              <a:latin typeface="Georgia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7557148" y="3703685"/>
            <a:ext cx="420624" cy="1334658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447420" y="3465941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4.92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65708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98396" y="3776929"/>
            <a:ext cx="420624" cy="1261414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288668" y="3539185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4.65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06956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8204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80892" y="3915277"/>
            <a:ext cx="420624" cy="1123066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971164" y="3677533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4.14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89452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EC4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392555" y="5038344"/>
            <a:ext cx="3566161" cy="0"/>
          </a:xfrm>
          <a:prstGeom prst="line">
            <a:avLst/>
          </a:prstGeom>
          <a:ln w="1143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7355980" y="5539530"/>
            <a:ext cx="3749039" cy="274320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F7E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B06A66"/>
                </a:solidFill>
                <a:latin typeface="Georgia"/>
              </a:rPr>
              <a:t>EC3 </a:t>
            </a:r>
            <a:r>
              <a:rPr lang="en-US" sz="1050" b="1" dirty="0" err="1">
                <a:solidFill>
                  <a:srgbClr val="B06A66"/>
                </a:solidFill>
                <a:latin typeface="Georgia"/>
              </a:rPr>
              <a:t>為生成技能測試</a:t>
            </a:r>
            <a:endParaRPr sz="1050" b="1" dirty="0">
              <a:solidFill>
                <a:srgbClr val="B06A6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Defects Found + Limits / Future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" y="1170433"/>
            <a:ext cx="10881360" cy="2468879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316737"/>
            <a:ext cx="19202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3212A"/>
                </a:solidFill>
                <a:latin typeface="Georgia"/>
              </a:rPr>
              <a:t>Evaluation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" y="1898032"/>
            <a:ext cx="2523744" cy="1128631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24712" y="1989472"/>
            <a:ext cx="2121408" cy="30567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B06A66"/>
                </a:solidFill>
                <a:latin typeface="Georgia"/>
              </a:rPr>
              <a:t>Old cases could pass with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408683"/>
            <a:ext cx="2267712" cy="44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dirty="0" err="1">
                <a:solidFill>
                  <a:srgbClr val="13212A"/>
                </a:solidFill>
                <a:latin typeface="PingFang TC"/>
              </a:rPr>
              <a:t>空帳號</a:t>
            </a:r>
            <a:r>
              <a:rPr sz="1400" b="1" dirty="0">
                <a:solidFill>
                  <a:srgbClr val="13212A"/>
                </a:solidFill>
                <a:latin typeface="PingFang TC"/>
              </a:rPr>
              <a:t> · </a:t>
            </a:r>
            <a:r>
              <a:rPr sz="1400" b="1" dirty="0" err="1">
                <a:solidFill>
                  <a:srgbClr val="13212A"/>
                </a:solidFill>
                <a:latin typeface="PingFang TC"/>
              </a:rPr>
              <a:t>假</a:t>
            </a:r>
            <a:r>
              <a:rPr sz="1400" b="1" dirty="0">
                <a:solidFill>
                  <a:srgbClr val="13212A"/>
                </a:solidFill>
                <a:latin typeface="PingFang TC"/>
              </a:rPr>
              <a:t> ID · </a:t>
            </a:r>
            <a:r>
              <a:rPr sz="1400" b="1" dirty="0" err="1">
                <a:solidFill>
                  <a:srgbClr val="13212A"/>
                </a:solidFill>
                <a:latin typeface="PingFang TC"/>
              </a:rPr>
              <a:t>未真正執行</a:t>
            </a:r>
            <a:br>
              <a:rPr lang="en-US" sz="1400" b="1" dirty="0">
                <a:solidFill>
                  <a:srgbClr val="13212A"/>
                </a:solidFill>
                <a:latin typeface="PingFang TC"/>
              </a:rPr>
            </a:br>
            <a:r>
              <a:rPr lang="en-US" sz="1400" b="1" dirty="0" err="1">
                <a:solidFill>
                  <a:srgbClr val="13212A"/>
                </a:solidFill>
                <a:latin typeface="PingFang TC"/>
              </a:rPr>
              <a:t>僅檢查流程正確與否</a:t>
            </a:r>
            <a:endParaRPr sz="1400" b="1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3573937" y="2356979"/>
            <a:ext cx="475488" cy="256032"/>
          </a:xfrm>
          <a:prstGeom prst="chevron">
            <a:avLst/>
          </a:prstGeom>
          <a:solidFill>
            <a:srgbClr val="C9A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20896" y="1517904"/>
            <a:ext cx="7126224" cy="1979676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91912" y="1531412"/>
            <a:ext cx="451713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5E8F72"/>
                </a:solidFill>
                <a:latin typeface="Georgia"/>
              </a:rPr>
              <a:t>New deterministic checks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0683" y="1860596"/>
            <a:ext cx="1547859" cy="158737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58368" y="3840480"/>
            <a:ext cx="5266944" cy="2359152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23360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B06A66"/>
                </a:solidFill>
                <a:latin typeface="Georgia"/>
              </a:rPr>
              <a:t>Current limits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4407408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lang="zh-TW" altLang="en-US" sz="1320" b="0" dirty="0">
                <a:solidFill>
                  <a:srgbClr val="13212A"/>
                </a:solidFill>
                <a:latin typeface="PingFang TC"/>
              </a:rPr>
              <a:t>未真實對生成技能執行效果做測試</a:t>
            </a:r>
            <a:endParaRPr sz="1320" b="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32688" y="4736592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zh-TW" altLang="en-US" sz="1320" b="0" dirty="0">
                <a:solidFill>
                  <a:srgbClr val="13212A"/>
                </a:solidFill>
                <a:latin typeface="PingFang TC"/>
              </a:rPr>
              <a:t>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測試案例無紀錄 </a:t>
            </a:r>
            <a:r>
              <a:rPr lang="en" altLang="zh-TW" sz="1320" dirty="0">
                <a:solidFill>
                  <a:srgbClr val="13212A"/>
                </a:solidFill>
                <a:latin typeface="PingFang TC"/>
              </a:rPr>
              <a:t>latency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資料</a:t>
            </a:r>
            <a:endParaRPr sz="132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32688" y="5065776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en" sz="1320" b="0" dirty="0">
                <a:solidFill>
                  <a:srgbClr val="13212A"/>
                </a:solidFill>
                <a:latin typeface="PingFang TC"/>
              </a:rPr>
              <a:t>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記憶與長對話追蹤能力有限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5394960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en" sz="1320" b="0" dirty="0">
                <a:solidFill>
                  <a:srgbClr val="13212A"/>
                </a:solidFill>
                <a:latin typeface="PingFang TC"/>
              </a:rPr>
              <a:t>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執行流程以串行為主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5724144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lang="en-US" sz="1320" dirty="0">
                <a:solidFill>
                  <a:srgbClr val="13212A"/>
                </a:solidFill>
                <a:latin typeface="PingFang TC"/>
              </a:rPr>
              <a:t>LLM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生成計畫缺乏動態調整能力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1344" y="3840480"/>
            <a:ext cx="5358384" cy="2359152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37376" y="4023360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8F72"/>
                </a:solidFill>
                <a:latin typeface="Georgia"/>
              </a:rPr>
              <a:t>Future 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73952" y="4416552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24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zh-TW" altLang="en-US" sz="1240" b="0" dirty="0">
                <a:solidFill>
                  <a:srgbClr val="13212A"/>
                </a:solidFill>
                <a:latin typeface="PingFang TC"/>
              </a:rPr>
              <a:t> 測試案例更多元化</a:t>
            </a:r>
            <a:endParaRPr sz="124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473952" y="4745736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sz="1240" b="0" dirty="0" err="1">
                <a:solidFill>
                  <a:srgbClr val="13212A"/>
                </a:solidFill>
                <a:latin typeface="PingFang TC"/>
              </a:rPr>
              <a:t>擴充</a:t>
            </a:r>
            <a:r>
              <a:rPr lang="zh-TW" altLang="en-US" sz="1240" dirty="0">
                <a:solidFill>
                  <a:srgbClr val="13212A"/>
                </a:solidFill>
                <a:latin typeface="PingFang TC"/>
              </a:rPr>
              <a:t> </a:t>
            </a:r>
            <a:r>
              <a:rPr sz="1240" b="0" dirty="0">
                <a:solidFill>
                  <a:srgbClr val="13212A"/>
                </a:solidFill>
                <a:latin typeface="PingFang TC"/>
              </a:rPr>
              <a:t>Playwright E2E</a:t>
            </a:r>
            <a:r>
              <a:rPr lang="zh-TW" altLang="en-US" sz="1240" b="0" dirty="0">
                <a:solidFill>
                  <a:srgbClr val="13212A"/>
                </a:solidFill>
                <a:latin typeface="PingFang TC"/>
              </a:rPr>
              <a:t>測試</a:t>
            </a:r>
            <a:endParaRPr sz="1240" b="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455664" y="5074920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lang="zh-TW" altLang="en-US" sz="1300" dirty="0">
                <a:solidFill>
                  <a:srgbClr val="13212A"/>
                </a:solidFill>
                <a:latin typeface="PingFang TC"/>
              </a:rPr>
              <a:t>多元測試</a:t>
            </a:r>
            <a:r>
              <a:rPr sz="1300" dirty="0">
                <a:solidFill>
                  <a:srgbClr val="13212A"/>
                </a:solidFill>
                <a:latin typeface="PingFang TC"/>
              </a:rPr>
              <a:t> </a:t>
            </a:r>
            <a:r>
              <a:rPr sz="1300" b="0" dirty="0">
                <a:solidFill>
                  <a:srgbClr val="13212A"/>
                </a:solidFill>
                <a:latin typeface="PingFang TC"/>
              </a:rPr>
              <a:t>generated skill runtime cases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55664" y="5404104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sz="1300" b="0" dirty="0" err="1">
                <a:solidFill>
                  <a:srgbClr val="13212A"/>
                </a:solidFill>
                <a:latin typeface="PingFang TC"/>
              </a:rPr>
              <a:t>做不同模型的受控</a:t>
            </a:r>
            <a:r>
              <a:rPr sz="1300" b="0" dirty="0">
                <a:solidFill>
                  <a:srgbClr val="13212A"/>
                </a:solidFill>
                <a:latin typeface="PingFang TC"/>
              </a:rPr>
              <a:t> A/B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733288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sz="1300" b="0" dirty="0" err="1">
                <a:solidFill>
                  <a:srgbClr val="13212A"/>
                </a:solidFill>
                <a:latin typeface="PingFang TC"/>
              </a:rPr>
              <a:t>增加</a:t>
            </a:r>
            <a:r>
              <a:rPr sz="1300" b="0" dirty="0">
                <a:solidFill>
                  <a:srgbClr val="13212A"/>
                </a:solidFill>
                <a:latin typeface="PingFang TC"/>
              </a:rPr>
              <a:t> tool-call effectiveness </a:t>
            </a:r>
            <a:r>
              <a:rPr sz="1300" b="0" dirty="0" err="1">
                <a:solidFill>
                  <a:srgbClr val="13212A"/>
                </a:solidFill>
                <a:latin typeface="PingFang TC"/>
              </a:rPr>
              <a:t>指標</a:t>
            </a:r>
            <a:endParaRPr sz="1300" b="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47877" y="2350661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fixture/data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47877" y="2698059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dirty="0">
                <a:solidFill>
                  <a:srgbClr val="13212A"/>
                </a:solidFill>
                <a:latin typeface="Georgia"/>
              </a:rPr>
              <a:t>reference grounding</a:t>
            </a:r>
          </a:p>
        </p:txBody>
      </p:sp>
      <p:sp>
        <p:nvSpPr>
          <p:cNvPr id="49" name="Rounded Rectangle 21">
            <a:extLst>
              <a:ext uri="{FF2B5EF4-FFF2-40B4-BE49-F238E27FC236}">
                <a16:creationId xmlns:a16="http://schemas.microsoft.com/office/drawing/2014/main" id="{ACEF66E0-8BF1-A438-E1C1-923A467C7C01}"/>
              </a:ext>
            </a:extLst>
          </p:cNvPr>
          <p:cNvSpPr/>
          <p:nvPr/>
        </p:nvSpPr>
        <p:spPr>
          <a:xfrm>
            <a:off x="6072877" y="1860596"/>
            <a:ext cx="1547859" cy="1583427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0" name="Rounded Rectangle 21">
            <a:extLst>
              <a:ext uri="{FF2B5EF4-FFF2-40B4-BE49-F238E27FC236}">
                <a16:creationId xmlns:a16="http://schemas.microsoft.com/office/drawing/2014/main" id="{012F3EF2-1605-36AD-346B-B1C2EAE1BD78}"/>
              </a:ext>
            </a:extLst>
          </p:cNvPr>
          <p:cNvSpPr/>
          <p:nvPr/>
        </p:nvSpPr>
        <p:spPr>
          <a:xfrm>
            <a:off x="9613917" y="1856649"/>
            <a:ext cx="1547859" cy="158737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21">
            <a:extLst>
              <a:ext uri="{FF2B5EF4-FFF2-40B4-BE49-F238E27FC236}">
                <a16:creationId xmlns:a16="http://schemas.microsoft.com/office/drawing/2014/main" id="{CA4FAE6D-ED51-712C-2123-3CAB2776CD3A}"/>
              </a:ext>
            </a:extLst>
          </p:cNvPr>
          <p:cNvSpPr/>
          <p:nvPr/>
        </p:nvSpPr>
        <p:spPr>
          <a:xfrm>
            <a:off x="7886068" y="1860388"/>
            <a:ext cx="1547859" cy="158737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6048" y="2359510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plan correctness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7" y="3028861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execution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58623" y="2292977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final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6447" y="2297192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collateral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7" y="2663429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dirty="0">
                <a:solidFill>
                  <a:srgbClr val="13212A"/>
                </a:solidFill>
                <a:latin typeface="Georgia"/>
              </a:rPr>
              <a:t>generated code output</a:t>
            </a:r>
          </a:p>
        </p:txBody>
      </p:sp>
      <p:sp>
        <p:nvSpPr>
          <p:cNvPr id="52" name="Rectangle 25">
            <a:extLst>
              <a:ext uri="{FF2B5EF4-FFF2-40B4-BE49-F238E27FC236}">
                <a16:creationId xmlns:a16="http://schemas.microsoft.com/office/drawing/2014/main" id="{5D7381C7-4239-200A-B8CD-85588FD2B072}"/>
              </a:ext>
            </a:extLst>
          </p:cNvPr>
          <p:cNvSpPr/>
          <p:nvPr/>
        </p:nvSpPr>
        <p:spPr>
          <a:xfrm>
            <a:off x="4386072" y="1981507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B06A66"/>
                </a:solidFill>
                <a:latin typeface="Georgia"/>
              </a:rPr>
              <a:t>確認資料真實有效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  <p:sp>
        <p:nvSpPr>
          <p:cNvPr id="53" name="Rectangle 25">
            <a:extLst>
              <a:ext uri="{FF2B5EF4-FFF2-40B4-BE49-F238E27FC236}">
                <a16:creationId xmlns:a16="http://schemas.microsoft.com/office/drawing/2014/main" id="{41B52E9C-D5D1-783C-B424-9189D7965F10}"/>
              </a:ext>
            </a:extLst>
          </p:cNvPr>
          <p:cNvSpPr/>
          <p:nvPr/>
        </p:nvSpPr>
        <p:spPr>
          <a:xfrm>
            <a:off x="6217367" y="1981507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00" b="1" dirty="0" err="1">
                <a:solidFill>
                  <a:srgbClr val="B06A66"/>
                </a:solidFill>
                <a:latin typeface="Georgia"/>
              </a:rPr>
              <a:t>檢查計劃之正確性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  <p:sp>
        <p:nvSpPr>
          <p:cNvPr id="54" name="Rectangle 25">
            <a:extLst>
              <a:ext uri="{FF2B5EF4-FFF2-40B4-BE49-F238E27FC236}">
                <a16:creationId xmlns:a16="http://schemas.microsoft.com/office/drawing/2014/main" id="{69EC5EB1-A092-AB56-A96F-921FC2D6F6D6}"/>
              </a:ext>
            </a:extLst>
          </p:cNvPr>
          <p:cNvSpPr/>
          <p:nvPr/>
        </p:nvSpPr>
        <p:spPr>
          <a:xfrm>
            <a:off x="8012454" y="1999312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B06A66"/>
                </a:solidFill>
                <a:latin typeface="Georgia"/>
              </a:rPr>
              <a:t>執行過程是否安全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  <p:sp>
        <p:nvSpPr>
          <p:cNvPr id="55" name="Rectangle 25">
            <a:extLst>
              <a:ext uri="{FF2B5EF4-FFF2-40B4-BE49-F238E27FC236}">
                <a16:creationId xmlns:a16="http://schemas.microsoft.com/office/drawing/2014/main" id="{5453356B-1FD5-A650-460B-16FDA6E19667}"/>
              </a:ext>
            </a:extLst>
          </p:cNvPr>
          <p:cNvSpPr/>
          <p:nvPr/>
        </p:nvSpPr>
        <p:spPr>
          <a:xfrm>
            <a:off x="9724222" y="1986998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B06A66"/>
                </a:solidFill>
                <a:latin typeface="Georgia"/>
              </a:rPr>
              <a:t>驗證結果符合預期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另含外部模型接入 1 / 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2026-08-02T16:04:22Z</dcterms:created>
  <dcterms:modified xsi:type="dcterms:W3CDTF">2026-08-02T16:04:22Z</dcterms:modified>
</cp:coreProperties>
</file>