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3212A"/>
          </a:solidFill>
          <a:ln/>
        </p:spPr>
      </p:sp>
      <p:sp>
        <p:nvSpPr>
          <p:cNvPr id="3" name="Shape 1"/>
          <p:cNvSpPr/>
          <p:nvPr/>
        </p:nvSpPr>
        <p:spPr>
          <a:xfrm>
            <a:off x="310896" y="0"/>
            <a:ext cx="64008" cy="685800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508760"/>
            <a:ext cx="9601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4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NTUST · 碩士專題報告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" y="196596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CloudDrive 雲端硬碟系統</a:t>
            </a:r>
            <a:endParaRPr lang="en-US" sz="5000" dirty="0"/>
          </a:p>
        </p:txBody>
      </p:sp>
      <p:sp>
        <p:nvSpPr>
          <p:cNvPr id="6" name="Shape 4"/>
          <p:cNvSpPr/>
          <p:nvPr/>
        </p:nvSpPr>
        <p:spPr>
          <a:xfrm>
            <a:off x="1051560" y="2962656"/>
            <a:ext cx="2286000" cy="41148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218688"/>
            <a:ext cx="10058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整合對話式 AI 助理與時光機還原的隱私導向私有雲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51560" y="3657600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本地模型優先 · 可自架 · 全流程可測試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" y="4261104"/>
            <a:ext cx="2414016" cy="420624"/>
          </a:xfrm>
          <a:prstGeom prst="roundRect">
            <a:avLst>
              <a:gd name="adj" fmla="val 10870"/>
            </a:avLst>
          </a:prstGeom>
          <a:solidFill>
            <a:srgbClr val="EFF3F6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06424" y="4261104"/>
            <a:ext cx="23042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React 19 + FastAPI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11880" y="4261104"/>
            <a:ext cx="2414016" cy="420624"/>
          </a:xfrm>
          <a:prstGeom prst="roundRect">
            <a:avLst>
              <a:gd name="adj" fmla="val 10870"/>
            </a:avLst>
          </a:prstGeom>
          <a:solidFill>
            <a:srgbClr val="EFF3F6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66744" y="4261104"/>
            <a:ext cx="23042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PostgreSQL + pgvector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72200" y="4261104"/>
            <a:ext cx="2414016" cy="420624"/>
          </a:xfrm>
          <a:prstGeom prst="roundRect">
            <a:avLst>
              <a:gd name="adj" fmla="val 10870"/>
            </a:avLst>
          </a:prstGeom>
          <a:solidFill>
            <a:srgbClr val="EFF3F6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27064" y="4261104"/>
            <a:ext cx="23042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本地 Gemma 4 26B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732520" y="4261104"/>
            <a:ext cx="2414016" cy="420624"/>
          </a:xfrm>
          <a:prstGeom prst="roundRect">
            <a:avLst>
              <a:gd name="adj" fmla="val 10870"/>
            </a:avLst>
          </a:prstGeom>
          <a:solidFill>
            <a:srgbClr val="EFF3F6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87384" y="4261104"/>
            <a:ext cx="23042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Docker + CI/CD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285232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報告人　</a:t>
            </a:r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吳晉緯　·　沈威廷</a:t>
            </a:r>
            <a:pPr indent="0" marL="0">
              <a:buNone/>
            </a:pPr>
            <a:r>
              <a:rPr lang="en-US" sz="17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　　　指導教授　</a:t>
            </a:r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呂政修 教授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051560" y="56692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國立臺灣科技大學　·　2026 年 8 月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497312" y="598932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v3.0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CONTENTS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這份報告怎麼讀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先看系統如何設計，再看 AI 助理如何被驗證，最後是部署、開發方法與個人回顧。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572768"/>
            <a:ext cx="3541776" cy="4224528"/>
          </a:xfrm>
          <a:prstGeom prst="roundRect">
            <a:avLst>
              <a:gd name="adj" fmla="val 129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3541776" cy="45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1773936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F6F8F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17739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61872" y="1773936"/>
            <a:ext cx="26639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系統與設計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68096" y="2194560"/>
            <a:ext cx="313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報告　吳晉緯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68096" y="2542032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78992" y="2542032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專案概覽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29712" y="2542032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 – 04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78992" y="2816352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問題定義 · 系統全貌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68096" y="3328416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78992" y="3328416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設計與資料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029712" y="3328416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 – 06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078992" y="3602736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21 張表 · 後端模組化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309872" y="1572768"/>
            <a:ext cx="3541776" cy="4224528"/>
          </a:xfrm>
          <a:prstGeom prst="roundRect">
            <a:avLst>
              <a:gd name="adj" fmla="val 129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09872" y="1572768"/>
            <a:ext cx="3541776" cy="4572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23" name="Shape 21"/>
          <p:cNvSpPr/>
          <p:nvPr/>
        </p:nvSpPr>
        <p:spPr>
          <a:xfrm>
            <a:off x="4492752" y="1773936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7E6DA8"/>
          </a:solidFill>
          <a:ln/>
        </p:spPr>
      </p:sp>
      <p:sp>
        <p:nvSpPr>
          <p:cNvPr id="24" name="Text 22"/>
          <p:cNvSpPr/>
          <p:nvPr/>
        </p:nvSpPr>
        <p:spPr>
          <a:xfrm>
            <a:off x="4492752" y="17739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004816" y="1773936"/>
            <a:ext cx="26639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核心：AI 助理與驗證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4511040" y="2194560"/>
            <a:ext cx="313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E6DA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報告　沈威廷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511040" y="2542032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821936" y="2542032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助理與驗證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772656" y="2542032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 – 16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821936" y="2816352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架構 · 受控流程 · 客觀評測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511040" y="3328416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821936" y="3328416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模型服務層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772656" y="3328416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 – 19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4821936" y="3602736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Gemma4APIServer 獨立專案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8052816" y="1572768"/>
            <a:ext cx="3541776" cy="4224528"/>
          </a:xfrm>
          <a:prstGeom prst="roundRect">
            <a:avLst>
              <a:gd name="adj" fmla="val 129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52816" y="1572768"/>
            <a:ext cx="3541776" cy="4572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37" name="Shape 35"/>
          <p:cNvSpPr/>
          <p:nvPr/>
        </p:nvSpPr>
        <p:spPr>
          <a:xfrm>
            <a:off x="8235696" y="1773936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C9A94E"/>
          </a:solidFill>
          <a:ln/>
        </p:spPr>
      </p:sp>
      <p:sp>
        <p:nvSpPr>
          <p:cNvPr id="38" name="Text 36"/>
          <p:cNvSpPr/>
          <p:nvPr/>
        </p:nvSpPr>
        <p:spPr>
          <a:xfrm>
            <a:off x="8235696" y="17739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8747760" y="1773936"/>
            <a:ext cx="26639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交付、方法與回顧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8253984" y="2194560"/>
            <a:ext cx="313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報告　吳晉緯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8253984" y="2542032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564880" y="2542032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部署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10515600" y="2542032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 – 23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8564880" y="2816352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四節點 · CI-CD · 環境與實戰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253984" y="3328416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8564880" y="3328416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定位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10515600" y="3328416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8564880" y="3602736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競品比較 · 完成度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8253984" y="4114800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8564880" y="4114800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Vibe Coding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10515600" y="4114800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– 27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8564880" y="4389120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兩次事故 · 規則體系 · 驗證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8253984" y="4901184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</a:t>
            </a:r>
            <a:endParaRPr lang="en-US" sz="1500" dirty="0"/>
          </a:p>
        </p:txBody>
      </p:sp>
      <p:sp>
        <p:nvSpPr>
          <p:cNvPr id="54" name="Text 52"/>
          <p:cNvSpPr/>
          <p:nvPr/>
        </p:nvSpPr>
        <p:spPr>
          <a:xfrm>
            <a:off x="8564880" y="4901184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學習歷程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10515600" y="4901184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 – 29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8564880" y="5175504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18 週軌跡 · 踩坑回顧</a:t>
            </a:r>
            <a:endParaRPr lang="en-US" sz="1500" dirty="0"/>
          </a:p>
        </p:txBody>
      </p:sp>
      <p:sp>
        <p:nvSpPr>
          <p:cNvPr id="57" name="Shape 55"/>
          <p:cNvSpPr/>
          <p:nvPr/>
        </p:nvSpPr>
        <p:spPr>
          <a:xfrm>
            <a:off x="566928" y="5943600"/>
            <a:ext cx="11027664" cy="603504"/>
          </a:xfrm>
          <a:prstGeom prst="roundRect">
            <a:avLst>
              <a:gd name="adj" fmla="val 7576"/>
            </a:avLst>
          </a:prstGeom>
          <a:solidFill>
            <a:srgbClr val="EFF3F6"/>
          </a:solidFill>
          <a:ln w="13970">
            <a:solidFill>
              <a:srgbClr val="2F6F8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6384" y="5971032"/>
            <a:ext cx="10588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時間有限可直接看 P.12–13（穩定性三部曲與實測數據）與 P.22–24（Vibe Coding 開發方法）—— 這兩段是報告重心。附錄 P.27 為完整欄位 ERD，備 Q&amp;A 使用。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要解決什麼問題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通用雲端硬碟把資料放在他人伺服器。要在自己掌控的儲存空間上，用自然語言完成檔案操作，目前沒有現成方案。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27632"/>
            <a:ext cx="3553968" cy="3950208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27632"/>
            <a:ext cx="50292" cy="3950208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170432" y="1773936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完整檔案管理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68096" y="2176272"/>
            <a:ext cx="3151632" cy="3273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資料夾樹、上傳下載、預覽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垃圾桶軟刪除與還原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檔名／全文／語意三種搜尋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指定使用者分享與公開連結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檔案版本與容量統計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03776" y="1627632"/>
            <a:ext cx="3553968" cy="3950208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03776" y="1627632"/>
            <a:ext cx="50292" cy="3950208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4" name="Text 12"/>
          <p:cNvSpPr/>
          <p:nvPr/>
        </p:nvSpPr>
        <p:spPr>
          <a:xfrm>
            <a:off x="4486656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907280" y="1773936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對話式 AI 助理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504944" y="2176272"/>
            <a:ext cx="3151632" cy="3273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自然語言操作檔案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先出計畫，破壞性操作需確認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可現場生成新技能並掛右鍵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多輪對話記憶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預設本地 Gemma 4 26B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040624" y="1627632"/>
            <a:ext cx="3553968" cy="3950208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0624" y="1627632"/>
            <a:ext cx="50292" cy="3950208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19" name="Text 17"/>
          <p:cNvSpPr/>
          <p:nvPr/>
        </p:nvSpPr>
        <p:spPr>
          <a:xfrm>
            <a:off x="8223504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644128" y="1773936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時光機整碟還原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241792" y="2176272"/>
            <a:ext cx="3151632" cy="3273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把整個硬碟倒帶到過去時間點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排程／手動／助理操作前自動快照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以 checksum 去重的增量儲存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還原前自動建保命快照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獨立配額，不吃檔案空間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C9A94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三者單獨都有現成產品，但「同時成立、而且能自架」的組合沒有 —— 這就是本專案的切入點。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系統全貌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nginx 為唯一入口，同源反代 /api；中繼資料進 PostgreSQL，檔案本體交 Storage Provider。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pic>
        <p:nvPicPr>
          <p:cNvPr id="7" name="Image 0" descr="/Users/linyueying/Library/CloudStorage/OneDrive-Personal/NTUST/Mester0/CloudDrive/doc/ppt/04-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61725"/>
            <a:ext cx="11027664" cy="153318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3602736"/>
            <a:ext cx="3553968" cy="2212848"/>
          </a:xfrm>
          <a:prstGeom prst="roundRect">
            <a:avLst>
              <a:gd name="adj" fmla="val 2479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3602736"/>
            <a:ext cx="50292" cy="2212848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3749040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nginx 唯一入口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68096" y="4151376"/>
            <a:ext cx="315163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同源反代 /api → backend，零 CORS、換主機免重建前端。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對外只有這一個入口，後端不直接曝露。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303776" y="3602736"/>
            <a:ext cx="3553968" cy="2212848"/>
          </a:xfrm>
          <a:prstGeom prst="roundRect">
            <a:avLst>
              <a:gd name="adj" fmla="val 2479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03776" y="3602736"/>
            <a:ext cx="50292" cy="2212848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4" name="Text 11"/>
          <p:cNvSpPr/>
          <p:nvPr/>
        </p:nvSpPr>
        <p:spPr>
          <a:xfrm>
            <a:off x="4504944" y="3749040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儲存層可抽換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504944" y="4151376"/>
            <a:ext cx="315163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StorageProvider 為 Protocol 介面，本機實作可替換為物件儲存。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中繼資料與檔案本體以 storage_key 關聯。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40624" y="3602736"/>
            <a:ext cx="3553968" cy="2212848"/>
          </a:xfrm>
          <a:prstGeom prst="roundRect">
            <a:avLst>
              <a:gd name="adj" fmla="val 2479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040624" y="3602736"/>
            <a:ext cx="50292" cy="2212848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8" name="Text 15"/>
          <p:cNvSpPr/>
          <p:nvPr/>
        </p:nvSpPr>
        <p:spPr>
          <a:xfrm>
            <a:off x="8241792" y="3749040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推論預設本地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241792" y="4151376"/>
            <a:ext cx="315163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Ollama Gemma 4 26B；外送需經隱私閘，且預設關閉。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沒有 Ollama 的環境仍可跑起核心功能。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2F6F8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28 個核心模組 + 3 個擴充系統（AI 助理 · 時光機 · 外部模型接入）；模組間只透過 service 層互相依賴。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&amp;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資料模型：21 張表、六個子系統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5E8F72"/>
          </a:solidFill>
          <a:ln/>
        </p:spPr>
      </p:sp>
      <p:pic>
        <p:nvPicPr>
          <p:cNvPr id="6" name="Image 0" descr="/Users/linyueying/Library/CloudStorage/OneDrive-Personal/NTUST/Mester0/CloudDrive/doc/ppt/01-erd-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401" y="1243584"/>
            <a:ext cx="5846134" cy="45262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196328" y="1353312"/>
            <a:ext cx="45720" cy="932688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8" name="Text 5"/>
          <p:cNvSpPr/>
          <p:nvPr/>
        </p:nvSpPr>
        <p:spPr>
          <a:xfrm>
            <a:off x="7360920" y="1353312"/>
            <a:ext cx="42153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drive_items 單表樹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360920" y="1682496"/>
            <a:ext cx="42153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parent_id 自關聯，檔案與資料夾同表管理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196328" y="2450592"/>
            <a:ext cx="45720" cy="932688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1" name="Text 8"/>
          <p:cNvSpPr/>
          <p:nvPr/>
        </p:nvSpPr>
        <p:spPr>
          <a:xfrm>
            <a:off x="7360920" y="2450592"/>
            <a:ext cx="42153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星號個人化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7360920" y="2779776"/>
            <a:ext cx="42153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user_item_preferences 為權威來源，分享互不污染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196328" y="3547872"/>
            <a:ext cx="45720" cy="932688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4" name="Text 11"/>
          <p:cNvSpPr/>
          <p:nvPr/>
        </p:nvSpPr>
        <p:spPr>
          <a:xfrm>
            <a:off x="7360920" y="3547872"/>
            <a:ext cx="42153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憑證只存 hash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7360920" y="3877056"/>
            <a:ext cx="42153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refresh token 與分享連結 token 皆不存明文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7196328" y="4645152"/>
            <a:ext cx="45720" cy="932688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17" name="Text 14"/>
          <p:cNvSpPr/>
          <p:nvPr/>
        </p:nvSpPr>
        <p:spPr>
          <a:xfrm>
            <a:off x="7360920" y="4645152"/>
            <a:ext cx="42153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版本與去重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7360920" y="4974336"/>
            <a:ext cx="42153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file_versions + checksum 供時光機共用內容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5E8F7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完整欄位版 ER Diagram 見附錄。中文全文搜尋以 ILIKE 子字串比對補足 tsvector 的斷詞限制。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&amp;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後端模組化：每個 domain 是自足套件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5376672" cy="2331720"/>
          </a:xfrm>
          <a:prstGeom prst="roundRect">
            <a:avLst>
              <a:gd name="adj" fmla="val 235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80160"/>
            <a:ext cx="50292" cy="2331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42646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四檔案結構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68096" y="1828800"/>
            <a:ext cx="4974336" cy="1655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router.py　路由，不直接碰資料庫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service.py　商業邏輯與跨 repository 協調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repository.py　只負責資料存取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schemas.py　該模組的輸入輸出型別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376672" cy="2331720"/>
          </a:xfrm>
          <a:prstGeom prst="roundRect">
            <a:avLst>
              <a:gd name="adj" fmla="val 235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280160"/>
            <a:ext cx="50292" cy="233172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2" name="Text 10"/>
          <p:cNvSpPr/>
          <p:nvPr/>
        </p:nvSpPr>
        <p:spPr>
          <a:xfrm>
            <a:off x="6419088" y="142646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集中把關，不分散在 router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19088" y="1828800"/>
            <a:ext cx="4974336" cy="1655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PermissionService　權限判斷唯一入口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QuotaService　容量檢查唯一入口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AppError 子類 → 一致的錯誤 JSON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ActivityLogService　記錄失敗不影響主流程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3831336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7F9FA"/>
          </a:solidFill>
          <a:ln w="15240">
            <a:solidFill>
              <a:srgbClr val="2F6F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941064"/>
            <a:ext cx="24597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Router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0080" y="4581144"/>
            <a:ext cx="24597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接收請求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回傳回應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177540" y="4306824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374136" y="3831336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7F9FA"/>
          </a:solidFill>
          <a:ln w="15240">
            <a:solidFill>
              <a:srgbClr val="5E8F7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47288" y="3941064"/>
            <a:ext cx="24597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Service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3447288" y="4581144"/>
            <a:ext cx="24597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商業邏輯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協調各方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984748" y="4306824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181344" y="3831336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7F9FA"/>
          </a:solidFill>
          <a:ln w="15240">
            <a:solidFill>
              <a:srgbClr val="B06A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54496" y="3941064"/>
            <a:ext cx="24597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Repository ／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StorageProvider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254496" y="4581144"/>
            <a:ext cx="24597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資料存取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檔案讀寫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791956" y="4306824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988552" y="3831336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7F9FA"/>
          </a:solidFill>
          <a:ln w="15240">
            <a:solidFill>
              <a:srgbClr val="5B647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061704" y="3941064"/>
            <a:ext cx="24597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PostgreSQL ／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檔案系統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061704" y="4581144"/>
            <a:ext cx="24597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實際持久層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5E8F7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依賴方向單向不可逆：Repository 不可呼叫 Service；StorageProvider 不可呼叫 Repository。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Why Harness：讓 AI 操作可控、可量測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11027664" cy="859536"/>
          </a:xfrm>
          <a:prstGeom prst="roundRect">
            <a:avLst>
              <a:gd name="adj" fmla="val 5319"/>
            </a:avLst>
          </a:prstGeom>
          <a:solidFill>
            <a:srgbClr val="13212A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137160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IDEA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41248" y="1627632"/>
            <a:ext cx="10479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先以結構化流程限制模型行為，再以真實模型與確定性驗證器量測可靠度。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66928" y="2340864"/>
            <a:ext cx="2468880" cy="1371600"/>
          </a:xfrm>
          <a:prstGeom prst="roundRect">
            <a:avLst>
              <a:gd name="adj" fmla="val 3333"/>
            </a:avLst>
          </a:prstGeom>
          <a:solidFill>
            <a:srgbClr val="F7F9FA"/>
          </a:solidFill>
          <a:ln w="17780">
            <a:solidFill>
              <a:srgbClr val="C9A9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2468880"/>
            <a:ext cx="22860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 Request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8368" y="3017520"/>
            <a:ext cx="22860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自然語言需求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054096" y="2843784"/>
            <a:ext cx="347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419856" y="2340864"/>
            <a:ext cx="2468880" cy="1371600"/>
          </a:xfrm>
          <a:prstGeom prst="roundRect">
            <a:avLst>
              <a:gd name="adj" fmla="val 3333"/>
            </a:avLst>
          </a:prstGeom>
          <a:solidFill>
            <a:srgbClr val="F7F9FA"/>
          </a:solidFill>
          <a:ln w="17780">
            <a:solidFill>
              <a:srgbClr val="2F6F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11296" y="2468880"/>
            <a:ext cx="22860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Structured Workflow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511296" y="3017520"/>
            <a:ext cx="22860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JSON plan · schema · registry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907024" y="2843784"/>
            <a:ext cx="347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272784" y="2340864"/>
            <a:ext cx="2468880" cy="1371600"/>
          </a:xfrm>
          <a:prstGeom prst="roundRect">
            <a:avLst>
              <a:gd name="adj" fmla="val 3333"/>
            </a:avLst>
          </a:prstGeom>
          <a:solidFill>
            <a:srgbClr val="F7F9FA"/>
          </a:solidFill>
          <a:ln w="17780">
            <a:solidFill>
              <a:srgbClr val="7E6D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64224" y="2468880"/>
            <a:ext cx="22860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Controlled Execution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364224" y="3017520"/>
            <a:ext cx="22860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permission · approval · service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759952" y="2843784"/>
            <a:ext cx="347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9125712" y="2340864"/>
            <a:ext cx="2468880" cy="1371600"/>
          </a:xfrm>
          <a:prstGeom prst="roundRect">
            <a:avLst>
              <a:gd name="adj" fmla="val 3333"/>
            </a:avLst>
          </a:prstGeom>
          <a:solidFill>
            <a:srgbClr val="F7F9FA"/>
          </a:solidFill>
          <a:ln w="17780">
            <a:solidFill>
              <a:srgbClr val="5E8F7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17152" y="2468880"/>
            <a:ext cx="22860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 Evaluation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217152" y="3017520"/>
            <a:ext cx="22860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real model · deterministic verifier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566928" y="3931920"/>
            <a:ext cx="3553968" cy="2139696"/>
          </a:xfrm>
          <a:prstGeom prst="roundRect">
            <a:avLst>
              <a:gd name="adj" fmla="val 213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6928" y="3931920"/>
            <a:ext cx="3553968" cy="45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26" name="Text 24"/>
          <p:cNvSpPr/>
          <p:nvPr/>
        </p:nvSpPr>
        <p:spPr>
          <a:xfrm>
            <a:off x="749808" y="4078224"/>
            <a:ext cx="329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1097280" y="4078224"/>
            <a:ext cx="2840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Structure behavior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49808" y="4480560"/>
            <a:ext cx="318820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限制輸出格式與合法技能，先形成完整計畫。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303776" y="3931920"/>
            <a:ext cx="3553968" cy="2139696"/>
          </a:xfrm>
          <a:prstGeom prst="roundRect">
            <a:avLst>
              <a:gd name="adj" fmla="val 213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03776" y="3931920"/>
            <a:ext cx="3553968" cy="4572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31" name="Text 29"/>
          <p:cNvSpPr/>
          <p:nvPr/>
        </p:nvSpPr>
        <p:spPr>
          <a:xfrm>
            <a:off x="4486656" y="4078224"/>
            <a:ext cx="329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>
            <a:off x="4834128" y="4078224"/>
            <a:ext cx="2840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 execution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4486656" y="4480560"/>
            <a:ext cx="318820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唯讀自動；寫入與生成技能必須經權限與人工核可。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8040624" y="3931920"/>
            <a:ext cx="3553968" cy="2139696"/>
          </a:xfrm>
          <a:prstGeom prst="roundRect">
            <a:avLst>
              <a:gd name="adj" fmla="val 213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40624" y="3931920"/>
            <a:ext cx="3553968" cy="4572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36" name="Text 34"/>
          <p:cNvSpPr/>
          <p:nvPr/>
        </p:nvSpPr>
        <p:spPr>
          <a:xfrm>
            <a:off x="8223504" y="4078224"/>
            <a:ext cx="329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37" name="Text 35"/>
          <p:cNvSpPr/>
          <p:nvPr/>
        </p:nvSpPr>
        <p:spPr>
          <a:xfrm>
            <a:off x="8570976" y="4078224"/>
            <a:ext cx="2840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Measure reliability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8223504" y="4480560"/>
            <a:ext cx="318820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以真實模型、真實 fixture 與確定性 verifier 重複量測。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Harness 架構：四層分工與離線評測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Workflow Pipeline 定義要做什麼；Runtime 確保可靠執行；Service Layer 才真正操作資料。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45920"/>
            <a:ext cx="7370064" cy="987552"/>
          </a:xfrm>
          <a:prstGeom prst="roundRect">
            <a:avLst>
              <a:gd name="adj" fmla="val 463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45920"/>
            <a:ext cx="50292" cy="987552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737360"/>
            <a:ext cx="6967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　Workflow Pipeline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68096" y="2048256"/>
            <a:ext cx="1069848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2048256"/>
            <a:ext cx="9966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Parse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947672" y="2048256"/>
            <a:ext cx="1069848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84248" y="2048256"/>
            <a:ext cx="9966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127248" y="2048256"/>
            <a:ext cx="1069848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63824" y="2048256"/>
            <a:ext cx="9966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Validate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306824" y="2048256"/>
            <a:ext cx="1069848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43400" y="2048256"/>
            <a:ext cx="9966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0" y="2048256"/>
            <a:ext cx="1069848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22976" y="2048256"/>
            <a:ext cx="9966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Execute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665976" y="2048256"/>
            <a:ext cx="1069848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02552" y="2048256"/>
            <a:ext cx="9966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2724912"/>
            <a:ext cx="7370064" cy="987552"/>
          </a:xfrm>
          <a:prstGeom prst="roundRect">
            <a:avLst>
              <a:gd name="adj" fmla="val 463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6928" y="2724912"/>
            <a:ext cx="50292" cy="987552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2816352"/>
            <a:ext cx="6967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　Agent Harness Runtime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68096" y="3127248"/>
            <a:ext cx="1305763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672" y="3127248"/>
            <a:ext cx="123261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Execution Loop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2183587" y="3127248"/>
            <a:ext cx="1305763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220163" y="3127248"/>
            <a:ext cx="123261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Registry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3599078" y="3127248"/>
            <a:ext cx="1305763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35654" y="3127248"/>
            <a:ext cx="123261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014570" y="3127248"/>
            <a:ext cx="1305763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51146" y="3127248"/>
            <a:ext cx="123261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430061" y="3127248"/>
            <a:ext cx="1305763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66637" y="3127248"/>
            <a:ext cx="123261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Lifecycle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566928" y="3803904"/>
            <a:ext cx="7370064" cy="987552"/>
          </a:xfrm>
          <a:prstGeom prst="roundRect">
            <a:avLst>
              <a:gd name="adj" fmla="val 463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66928" y="3803904"/>
            <a:ext cx="50292" cy="987552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37" name="Text 35"/>
          <p:cNvSpPr/>
          <p:nvPr/>
        </p:nvSpPr>
        <p:spPr>
          <a:xfrm>
            <a:off x="768096" y="3895344"/>
            <a:ext cx="6967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　CloudDrive Service Layer</a:t>
            </a:r>
            <a:endParaRPr lang="en-US" sz="1700" dirty="0"/>
          </a:p>
        </p:txBody>
      </p:sp>
      <p:sp>
        <p:nvSpPr>
          <p:cNvPr id="38" name="Shape 36"/>
          <p:cNvSpPr/>
          <p:nvPr/>
        </p:nvSpPr>
        <p:spPr>
          <a:xfrm>
            <a:off x="768096" y="4206240"/>
            <a:ext cx="2249424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04672" y="4206240"/>
            <a:ext cx="21762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Drive Service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3127248" y="4206240"/>
            <a:ext cx="2249424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163824" y="4206240"/>
            <a:ext cx="21762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Upload Service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5486400" y="4206240"/>
            <a:ext cx="2249424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22976" y="4206240"/>
            <a:ext cx="21762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Assistant Skill Service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566928" y="4882896"/>
            <a:ext cx="7370064" cy="987552"/>
          </a:xfrm>
          <a:prstGeom prst="roundRect">
            <a:avLst>
              <a:gd name="adj" fmla="val 463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66928" y="4882896"/>
            <a:ext cx="50292" cy="987552"/>
          </a:xfrm>
          <a:prstGeom prst="rect">
            <a:avLst/>
          </a:prstGeom>
          <a:solidFill>
            <a:srgbClr val="5B6470"/>
          </a:solidFill>
          <a:ln/>
        </p:spPr>
      </p:sp>
      <p:sp>
        <p:nvSpPr>
          <p:cNvPr id="46" name="Text 44"/>
          <p:cNvSpPr/>
          <p:nvPr/>
        </p:nvSpPr>
        <p:spPr>
          <a:xfrm>
            <a:off x="768096" y="4974336"/>
            <a:ext cx="6967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　DATA</a:t>
            </a:r>
            <a:endParaRPr lang="en-US" sz="1700" dirty="0"/>
          </a:p>
        </p:txBody>
      </p:sp>
      <p:sp>
        <p:nvSpPr>
          <p:cNvPr id="47" name="Shape 45"/>
          <p:cNvSpPr/>
          <p:nvPr/>
        </p:nvSpPr>
        <p:spPr>
          <a:xfrm>
            <a:off x="768096" y="5285232"/>
            <a:ext cx="342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04672" y="5285232"/>
            <a:ext cx="33558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PostgreSQL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4306824" y="5285232"/>
            <a:ext cx="342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343400" y="5285232"/>
            <a:ext cx="33558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 Storage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8193024" y="1645920"/>
            <a:ext cx="3401568" cy="3236976"/>
          </a:xfrm>
          <a:prstGeom prst="roundRect">
            <a:avLst>
              <a:gd name="adj" fmla="val 1412"/>
            </a:avLst>
          </a:prstGeom>
          <a:solidFill>
            <a:srgbClr val="EFF3F6"/>
          </a:solidFill>
          <a:ln w="17780">
            <a:solidFill>
              <a:srgbClr val="C9A94E"/>
            </a:solidFill>
            <a:prstDash val="dash"/>
          </a:ln>
        </p:spPr>
      </p:sp>
      <p:sp>
        <p:nvSpPr>
          <p:cNvPr id="52" name="Text 50"/>
          <p:cNvSpPr/>
          <p:nvPr/>
        </p:nvSpPr>
        <p:spPr>
          <a:xfrm>
            <a:off x="8375904" y="1773936"/>
            <a:ext cx="30358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Interface</a:t>
            </a:r>
            <a:endParaRPr lang="en-US" sz="1700" dirty="0"/>
          </a:p>
        </p:txBody>
      </p:sp>
      <p:sp>
        <p:nvSpPr>
          <p:cNvPr id="53" name="Text 51"/>
          <p:cNvSpPr/>
          <p:nvPr/>
        </p:nvSpPr>
        <p:spPr>
          <a:xfrm>
            <a:off x="8375904" y="2084832"/>
            <a:ext cx="3035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OFFLINE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8375904" y="2414016"/>
            <a:ext cx="3035808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412480" y="2414016"/>
            <a:ext cx="29626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Case Schema</a:t>
            </a:r>
            <a:endParaRPr lang="en-US" sz="1500" dirty="0"/>
          </a:p>
        </p:txBody>
      </p:sp>
      <p:sp>
        <p:nvSpPr>
          <p:cNvPr id="56" name="Shape 54"/>
          <p:cNvSpPr/>
          <p:nvPr/>
        </p:nvSpPr>
        <p:spPr>
          <a:xfrm>
            <a:off x="8375904" y="2871216"/>
            <a:ext cx="3035808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412480" y="2871216"/>
            <a:ext cx="29626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Runner</a:t>
            </a:r>
            <a:endParaRPr lang="en-US" sz="1500" dirty="0"/>
          </a:p>
        </p:txBody>
      </p:sp>
      <p:sp>
        <p:nvSpPr>
          <p:cNvPr id="58" name="Shape 56"/>
          <p:cNvSpPr/>
          <p:nvPr/>
        </p:nvSpPr>
        <p:spPr>
          <a:xfrm>
            <a:off x="8375904" y="3328416"/>
            <a:ext cx="3035808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412480" y="3328416"/>
            <a:ext cx="29626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Verifier</a:t>
            </a:r>
            <a:endParaRPr lang="en-US" sz="1500" dirty="0"/>
          </a:p>
        </p:txBody>
      </p:sp>
      <p:sp>
        <p:nvSpPr>
          <p:cNvPr id="60" name="Shape 58"/>
          <p:cNvSpPr/>
          <p:nvPr/>
        </p:nvSpPr>
        <p:spPr>
          <a:xfrm>
            <a:off x="8375904" y="3785616"/>
            <a:ext cx="3035808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412480" y="3785616"/>
            <a:ext cx="29626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Scoring</a:t>
            </a:r>
            <a:endParaRPr lang="en-US" sz="1500" dirty="0"/>
          </a:p>
        </p:txBody>
      </p:sp>
      <p:sp>
        <p:nvSpPr>
          <p:cNvPr id="62" name="Text 60"/>
          <p:cNvSpPr/>
          <p:nvPr/>
        </p:nvSpPr>
        <p:spPr>
          <a:xfrm>
            <a:off x="8375904" y="4425696"/>
            <a:ext cx="30358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not in request path</a:t>
            </a:r>
            <a:endParaRPr lang="en-US" sz="1500" dirty="0"/>
          </a:p>
        </p:txBody>
      </p:sp>
      <p:sp>
        <p:nvSpPr>
          <p:cNvPr id="63" name="Shape 61"/>
          <p:cNvSpPr/>
          <p:nvPr/>
        </p:nvSpPr>
        <p:spPr>
          <a:xfrm>
            <a:off x="566928" y="5980176"/>
            <a:ext cx="11027664" cy="566928"/>
          </a:xfrm>
          <a:prstGeom prst="roundRect">
            <a:avLst>
              <a:gd name="adj" fmla="val 8065"/>
            </a:avLst>
          </a:prstGeom>
          <a:solidFill>
            <a:srgbClr val="EFF3F6"/>
          </a:solidFill>
          <a:ln w="13970">
            <a:solidFill>
              <a:srgbClr val="7E6DA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6384" y="6007608"/>
            <a:ext cx="105887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評測介面刻意不在使用者請求路徑上——它從外部呼叫 Production API，如同真實使用者，因此量測的是「模型 + harness 組態」整體。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六核心元件 × 九實作模組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報告用的六元件框架，對應到程式碼裡實際存在的九個模組。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27664" cy="914400"/>
        </p:xfrm>
        <a:graphic>
          <a:graphicData uri="http://schemas.openxmlformats.org/drawingml/2006/table">
            <a:tbl>
              <a:tblPr/>
              <a:tblGrid>
                <a:gridCol w="2487168"/>
                <a:gridCol w="2834640"/>
                <a:gridCol w="5705856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核心元件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實作模組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職責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　Execution Loop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Main Loop · Sub-agent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控制任務執行流程；分派步驟給對應程序；處理每一步的結果回傳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T　Tool / Skill Registry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Registry · Built-in Skills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管理可用工具與技能；提供名稱、功能與參數；內建與自建分開管理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　Context Manager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Context Mgmt · Prompt Assembly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整理需求、對話紀錄與任務；組成 system prompt；控制上下文長短與內容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S　State Store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Session Persistence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保存 session／訊息／狀態；紀錄執行節點與結果；任務在多次請求間可延續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L　Lifecycle Hooks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Governance · Permissions &amp; Safety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執行前後做權限安全檢查；高風險操作要求確認；管理錯誤處理與執行紀錄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V　Evaluation Interface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Offline Evaluation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建立測試案例；驗證規劃、執行結果與狀態；統計錯誤類型以分析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5980176"/>
            <a:ext cx="11027664" cy="566928"/>
          </a:xfrm>
          <a:prstGeom prst="roundRect">
            <a:avLst>
              <a:gd name="adj" fmla="val 8065"/>
            </a:avLst>
          </a:prstGeom>
          <a:solidFill>
            <a:srgbClr val="EFF3F6"/>
          </a:solidFill>
          <a:ln w="13970">
            <a:solidFill>
              <a:srgbClr val="7E6DA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6007608"/>
            <a:ext cx="105887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六元件是文獻框架、九模組是可測試的實作切分——兩套命名並存是刻意的，報告講前者，程式碼與測試對後者。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Workflow Pipeline：先形成完整計畫，再依權限分流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353312"/>
            <a:ext cx="2304288" cy="841248"/>
          </a:xfrm>
          <a:prstGeom prst="roundRect">
            <a:avLst>
              <a:gd name="adj" fmla="val 5435"/>
            </a:avLst>
          </a:prstGeom>
          <a:solidFill>
            <a:srgbClr val="F7F9FA"/>
          </a:solidFill>
          <a:ln w="17780">
            <a:solidFill>
              <a:srgbClr val="2F6F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353312"/>
            <a:ext cx="21579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Requirement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Parsing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889504" y="1591056"/>
            <a:ext cx="347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255264" y="1353312"/>
            <a:ext cx="2304288" cy="841248"/>
          </a:xfrm>
          <a:prstGeom prst="roundRect">
            <a:avLst>
              <a:gd name="adj" fmla="val 5435"/>
            </a:avLst>
          </a:prstGeom>
          <a:solidFill>
            <a:srgbClr val="F7F9FA"/>
          </a:solidFill>
          <a:ln w="17780">
            <a:solidFill>
              <a:srgbClr val="2F6F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28416" y="1353312"/>
            <a:ext cx="21579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Structured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Planning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577840" y="1591056"/>
            <a:ext cx="347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1353312"/>
            <a:ext cx="2304288" cy="841248"/>
          </a:xfrm>
          <a:prstGeom prst="roundRect">
            <a:avLst>
              <a:gd name="adj" fmla="val 5435"/>
            </a:avLst>
          </a:prstGeom>
          <a:solidFill>
            <a:srgbClr val="F7F9FA"/>
          </a:solidFill>
          <a:ln w="17780">
            <a:solidFill>
              <a:srgbClr val="7E6D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16752" y="1353312"/>
            <a:ext cx="21579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Validation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66176" y="1591056"/>
            <a:ext cx="347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631936" y="1353312"/>
            <a:ext cx="2304288" cy="841248"/>
          </a:xfrm>
          <a:prstGeom prst="roundRect">
            <a:avLst>
              <a:gd name="adj" fmla="val 5435"/>
            </a:avLst>
          </a:prstGeom>
          <a:solidFill>
            <a:srgbClr val="F7F9FA"/>
          </a:solidFill>
          <a:ln w="17780">
            <a:solidFill>
              <a:srgbClr val="C9A94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05088" y="1353312"/>
            <a:ext cx="21579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Permission &amp;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Safety Review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66928" y="2487168"/>
            <a:ext cx="5349240" cy="1444752"/>
          </a:xfrm>
          <a:prstGeom prst="roundRect">
            <a:avLst>
              <a:gd name="adj" fmla="val 3165"/>
            </a:avLst>
          </a:prstGeom>
          <a:solidFill>
            <a:srgbClr val="F7F9FA"/>
          </a:solidFill>
          <a:ln w="17780">
            <a:solidFill>
              <a:srgbClr val="5E8F7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8096" y="2615184"/>
            <a:ext cx="4946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read-only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68096" y="2944368"/>
            <a:ext cx="494690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直接進入 Workflow Execution，不打斷使用者。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245352" y="2487168"/>
            <a:ext cx="5349240" cy="1444752"/>
          </a:xfrm>
          <a:prstGeom prst="roundRect">
            <a:avLst>
              <a:gd name="adj" fmla="val 3165"/>
            </a:avLst>
          </a:prstGeom>
          <a:solidFill>
            <a:srgbClr val="F7F9FA"/>
          </a:solidFill>
          <a:ln w="17780">
            <a:solidFill>
              <a:srgbClr val="B06A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2615184"/>
            <a:ext cx="4946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446520" y="2944368"/>
            <a:ext cx="494690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Plan Presentation → 使用者 approve 才執行；reject 即 Cancelled。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66928" y="4151376"/>
            <a:ext cx="11027664" cy="658368"/>
          </a:xfrm>
          <a:prstGeom prst="roundRect">
            <a:avLst>
              <a:gd name="adj" fmla="val 6944"/>
            </a:avLst>
          </a:prstGeom>
          <a:solidFill>
            <a:srgbClr val="13212A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4151376"/>
            <a:ext cx="1047902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Execution Logging　·　Persistence + Governance Hooks　—　兩條路徑最後都寫進同一份稽核紀錄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66928" y="5998464"/>
            <a:ext cx="11027664" cy="548640"/>
          </a:xfrm>
          <a:prstGeom prst="roundRect">
            <a:avLst>
              <a:gd name="adj" fmla="val 8333"/>
            </a:avLst>
          </a:prstGeom>
          <a:solidFill>
            <a:srgbClr val="EFF3F6"/>
          </a:solidFill>
          <a:ln w="13970">
            <a:solidFill>
              <a:srgbClr val="7E6DA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6384" y="6025896"/>
            <a:ext cx="105887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自我撰寫技能（skill-authoring）不走這條管線，另有獨立的 proposal 流程——見下一頁。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Generated Skill Lifecycle：核可後才執行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98448"/>
            <a:ext cx="3553968" cy="3968496"/>
          </a:xfrm>
          <a:prstGeom prst="roundRect">
            <a:avLst>
              <a:gd name="adj" fmla="val 128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98448"/>
            <a:ext cx="3553968" cy="45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444752"/>
            <a:ext cx="3108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078992" y="1444752"/>
            <a:ext cx="2859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Generate &amp; repair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49808" y="1865376"/>
            <a:ext cx="3188208" cy="402336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1865376"/>
            <a:ext cx="31150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 Requirement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49808" y="2267712"/>
            <a:ext cx="31882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▼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49808" y="2432304"/>
            <a:ext cx="3188208" cy="402336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2432304"/>
            <a:ext cx="31150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Codegen Sub-agent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49808" y="2834640"/>
            <a:ext cx="31882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▼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49808" y="2999232"/>
            <a:ext cx="3188208" cy="402336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" y="2999232"/>
            <a:ext cx="31150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JSON / Manifest Validation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49808" y="3401568"/>
            <a:ext cx="31882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▼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49808" y="3566160"/>
            <a:ext cx="3188208" cy="402336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6384" y="3566160"/>
            <a:ext cx="31150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CodeGuard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4517136"/>
            <a:ext cx="3188208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錯誤回饋給 codegen，最多 3 輪修復（共 4 次嘗試）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303776" y="1298448"/>
            <a:ext cx="3553968" cy="3968496"/>
          </a:xfrm>
          <a:prstGeom prst="roundRect">
            <a:avLst>
              <a:gd name="adj" fmla="val 128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03776" y="1298448"/>
            <a:ext cx="3553968" cy="4572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24" name="Text 22"/>
          <p:cNvSpPr/>
          <p:nvPr/>
        </p:nvSpPr>
        <p:spPr>
          <a:xfrm>
            <a:off x="4486656" y="1444752"/>
            <a:ext cx="3108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4815840" y="1444752"/>
            <a:ext cx="2859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Human gate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4486656" y="1865376"/>
            <a:ext cx="3188208" cy="402336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23232" y="1865376"/>
            <a:ext cx="31150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Pending Proposal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486656" y="2267712"/>
            <a:ext cx="31882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▼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486656" y="2432304"/>
            <a:ext cx="3188208" cy="402336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23232" y="2432304"/>
            <a:ext cx="31150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 Approval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486656" y="2834640"/>
            <a:ext cx="31882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▼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486656" y="2999232"/>
            <a:ext cx="3188208" cy="402336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23232" y="2999232"/>
            <a:ext cx="31150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Approved？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4486656" y="3401568"/>
            <a:ext cx="31882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▼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486656" y="3566160"/>
            <a:ext cx="3188208" cy="402336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23232" y="3566160"/>
            <a:ext cx="31150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reject → Rejected / Cancelled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4486656" y="4517136"/>
            <a:ext cx="3188208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C9A94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通過靜態驗證只建立 Pending Proposal，不會自動安裝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8040624" y="1298448"/>
            <a:ext cx="3553968" cy="3968496"/>
          </a:xfrm>
          <a:prstGeom prst="roundRect">
            <a:avLst>
              <a:gd name="adj" fmla="val 128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40624" y="1298448"/>
            <a:ext cx="3553968" cy="4572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40" name="Text 38"/>
          <p:cNvSpPr/>
          <p:nvPr/>
        </p:nvSpPr>
        <p:spPr>
          <a:xfrm>
            <a:off x="8223504" y="1444752"/>
            <a:ext cx="3108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41" name="Text 39"/>
          <p:cNvSpPr/>
          <p:nvPr/>
        </p:nvSpPr>
        <p:spPr>
          <a:xfrm>
            <a:off x="8552688" y="1444752"/>
            <a:ext cx="2859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Execute after approval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8223504" y="1865376"/>
            <a:ext cx="3188208" cy="402336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260080" y="1865376"/>
            <a:ext cx="31150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Installed Skill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8223504" y="2267712"/>
            <a:ext cx="31882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▼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8223504" y="2432304"/>
            <a:ext cx="3188208" cy="402336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60080" y="2432304"/>
            <a:ext cx="31150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Sandbox Execution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8223504" y="2834640"/>
            <a:ext cx="31882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8223504" y="2999232"/>
            <a:ext cx="3188208" cy="402336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60080" y="2999232"/>
            <a:ext cx="31150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Output Ingestion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8223504" y="4517136"/>
            <a:ext cx="3188208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核可後執行失敗不會自動重新生成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566928" y="5980176"/>
            <a:ext cx="11027664" cy="566928"/>
          </a:xfrm>
          <a:prstGeom prst="roundRect">
            <a:avLst>
              <a:gd name="adj" fmla="val 8065"/>
            </a:avLst>
          </a:prstGeom>
          <a:solidFill>
            <a:srgbClr val="EFF3F6"/>
          </a:solidFill>
          <a:ln w="13970">
            <a:solidFill>
              <a:srgbClr val="C9A94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86384" y="6007608"/>
            <a:ext cx="105887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三道關卡缺一不可：靜態驗證只產生提案、使用者核可才安裝、安裝後才進沙箱。絕不自動執行未審核的程式碼。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Why Evaluation：用真實資料與確定性驗證器量測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Mock LLM 能防止程式管線退化，但不能證明真實模型的規劃與執行正確。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27632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27632"/>
            <a:ext cx="3553968" cy="45720"/>
          </a:xfrm>
          <a:prstGeom prst="rect">
            <a:avLst/>
          </a:prstGeom>
          <a:solidFill>
            <a:srgbClr val="5B647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60704" y="1755648"/>
            <a:ext cx="2877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Unit / integration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49808" y="2103120"/>
            <a:ext cx="3188208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Mock LLM；快速、CI 防退化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03776" y="1627632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03776" y="1627632"/>
            <a:ext cx="3553968" cy="45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4" name="Text 12"/>
          <p:cNvSpPr/>
          <p:nvPr/>
        </p:nvSpPr>
        <p:spPr>
          <a:xfrm>
            <a:off x="4486656" y="1755648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797552" y="1755648"/>
            <a:ext cx="2877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 API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486656" y="2103120"/>
            <a:ext cx="3188208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真實產品，走同一條路徑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040624" y="1627632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0624" y="1627632"/>
            <a:ext cx="3553968" cy="4572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9" name="Text 17"/>
          <p:cNvSpPr/>
          <p:nvPr/>
        </p:nvSpPr>
        <p:spPr>
          <a:xfrm>
            <a:off x="8223504" y="1755648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534400" y="1755648"/>
            <a:ext cx="2877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Deterministic verifier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223504" y="2103120"/>
            <a:ext cx="3188208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相同結果得到相同判定</a:t>
            </a:r>
            <a:endParaRPr lang="en-US" sz="15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LLM judge = qualitative only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66928" y="318211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評測管線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566928" y="3547872"/>
            <a:ext cx="2088490" cy="457200"/>
          </a:xfrm>
          <a:prstGeom prst="roundRect">
            <a:avLst>
              <a:gd name="adj" fmla="val 80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3504" y="3547872"/>
            <a:ext cx="20153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Case Schema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2801722" y="3547872"/>
            <a:ext cx="2088490" cy="457200"/>
          </a:xfrm>
          <a:prstGeom prst="roundRect">
            <a:avLst>
              <a:gd name="adj" fmla="val 80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38298" y="3547872"/>
            <a:ext cx="20153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Fixture Builder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036515" y="3547872"/>
            <a:ext cx="2088490" cy="457200"/>
          </a:xfrm>
          <a:prstGeom prst="roundRect">
            <a:avLst>
              <a:gd name="adj" fmla="val 80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73091" y="3547872"/>
            <a:ext cx="20153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Runner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7271309" y="3547872"/>
            <a:ext cx="2088490" cy="457200"/>
          </a:xfrm>
          <a:prstGeom prst="roundRect">
            <a:avLst>
              <a:gd name="adj" fmla="val 80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07885" y="3547872"/>
            <a:ext cx="20153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 API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9506102" y="3547872"/>
            <a:ext cx="2088490" cy="457200"/>
          </a:xfrm>
          <a:prstGeom prst="roundRect">
            <a:avLst>
              <a:gd name="adj" fmla="val 80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542678" y="3547872"/>
            <a:ext cx="20153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Approval Handling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566928" y="4114800"/>
            <a:ext cx="2088490" cy="457200"/>
          </a:xfrm>
          <a:prstGeom prst="roundRect">
            <a:avLst>
              <a:gd name="adj" fmla="val 80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3504" y="4114800"/>
            <a:ext cx="20153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 Collector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2801722" y="4114800"/>
            <a:ext cx="2088490" cy="457200"/>
          </a:xfrm>
          <a:prstGeom prst="roundRect">
            <a:avLst>
              <a:gd name="adj" fmla="val 8000"/>
            </a:avLst>
          </a:prstGeom>
          <a:solidFill>
            <a:srgbClr val="5E8F72"/>
          </a:solidFill>
          <a:ln w="17780">
            <a:solidFill>
              <a:srgbClr val="5E8F7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8298" y="4114800"/>
            <a:ext cx="20153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Deterministic Verifier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5036515" y="4114800"/>
            <a:ext cx="2088490" cy="457200"/>
          </a:xfrm>
          <a:prstGeom prst="roundRect">
            <a:avLst>
              <a:gd name="adj" fmla="val 80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73091" y="4114800"/>
            <a:ext cx="20153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Scoring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7271309" y="4114800"/>
            <a:ext cx="2088490" cy="457200"/>
          </a:xfrm>
          <a:prstGeom prst="roundRect">
            <a:avLst>
              <a:gd name="adj" fmla="val 80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07885" y="4114800"/>
            <a:ext cx="20153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 Aggregation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9506102" y="4114800"/>
            <a:ext cx="2088490" cy="457200"/>
          </a:xfrm>
          <a:prstGeom prst="roundRect">
            <a:avLst>
              <a:gd name="adj" fmla="val 80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542678" y="4114800"/>
            <a:ext cx="20153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Report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566928" y="4791456"/>
            <a:ext cx="11027664" cy="841248"/>
          </a:xfrm>
          <a:prstGeom prst="roundRect">
            <a:avLst>
              <a:gd name="adj" fmla="val 5435"/>
            </a:avLst>
          </a:prstGeom>
          <a:solidFill>
            <a:srgbClr val="EFF3F6"/>
          </a:solidFill>
          <a:ln w="15240">
            <a:solidFill>
              <a:srgbClr val="5E8F7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04672" y="486460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Verifier 檢查七項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04672" y="5175504"/>
            <a:ext cx="105521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fixture/data　·　plan correctness　·　reference grounding　·　execution　·　final state　·　collateral damage　·　generated output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566928" y="5998464"/>
            <a:ext cx="11027664" cy="548640"/>
          </a:xfrm>
          <a:prstGeom prst="roundRect">
            <a:avLst>
              <a:gd name="adj" fmla="val 8333"/>
            </a:avLst>
          </a:prstGeom>
          <a:solidFill>
            <a:srgbClr val="EFF3F6"/>
          </a:solidFill>
          <a:ln w="13970">
            <a:solidFill>
              <a:srgbClr val="5E8F7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86384" y="6025896"/>
            <a:ext cx="105887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EC3 的生成程式碼另外在評測端沙箱實際執行——不只看它「產得出來」，還看它「跑起來對不對」。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EC1–EC4：四個獨立案例集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依「任務複雜度 × 是否涉及寫入」遞增；各層是獨立案例集，不是同一任務的四個階段。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27664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554480"/>
                <a:gridCol w="5029200"/>
                <a:gridCol w="307238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層級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案例數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內容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執行方式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EC1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100 cases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唯讀多工具查詢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自動執行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EC2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120 cases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查詢作為脈絡 ＋ 寫入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需使用者確認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EC3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100 cases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生成技能 ＋ 執行側驗證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需使用者核可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EC4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100 cases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多步驟、跨步驟引用 ＋ 寫入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需使用者確認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66928" y="3675888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案例產生器：5 情境 × 20 主題 = 100 案，不是手工湊的</a:t>
            </a:r>
            <a:endParaRPr lang="en-US" sz="1700" dirty="0"/>
          </a:p>
        </p:txBody>
      </p:sp>
      <p:pic>
        <p:nvPicPr>
          <p:cNvPr id="9" name="Image 0" descr="/Users/linyueying/Library/CloudStorage/OneDrive-Personal/NTUST/Mester0/CloudDrive/doc/ppt/08-ec1-scenari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5168" y="4023360"/>
            <a:ext cx="4358640" cy="2212848"/>
          </a:xfrm>
          <a:prstGeom prst="rect">
            <a:avLst/>
          </a:prstGeom>
        </p:spPr>
      </p:pic>
      <p:pic>
        <p:nvPicPr>
          <p:cNvPr id="10" name="Image 1" descr="/Users/linyueying/Library/CloudStorage/OneDrive-Personal/NTUST/Mester0/CloudDrive/doc/ppt/09-ec1-topic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4928" y="4170346"/>
            <a:ext cx="4169664" cy="191887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實測結果：EC1–EC4 通過率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每個 case 跑 3 次；case-level 以至少 2/3 通過為門檻。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27632"/>
            <a:ext cx="2647188" cy="1133856"/>
          </a:xfrm>
          <a:prstGeom prst="roundRect">
            <a:avLst>
              <a:gd name="adj" fmla="val 4032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1907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389 / 420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640080" y="2157984"/>
            <a:ext cx="2500884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92.62% · Case threshold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case 以 ≥2/3 通過計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60420" y="1627632"/>
            <a:ext cx="2647188" cy="1133856"/>
          </a:xfrm>
          <a:prstGeom prst="roundRect">
            <a:avLst>
              <a:gd name="adj" fmla="val 4032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33572" y="171907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1128 / 1260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433572" y="2157984"/>
            <a:ext cx="2500884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89.52%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Run pass（全 run 計）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53912" y="1627632"/>
            <a:ext cx="2647188" cy="1133856"/>
          </a:xfrm>
          <a:prstGeom prst="roundRect">
            <a:avLst>
              <a:gd name="adj" fmla="val 4032"/>
            </a:avLst>
          </a:prstGeom>
          <a:solidFill>
            <a:srgbClr val="EFF3F6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27064" y="171907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337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6227064" y="2157984"/>
            <a:ext cx="2500884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3/3 全過的案例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佔 80.2%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947404" y="1627632"/>
            <a:ext cx="2647188" cy="1133856"/>
          </a:xfrm>
          <a:prstGeom prst="roundRect">
            <a:avLst>
              <a:gd name="adj" fmla="val 4032"/>
            </a:avLst>
          </a:prstGeom>
          <a:solidFill>
            <a:srgbClr val="EFF3F6"/>
          </a:solidFill>
          <a:ln w="12700">
            <a:solidFill>
              <a:srgbClr val="C9A94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20556" y="171907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9020556" y="2157984"/>
            <a:ext cx="2500884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不穩定案例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2/3：52　1/3：13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66928" y="2962656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分層通過率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66928" y="3346704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EC1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1225296" y="3401568"/>
            <a:ext cx="3200400" cy="164592"/>
          </a:xfrm>
          <a:prstGeom prst="rect">
            <a:avLst/>
          </a:prstGeom>
          <a:solidFill>
            <a:srgbClr val="EFF3F6"/>
          </a:solidFill>
          <a:ln/>
        </p:spPr>
      </p:sp>
      <p:sp>
        <p:nvSpPr>
          <p:cNvPr id="22" name="Shape 20"/>
          <p:cNvSpPr/>
          <p:nvPr/>
        </p:nvSpPr>
        <p:spPr>
          <a:xfrm>
            <a:off x="1225296" y="3401568"/>
            <a:ext cx="3008376" cy="164592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23" name="Shape 21"/>
          <p:cNvSpPr/>
          <p:nvPr/>
        </p:nvSpPr>
        <p:spPr>
          <a:xfrm>
            <a:off x="1225296" y="3621024"/>
            <a:ext cx="3200400" cy="164592"/>
          </a:xfrm>
          <a:prstGeom prst="rect">
            <a:avLst/>
          </a:prstGeom>
          <a:solidFill>
            <a:srgbClr val="EFF3F6"/>
          </a:solidFill>
          <a:ln/>
        </p:spPr>
      </p:sp>
      <p:sp>
        <p:nvSpPr>
          <p:cNvPr id="24" name="Shape 22"/>
          <p:cNvSpPr/>
          <p:nvPr/>
        </p:nvSpPr>
        <p:spPr>
          <a:xfrm>
            <a:off x="1225296" y="3621024"/>
            <a:ext cx="2944368" cy="164592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25" name="Text 23"/>
          <p:cNvSpPr/>
          <p:nvPr/>
        </p:nvSpPr>
        <p:spPr>
          <a:xfrm>
            <a:off x="4498848" y="3346704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94% / 92%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66928" y="3913632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EC2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1225296" y="3968496"/>
            <a:ext cx="3200400" cy="164592"/>
          </a:xfrm>
          <a:prstGeom prst="rect">
            <a:avLst/>
          </a:prstGeom>
          <a:solidFill>
            <a:srgbClr val="EFF3F6"/>
          </a:solidFill>
          <a:ln/>
        </p:spPr>
      </p:sp>
      <p:sp>
        <p:nvSpPr>
          <p:cNvPr id="28" name="Shape 26"/>
          <p:cNvSpPr/>
          <p:nvPr/>
        </p:nvSpPr>
        <p:spPr>
          <a:xfrm>
            <a:off x="1225296" y="3968496"/>
            <a:ext cx="2880360" cy="164592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29" name="Shape 27"/>
          <p:cNvSpPr/>
          <p:nvPr/>
        </p:nvSpPr>
        <p:spPr>
          <a:xfrm>
            <a:off x="1225296" y="4187952"/>
            <a:ext cx="3200400" cy="164592"/>
          </a:xfrm>
          <a:prstGeom prst="rect">
            <a:avLst/>
          </a:prstGeom>
          <a:solidFill>
            <a:srgbClr val="EFF3F6"/>
          </a:solidFill>
          <a:ln/>
        </p:spPr>
      </p:sp>
      <p:sp>
        <p:nvSpPr>
          <p:cNvPr id="30" name="Shape 28"/>
          <p:cNvSpPr/>
          <p:nvPr/>
        </p:nvSpPr>
        <p:spPr>
          <a:xfrm>
            <a:off x="1225296" y="4187952"/>
            <a:ext cx="2816352" cy="164592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31" name="Text 29"/>
          <p:cNvSpPr/>
          <p:nvPr/>
        </p:nvSpPr>
        <p:spPr>
          <a:xfrm>
            <a:off x="4498848" y="3913632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90% / 88%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566928" y="44805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EC3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1225296" y="4535424"/>
            <a:ext cx="3200400" cy="164592"/>
          </a:xfrm>
          <a:prstGeom prst="rect">
            <a:avLst/>
          </a:prstGeom>
          <a:solidFill>
            <a:srgbClr val="EFF3F6"/>
          </a:solidFill>
          <a:ln/>
        </p:spPr>
      </p:sp>
      <p:sp>
        <p:nvSpPr>
          <p:cNvPr id="34" name="Shape 32"/>
          <p:cNvSpPr/>
          <p:nvPr/>
        </p:nvSpPr>
        <p:spPr>
          <a:xfrm>
            <a:off x="1225296" y="4535424"/>
            <a:ext cx="2784348" cy="164592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35" name="Shape 33"/>
          <p:cNvSpPr/>
          <p:nvPr/>
        </p:nvSpPr>
        <p:spPr>
          <a:xfrm>
            <a:off x="1225296" y="4754880"/>
            <a:ext cx="3200400" cy="164592"/>
          </a:xfrm>
          <a:prstGeom prst="rect">
            <a:avLst/>
          </a:prstGeom>
          <a:solidFill>
            <a:srgbClr val="EFF3F6"/>
          </a:solidFill>
          <a:ln/>
        </p:spPr>
      </p:sp>
      <p:sp>
        <p:nvSpPr>
          <p:cNvPr id="36" name="Shape 34"/>
          <p:cNvSpPr/>
          <p:nvPr/>
        </p:nvSpPr>
        <p:spPr>
          <a:xfrm>
            <a:off x="1225296" y="4754880"/>
            <a:ext cx="2528316" cy="164592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37" name="Text 35"/>
          <p:cNvSpPr/>
          <p:nvPr/>
        </p:nvSpPr>
        <p:spPr>
          <a:xfrm>
            <a:off x="4498848" y="448056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87% / 79%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566928" y="5047488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EC4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1225296" y="5102352"/>
            <a:ext cx="3200400" cy="164592"/>
          </a:xfrm>
          <a:prstGeom prst="rect">
            <a:avLst/>
          </a:prstGeom>
          <a:solidFill>
            <a:srgbClr val="EFF3F6"/>
          </a:solidFill>
          <a:ln/>
        </p:spPr>
      </p:sp>
      <p:sp>
        <p:nvSpPr>
          <p:cNvPr id="40" name="Shape 38"/>
          <p:cNvSpPr/>
          <p:nvPr/>
        </p:nvSpPr>
        <p:spPr>
          <a:xfrm>
            <a:off x="1225296" y="5102352"/>
            <a:ext cx="3200400" cy="164592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41" name="Shape 39"/>
          <p:cNvSpPr/>
          <p:nvPr/>
        </p:nvSpPr>
        <p:spPr>
          <a:xfrm>
            <a:off x="1225296" y="5321808"/>
            <a:ext cx="3200400" cy="164592"/>
          </a:xfrm>
          <a:prstGeom prst="rect">
            <a:avLst/>
          </a:prstGeom>
          <a:solidFill>
            <a:srgbClr val="EFF3F6"/>
          </a:solidFill>
          <a:ln/>
        </p:spPr>
      </p:sp>
      <p:sp>
        <p:nvSpPr>
          <p:cNvPr id="42" name="Shape 40"/>
          <p:cNvSpPr/>
          <p:nvPr/>
        </p:nvSpPr>
        <p:spPr>
          <a:xfrm>
            <a:off x="1225296" y="5321808"/>
            <a:ext cx="3190799" cy="164592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43" name="Text 41"/>
          <p:cNvSpPr/>
          <p:nvPr/>
        </p:nvSpPr>
        <p:spPr>
          <a:xfrm>
            <a:off x="4498848" y="5047488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 / 99.7%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566928" y="5669280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■ </a:t>
            </a:r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Case threshold　</a:t>
            </a:r>
            <a:pPr indent="0" marL="0">
              <a:buNone/>
            </a:pPr>
            <a:r>
              <a:rPr lang="en-US" sz="1500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■ </a:t>
            </a:r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Run pass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6245352" y="2962656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三次跑批的穩定性分佈</a:t>
            </a:r>
            <a:endParaRPr lang="en-US" sz="1700" dirty="0"/>
          </a:p>
        </p:txBody>
      </p:sp>
      <p:sp>
        <p:nvSpPr>
          <p:cNvPr id="46" name="Shape 44"/>
          <p:cNvSpPr/>
          <p:nvPr/>
        </p:nvSpPr>
        <p:spPr>
          <a:xfrm>
            <a:off x="6245352" y="3346704"/>
            <a:ext cx="5349240" cy="457200"/>
          </a:xfrm>
          <a:prstGeom prst="roundRect">
            <a:avLst>
              <a:gd name="adj" fmla="val 8000"/>
            </a:avLst>
          </a:prstGeom>
          <a:solidFill>
            <a:srgbClr val="F7F9FA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245352" y="3346704"/>
            <a:ext cx="45720" cy="45720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48" name="Text 46"/>
          <p:cNvSpPr/>
          <p:nvPr/>
        </p:nvSpPr>
        <p:spPr>
          <a:xfrm>
            <a:off x="6428232" y="3346704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3/3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7251192" y="3502152"/>
            <a:ext cx="3246120" cy="146304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50" name="Text 48"/>
          <p:cNvSpPr/>
          <p:nvPr/>
        </p:nvSpPr>
        <p:spPr>
          <a:xfrm>
            <a:off x="10588752" y="3346704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337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6245352" y="3913632"/>
            <a:ext cx="5349240" cy="457200"/>
          </a:xfrm>
          <a:prstGeom prst="roundRect">
            <a:avLst>
              <a:gd name="adj" fmla="val 8000"/>
            </a:avLst>
          </a:prstGeom>
          <a:solidFill>
            <a:srgbClr val="F7F9FA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245352" y="3913632"/>
            <a:ext cx="45720" cy="45720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53" name="Text 51"/>
          <p:cNvSpPr/>
          <p:nvPr/>
        </p:nvSpPr>
        <p:spPr>
          <a:xfrm>
            <a:off x="6428232" y="3913632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2/3</a:t>
            </a:r>
            <a:endParaRPr lang="en-US" sz="1500" dirty="0"/>
          </a:p>
        </p:txBody>
      </p:sp>
      <p:sp>
        <p:nvSpPr>
          <p:cNvPr id="54" name="Shape 52"/>
          <p:cNvSpPr/>
          <p:nvPr/>
        </p:nvSpPr>
        <p:spPr>
          <a:xfrm>
            <a:off x="7251192" y="4069080"/>
            <a:ext cx="500885" cy="146304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55" name="Text 53"/>
          <p:cNvSpPr/>
          <p:nvPr/>
        </p:nvSpPr>
        <p:spPr>
          <a:xfrm>
            <a:off x="10588752" y="3913632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</a:t>
            </a:r>
            <a:endParaRPr lang="en-US" sz="1500" dirty="0"/>
          </a:p>
        </p:txBody>
      </p:sp>
      <p:sp>
        <p:nvSpPr>
          <p:cNvPr id="56" name="Shape 54"/>
          <p:cNvSpPr/>
          <p:nvPr/>
        </p:nvSpPr>
        <p:spPr>
          <a:xfrm>
            <a:off x="6245352" y="4480560"/>
            <a:ext cx="5349240" cy="457200"/>
          </a:xfrm>
          <a:prstGeom prst="roundRect">
            <a:avLst>
              <a:gd name="adj" fmla="val 8000"/>
            </a:avLst>
          </a:prstGeom>
          <a:solidFill>
            <a:srgbClr val="F7F9FA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245352" y="4480560"/>
            <a:ext cx="45720" cy="45720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58" name="Text 56"/>
          <p:cNvSpPr/>
          <p:nvPr/>
        </p:nvSpPr>
        <p:spPr>
          <a:xfrm>
            <a:off x="6428232" y="44805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1/3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7251192" y="4636008"/>
            <a:ext cx="125221" cy="146304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60" name="Text 58"/>
          <p:cNvSpPr/>
          <p:nvPr/>
        </p:nvSpPr>
        <p:spPr>
          <a:xfrm>
            <a:off x="10588752" y="44805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1500" dirty="0"/>
          </a:p>
        </p:txBody>
      </p:sp>
      <p:sp>
        <p:nvSpPr>
          <p:cNvPr id="61" name="Shape 59"/>
          <p:cNvSpPr/>
          <p:nvPr/>
        </p:nvSpPr>
        <p:spPr>
          <a:xfrm>
            <a:off x="6245352" y="5047488"/>
            <a:ext cx="5349240" cy="457200"/>
          </a:xfrm>
          <a:prstGeom prst="roundRect">
            <a:avLst>
              <a:gd name="adj" fmla="val 8000"/>
            </a:avLst>
          </a:prstGeom>
          <a:solidFill>
            <a:srgbClr val="F7F9FA"/>
          </a:solidFill>
          <a:ln w="8890">
            <a:solidFill>
              <a:srgbClr val="C9D3DA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245352" y="5047488"/>
            <a:ext cx="45720" cy="457200"/>
          </a:xfrm>
          <a:prstGeom prst="rect">
            <a:avLst/>
          </a:prstGeom>
          <a:solidFill>
            <a:srgbClr val="5B6470"/>
          </a:solidFill>
          <a:ln/>
        </p:spPr>
      </p:sp>
      <p:sp>
        <p:nvSpPr>
          <p:cNvPr id="63" name="Text 61"/>
          <p:cNvSpPr/>
          <p:nvPr/>
        </p:nvSpPr>
        <p:spPr>
          <a:xfrm>
            <a:off x="6428232" y="5047488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0/3</a:t>
            </a:r>
            <a:endParaRPr lang="en-US" sz="1500" dirty="0"/>
          </a:p>
        </p:txBody>
      </p:sp>
      <p:sp>
        <p:nvSpPr>
          <p:cNvPr id="64" name="Shape 62"/>
          <p:cNvSpPr/>
          <p:nvPr/>
        </p:nvSpPr>
        <p:spPr>
          <a:xfrm>
            <a:off x="7251192" y="5202936"/>
            <a:ext cx="173383" cy="146304"/>
          </a:xfrm>
          <a:prstGeom prst="rect">
            <a:avLst/>
          </a:prstGeom>
          <a:solidFill>
            <a:srgbClr val="5B6470"/>
          </a:solidFill>
          <a:ln/>
        </p:spPr>
      </p:sp>
      <p:sp>
        <p:nvSpPr>
          <p:cNvPr id="65" name="Text 63"/>
          <p:cNvSpPr/>
          <p:nvPr/>
        </p:nvSpPr>
        <p:spPr>
          <a:xfrm>
            <a:off x="10588752" y="5047488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1500" dirty="0"/>
          </a:p>
        </p:txBody>
      </p:sp>
      <p:sp>
        <p:nvSpPr>
          <p:cNvPr id="66" name="Text 64"/>
          <p:cNvSpPr/>
          <p:nvPr/>
        </p:nvSpPr>
        <p:spPr>
          <a:xfrm>
            <a:off x="6245352" y="5669280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337 + 52 = 389 通過門檻；18 個三次全敗。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Token 與工具呼叫指標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 = 960 runs　·　不依賴人為訂定的「標準步驟」，因此可跨案例與跨模型比較。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27632"/>
            <a:ext cx="2647188" cy="1060704"/>
          </a:xfrm>
          <a:prstGeom prst="roundRect">
            <a:avLst>
              <a:gd name="adj" fmla="val 4310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1907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2,043,273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2157984"/>
            <a:ext cx="2500884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Prompt total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60420" y="1627632"/>
            <a:ext cx="2647188" cy="1060704"/>
          </a:xfrm>
          <a:prstGeom prst="roundRect">
            <a:avLst>
              <a:gd name="adj" fmla="val 4310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33572" y="171907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355,719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433572" y="2157984"/>
            <a:ext cx="2500884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Completion total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53912" y="1627632"/>
            <a:ext cx="2647188" cy="1060704"/>
          </a:xfrm>
          <a:prstGeom prst="roundRect">
            <a:avLst>
              <a:gd name="adj" fmla="val 4310"/>
            </a:avLst>
          </a:prstGeom>
          <a:solidFill>
            <a:srgbClr val="EFF3F6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27064" y="171907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2,398,992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227064" y="2157984"/>
            <a:ext cx="2500884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Total tokens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947404" y="1627632"/>
            <a:ext cx="2647188" cy="1060704"/>
          </a:xfrm>
          <a:prstGeom prst="roundRect">
            <a:avLst>
              <a:gd name="adj" fmla="val 4310"/>
            </a:avLst>
          </a:prstGeom>
          <a:solidFill>
            <a:srgbClr val="EFF3F6"/>
          </a:solidFill>
          <a:ln w="12700">
            <a:solidFill>
              <a:srgbClr val="C9A94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20556" y="171907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1,903.96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020556" y="2157984"/>
            <a:ext cx="2500884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Average total / run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66928" y="2889504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各層平均 token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66928" y="3273552"/>
            <a:ext cx="640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EC1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1225296" y="3392424"/>
            <a:ext cx="3520440" cy="182880"/>
          </a:xfrm>
          <a:prstGeom prst="rect">
            <a:avLst/>
          </a:prstGeom>
          <a:solidFill>
            <a:srgbClr val="EFF3F6"/>
          </a:solidFill>
          <a:ln/>
        </p:spPr>
      </p:sp>
      <p:sp>
        <p:nvSpPr>
          <p:cNvPr id="22" name="Shape 20"/>
          <p:cNvSpPr/>
          <p:nvPr/>
        </p:nvSpPr>
        <p:spPr>
          <a:xfrm>
            <a:off x="1225296" y="3392424"/>
            <a:ext cx="3351756" cy="18288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23" name="Text 21"/>
          <p:cNvSpPr/>
          <p:nvPr/>
        </p:nvSpPr>
        <p:spPr>
          <a:xfrm>
            <a:off x="4782312" y="3273552"/>
            <a:ext cx="1097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1987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66928" y="3822192"/>
            <a:ext cx="640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EC2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1225296" y="3941064"/>
            <a:ext cx="3520440" cy="182880"/>
          </a:xfrm>
          <a:prstGeom prst="rect">
            <a:avLst/>
          </a:prstGeom>
          <a:solidFill>
            <a:srgbClr val="EFF3F6"/>
          </a:solidFill>
          <a:ln/>
        </p:spPr>
      </p:sp>
      <p:sp>
        <p:nvSpPr>
          <p:cNvPr id="26" name="Shape 24"/>
          <p:cNvSpPr/>
          <p:nvPr/>
        </p:nvSpPr>
        <p:spPr>
          <a:xfrm>
            <a:off x="1225296" y="3941064"/>
            <a:ext cx="3520440" cy="18288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27" name="Text 25"/>
          <p:cNvSpPr/>
          <p:nvPr/>
        </p:nvSpPr>
        <p:spPr>
          <a:xfrm>
            <a:off x="4782312" y="3822192"/>
            <a:ext cx="1097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2087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66928" y="4370832"/>
            <a:ext cx="640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EC3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1225296" y="4489704"/>
            <a:ext cx="3520440" cy="182880"/>
          </a:xfrm>
          <a:prstGeom prst="rect">
            <a:avLst/>
          </a:prstGeom>
          <a:solidFill>
            <a:srgbClr val="EFF3F6"/>
          </a:solidFill>
          <a:ln/>
        </p:spPr>
      </p:sp>
      <p:sp>
        <p:nvSpPr>
          <p:cNvPr id="30" name="Shape 28"/>
          <p:cNvSpPr/>
          <p:nvPr/>
        </p:nvSpPr>
        <p:spPr>
          <a:xfrm>
            <a:off x="1225296" y="4489704"/>
            <a:ext cx="2440861" cy="18288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31" name="Text 29"/>
          <p:cNvSpPr/>
          <p:nvPr/>
        </p:nvSpPr>
        <p:spPr>
          <a:xfrm>
            <a:off x="4782312" y="4370832"/>
            <a:ext cx="1097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1447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566928" y="4919472"/>
            <a:ext cx="640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EC4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1225296" y="5038344"/>
            <a:ext cx="3520440" cy="182880"/>
          </a:xfrm>
          <a:prstGeom prst="rect">
            <a:avLst/>
          </a:prstGeom>
          <a:solidFill>
            <a:srgbClr val="EFF3F6"/>
          </a:solidFill>
          <a:ln/>
        </p:spPr>
      </p:sp>
      <p:sp>
        <p:nvSpPr>
          <p:cNvPr id="34" name="Shape 32"/>
          <p:cNvSpPr/>
          <p:nvPr/>
        </p:nvSpPr>
        <p:spPr>
          <a:xfrm>
            <a:off x="1225296" y="5038344"/>
            <a:ext cx="3471522" cy="18288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35" name="Text 33"/>
          <p:cNvSpPr/>
          <p:nvPr/>
        </p:nvSpPr>
        <p:spPr>
          <a:xfrm>
            <a:off x="4782312" y="4919472"/>
            <a:ext cx="1097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2058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245352" y="2889504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各層平均工具步數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6245352" y="3273552"/>
            <a:ext cx="640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EC1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903720" y="3392424"/>
            <a:ext cx="3520440" cy="182880"/>
          </a:xfrm>
          <a:prstGeom prst="rect">
            <a:avLst/>
          </a:prstGeom>
          <a:solidFill>
            <a:srgbClr val="EFF3F6"/>
          </a:solidFill>
          <a:ln/>
        </p:spPr>
      </p:sp>
      <p:sp>
        <p:nvSpPr>
          <p:cNvPr id="39" name="Shape 37"/>
          <p:cNvSpPr/>
          <p:nvPr/>
        </p:nvSpPr>
        <p:spPr>
          <a:xfrm>
            <a:off x="6903720" y="3392424"/>
            <a:ext cx="3520440" cy="18288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40" name="Text 38"/>
          <p:cNvSpPr/>
          <p:nvPr/>
        </p:nvSpPr>
        <p:spPr>
          <a:xfrm>
            <a:off x="10460736" y="3273552"/>
            <a:ext cx="1097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4.92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6245352" y="3822192"/>
            <a:ext cx="640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EC2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6903720" y="3941064"/>
            <a:ext cx="3520440" cy="182880"/>
          </a:xfrm>
          <a:prstGeom prst="rect">
            <a:avLst/>
          </a:prstGeom>
          <a:solidFill>
            <a:srgbClr val="EFF3F6"/>
          </a:solidFill>
          <a:ln/>
        </p:spPr>
      </p:sp>
      <p:sp>
        <p:nvSpPr>
          <p:cNvPr id="43" name="Shape 41"/>
          <p:cNvSpPr/>
          <p:nvPr/>
        </p:nvSpPr>
        <p:spPr>
          <a:xfrm>
            <a:off x="6903720" y="3941064"/>
            <a:ext cx="3327245" cy="18288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44" name="Text 42"/>
          <p:cNvSpPr/>
          <p:nvPr/>
        </p:nvSpPr>
        <p:spPr>
          <a:xfrm>
            <a:off x="10460736" y="3822192"/>
            <a:ext cx="1097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4.65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6245352" y="4370832"/>
            <a:ext cx="640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EC3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6903720" y="4489704"/>
            <a:ext cx="3520440" cy="182880"/>
          </a:xfrm>
          <a:prstGeom prst="rect">
            <a:avLst/>
          </a:prstGeom>
          <a:solidFill>
            <a:srgbClr val="EFF3F6"/>
          </a:solidFill>
          <a:ln/>
        </p:spPr>
      </p:sp>
      <p:sp>
        <p:nvSpPr>
          <p:cNvPr id="47" name="Text 45"/>
          <p:cNvSpPr/>
          <p:nvPr/>
        </p:nvSpPr>
        <p:spPr>
          <a:xfrm>
            <a:off x="10460736" y="4370832"/>
            <a:ext cx="1097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不適用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6245352" y="4919472"/>
            <a:ext cx="640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EC4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6903720" y="5038344"/>
            <a:ext cx="3520440" cy="182880"/>
          </a:xfrm>
          <a:prstGeom prst="rect">
            <a:avLst/>
          </a:prstGeom>
          <a:solidFill>
            <a:srgbClr val="EFF3F6"/>
          </a:solidFill>
          <a:ln/>
        </p:spPr>
      </p:sp>
      <p:sp>
        <p:nvSpPr>
          <p:cNvPr id="50" name="Shape 48"/>
          <p:cNvSpPr/>
          <p:nvPr/>
        </p:nvSpPr>
        <p:spPr>
          <a:xfrm>
            <a:off x="6903720" y="5038344"/>
            <a:ext cx="2962321" cy="18288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51" name="Text 49"/>
          <p:cNvSpPr/>
          <p:nvPr/>
        </p:nvSpPr>
        <p:spPr>
          <a:xfrm>
            <a:off x="10460736" y="4919472"/>
            <a:ext cx="1097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4.14</a:t>
            </a:r>
            <a:endParaRPr lang="en-US" sz="1500" dirty="0"/>
          </a:p>
        </p:txBody>
      </p:sp>
      <p:sp>
        <p:nvSpPr>
          <p:cNvPr id="52" name="Shape 50"/>
          <p:cNvSpPr/>
          <p:nvPr/>
        </p:nvSpPr>
        <p:spPr>
          <a:xfrm>
            <a:off x="566928" y="5980176"/>
            <a:ext cx="11027664" cy="566928"/>
          </a:xfrm>
          <a:prstGeom prst="roundRect">
            <a:avLst>
              <a:gd name="adj" fmla="val 8065"/>
            </a:avLst>
          </a:prstGeom>
          <a:solidFill>
            <a:srgbClr val="EFF3F6"/>
          </a:solidFill>
          <a:ln w="13970">
            <a:solidFill>
              <a:srgbClr val="7E6DA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86384" y="6007608"/>
            <a:ext cx="105887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EC3 為生成技能測試，不走工具呼叫路徑，故無工具步數；它的 token 也最低（1447），因為輸出是程式碼而非多輪工具規劃。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評測本身的缺陷、現行限制與未來工作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11027664" cy="1371600"/>
          </a:xfrm>
          <a:prstGeom prst="roundRect">
            <a:avLst>
              <a:gd name="adj" fmla="val 3333"/>
            </a:avLst>
          </a:prstGeom>
          <a:solidFill>
            <a:srgbClr val="EFF3F6"/>
          </a:solidFill>
          <a:ln w="15240">
            <a:solidFill>
              <a:srgbClr val="B06A6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71600"/>
            <a:ext cx="10552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評測深度：舊案例可能用空帳號、假 ID、根本沒真正執行就通過——只檢查了流程對不對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04672" y="1755648"/>
            <a:ext cx="1429077" cy="365760"/>
          </a:xfrm>
          <a:prstGeom prst="roundRect">
            <a:avLst>
              <a:gd name="adj" fmla="val 10000"/>
            </a:avLst>
          </a:prstGeom>
          <a:solidFill>
            <a:srgbClr val="5E8F72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2104" y="1755648"/>
            <a:ext cx="137421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fixture/data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325189" y="1755648"/>
            <a:ext cx="1429077" cy="365760"/>
          </a:xfrm>
          <a:prstGeom prst="roundRect">
            <a:avLst>
              <a:gd name="adj" fmla="val 10000"/>
            </a:avLst>
          </a:prstGeom>
          <a:solidFill>
            <a:srgbClr val="5E8F72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52621" y="1755648"/>
            <a:ext cx="137421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reference grounding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845705" y="1755648"/>
            <a:ext cx="1429077" cy="365760"/>
          </a:xfrm>
          <a:prstGeom prst="roundRect">
            <a:avLst>
              <a:gd name="adj" fmla="val 10000"/>
            </a:avLst>
          </a:prstGeom>
          <a:solidFill>
            <a:srgbClr val="5E8F72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73137" y="1755648"/>
            <a:ext cx="137421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 correctness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366222" y="1755648"/>
            <a:ext cx="1429077" cy="365760"/>
          </a:xfrm>
          <a:prstGeom prst="roundRect">
            <a:avLst>
              <a:gd name="adj" fmla="val 10000"/>
            </a:avLst>
          </a:prstGeom>
          <a:solidFill>
            <a:srgbClr val="5E8F72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93654" y="1755648"/>
            <a:ext cx="137421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execution result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86738" y="1755648"/>
            <a:ext cx="1429077" cy="365760"/>
          </a:xfrm>
          <a:prstGeom prst="roundRect">
            <a:avLst>
              <a:gd name="adj" fmla="val 10000"/>
            </a:avLst>
          </a:prstGeom>
          <a:solidFill>
            <a:srgbClr val="5E8F72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14170" y="1755648"/>
            <a:ext cx="137421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 state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407255" y="1755648"/>
            <a:ext cx="1429077" cy="365760"/>
          </a:xfrm>
          <a:prstGeom prst="roundRect">
            <a:avLst>
              <a:gd name="adj" fmla="val 10000"/>
            </a:avLst>
          </a:prstGeom>
          <a:solidFill>
            <a:srgbClr val="5E8F72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34687" y="1755648"/>
            <a:ext cx="137421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collateral damage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927771" y="1755648"/>
            <a:ext cx="1429077" cy="365760"/>
          </a:xfrm>
          <a:prstGeom prst="roundRect">
            <a:avLst>
              <a:gd name="adj" fmla="val 10000"/>
            </a:avLst>
          </a:prstGeom>
          <a:solidFill>
            <a:srgbClr val="5E8F72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955203" y="1755648"/>
            <a:ext cx="137421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generated code output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04672" y="2176272"/>
            <a:ext cx="10552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新增的確定性檢查：確認資料真實有效 · 檢查計畫正確性 · 執行過程是否安全 · 驗證結果符合預期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66928" y="2834640"/>
            <a:ext cx="5376672" cy="2377440"/>
          </a:xfrm>
          <a:prstGeom prst="roundRect">
            <a:avLst>
              <a:gd name="adj" fmla="val 230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2834640"/>
            <a:ext cx="50292" cy="237744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25" name="Text 23"/>
          <p:cNvSpPr/>
          <p:nvPr/>
        </p:nvSpPr>
        <p:spPr>
          <a:xfrm>
            <a:off x="768096" y="298094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現行限制（誠實列出）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68096" y="3383280"/>
            <a:ext cx="4974336" cy="1700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未真實對生成技能的執行效果做測試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測試案例無紀錄 latency 資料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記憶與長對話追蹤能力有限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執行流程以串行為主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LLM 生成計畫缺乏動態調整能力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217920" y="2834640"/>
            <a:ext cx="5376672" cy="2377440"/>
          </a:xfrm>
          <a:prstGeom prst="roundRect">
            <a:avLst>
              <a:gd name="adj" fmla="val 230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17920" y="2834640"/>
            <a:ext cx="50292" cy="237744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29" name="Text 27"/>
          <p:cNvSpPr/>
          <p:nvPr/>
        </p:nvSpPr>
        <p:spPr>
          <a:xfrm>
            <a:off x="6419088" y="298094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未來工作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6419088" y="3383280"/>
            <a:ext cx="4974336" cy="1700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測試案例更多元化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擴充 Playwright E2E 測試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多元測試 generated skill runtime cases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做不同模型的受控 A/B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增加 tool-call effectiveness 指標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SERVICE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模型服務層：Gemma4APIServer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獨立專案，不屬於 CloudDrive　·　github.com/billwu101/Gemma4APIServer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pic>
        <p:nvPicPr>
          <p:cNvPr id="7" name="Image 0" descr="/Users/linyueying/Library/CloudStorage/OneDrive-Personal/NTUST/Mester0/CloudDrive/doc/ppt/07-gatew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788" y="1664208"/>
            <a:ext cx="9909944" cy="2148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4023360"/>
            <a:ext cx="3553968" cy="1828800"/>
          </a:xfrm>
          <a:prstGeom prst="roundRect">
            <a:avLst>
              <a:gd name="adj" fmla="val 30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4023360"/>
            <a:ext cx="50292" cy="182880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41696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雙協定相容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68096" y="4572000"/>
            <a:ext cx="3151632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同一個本地 Gemma 4 26B，同時以 OpenAI 相容與 Anthropic 相容 API 對外提供。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303776" y="4023360"/>
            <a:ext cx="3553968" cy="1828800"/>
          </a:xfrm>
          <a:prstGeom prst="roundRect">
            <a:avLst>
              <a:gd name="adj" fmla="val 30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03776" y="4023360"/>
            <a:ext cx="50292" cy="182880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4" name="Text 11"/>
          <p:cNvSpPr/>
          <p:nvPr/>
        </p:nvSpPr>
        <p:spPr>
          <a:xfrm>
            <a:off x="4504944" y="41696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多金鑰 + 用量記錄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504944" y="4572000"/>
            <a:ext cx="3151632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每把金鑰獨立驗證，呼叫寫入 SQLite 用量記錄，可追溯誰用了多少。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40624" y="4023360"/>
            <a:ext cx="3553968" cy="1828800"/>
          </a:xfrm>
          <a:prstGeom prst="roundRect">
            <a:avLst>
              <a:gd name="adj" fmla="val 30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040624" y="4023360"/>
            <a:ext cx="50292" cy="182880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8" name="Text 15"/>
          <p:cNvSpPr/>
          <p:nvPr/>
        </p:nvSpPr>
        <p:spPr>
          <a:xfrm>
            <a:off x="8241792" y="41696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三個容器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241792" y="4572000"/>
            <a:ext cx="3151632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ollama / gateway / cloudflared；KEEP_ALIVE=-1 讓模型常駐記憶體。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B06A6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/v1/* 相容路徑自動注入 think:false（對應 DEC-033）；原生 /api/* 保持透明轉發，不改寫請求。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SERVICE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為什麼把模型服務拆成獨立專案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pic>
        <p:nvPicPr>
          <p:cNvPr id="6" name="Image 0" descr="/Users/linyueying/Library/CloudStorage/OneDrive-Personal/NTUST/Mester0/CloudDrive/doc/ppt/06-bound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84936"/>
            <a:ext cx="5623560" cy="306283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64808" y="1280160"/>
            <a:ext cx="5129784" cy="1737360"/>
          </a:xfrm>
          <a:prstGeom prst="roundRect">
            <a:avLst>
              <a:gd name="adj" fmla="val 315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64808" y="1280160"/>
            <a:ext cx="50292" cy="173736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9" name="Text 6"/>
          <p:cNvSpPr/>
          <p:nvPr/>
        </p:nvSpPr>
        <p:spPr>
          <a:xfrm>
            <a:off x="6665976" y="1426464"/>
            <a:ext cx="4745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職責邊界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665976" y="1828800"/>
            <a:ext cx="4727448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CloudDrive 是應用，不該內含 GPU 推論基礎設施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主機是 Windows + WSL2 + NVIDIA，與部署主機不同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64808" y="3145536"/>
            <a:ext cx="5129784" cy="1225296"/>
          </a:xfrm>
          <a:prstGeom prst="roundRect">
            <a:avLst>
              <a:gd name="adj" fmla="val 447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64808" y="3145536"/>
            <a:ext cx="50292" cy="122529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3" name="Text 10"/>
          <p:cNvSpPr/>
          <p:nvPr/>
        </p:nvSpPr>
        <p:spPr>
          <a:xfrm>
            <a:off x="6665976" y="3291840"/>
            <a:ext cx="4745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帶來的好處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665976" y="3694176"/>
            <a:ext cx="472744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其他專案也能共用同一台 GPU 主機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金鑰與用量控管集中在 gateway，不散落各應用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566928" y="4480560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CloudDrive 這一端只需要三個環境變數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66928" y="4828032"/>
            <a:ext cx="11027664" cy="987552"/>
          </a:xfrm>
          <a:prstGeom prst="roundRect">
            <a:avLst>
              <a:gd name="adj" fmla="val 4630"/>
            </a:avLst>
          </a:prstGeom>
          <a:solidFill>
            <a:srgbClr val="13212A"/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4882896"/>
            <a:ext cx="1047902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9FE8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LLM_PROVIDER=openai_compatible</a:t>
            </a:r>
            <a:endParaRPr lang="en-US" sz="15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9FE8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LLM_BASE_URL=https://&lt;gateway&gt;/v1</a:t>
            </a:r>
            <a:endParaRPr lang="en-US" sz="15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9FE8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LLM_API_KEY=&lt;金鑰&gt;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566928" y="5943600"/>
            <a:ext cx="11027664" cy="548640"/>
          </a:xfrm>
          <a:prstGeom prst="roundRect">
            <a:avLst>
              <a:gd name="adj" fmla="val 8333"/>
            </a:avLst>
          </a:prstGeom>
          <a:solidFill>
            <a:srgbClr val="EFF3F6"/>
          </a:solidFill>
          <a:ln w="13970">
            <a:solidFill>
              <a:srgbClr val="B06A6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971032"/>
            <a:ext cx="105887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抽換成本因此趨近於零 —— 換模型、換供應商、退回本機 Ollama，都只是改這三行。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SERVICE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營運監控：金鑰用量與即時日誌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gateway 附帶的終端儀表板，一眼看出 GPU 是否還活著、每把金鑰用了多少、請求是否正常。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591056"/>
            <a:ext cx="7607808" cy="4023360"/>
          </a:xfrm>
          <a:prstGeom prst="roundRect">
            <a:avLst>
              <a:gd name="adj" fmla="val 1136"/>
            </a:avLst>
          </a:prstGeom>
          <a:solidFill>
            <a:srgbClr val="0F1519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737360"/>
            <a:ext cx="70957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6B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GEMMA4 API DASHBOARD</a:t>
            </a:r>
            <a:pPr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—    2026-08-01 10:50:58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0312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C4D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SYSTEM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2414016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CPU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426464" y="2487168"/>
            <a:ext cx="1188720" cy="109728"/>
          </a:xfrm>
          <a:prstGeom prst="rect">
            <a:avLst/>
          </a:prstGeom>
          <a:solidFill>
            <a:srgbClr val="22303A"/>
          </a:solidFill>
          <a:ln/>
        </p:spPr>
      </p:sp>
      <p:sp>
        <p:nvSpPr>
          <p:cNvPr id="12" name="Shape 10"/>
          <p:cNvSpPr/>
          <p:nvPr/>
        </p:nvSpPr>
        <p:spPr>
          <a:xfrm>
            <a:off x="1426464" y="2487168"/>
            <a:ext cx="117683" cy="109728"/>
          </a:xfrm>
          <a:prstGeom prst="rect">
            <a:avLst/>
          </a:prstGeom>
          <a:solidFill>
            <a:srgbClr val="6BCF7F"/>
          </a:solidFill>
          <a:ln/>
        </p:spPr>
      </p:sp>
      <p:sp>
        <p:nvSpPr>
          <p:cNvPr id="13" name="Text 11"/>
          <p:cNvSpPr/>
          <p:nvPr/>
        </p:nvSpPr>
        <p:spPr>
          <a:xfrm>
            <a:off x="2670048" y="2414016"/>
            <a:ext cx="7863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9.9%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84448" y="2414016"/>
            <a:ext cx="749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RAM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370832" y="2487168"/>
            <a:ext cx="1188720" cy="109728"/>
          </a:xfrm>
          <a:prstGeom prst="rect">
            <a:avLst/>
          </a:prstGeom>
          <a:solidFill>
            <a:srgbClr val="22303A"/>
          </a:solidFill>
          <a:ln/>
        </p:spPr>
      </p:sp>
      <p:sp>
        <p:nvSpPr>
          <p:cNvPr id="16" name="Shape 14"/>
          <p:cNvSpPr/>
          <p:nvPr/>
        </p:nvSpPr>
        <p:spPr>
          <a:xfrm>
            <a:off x="4370832" y="2487168"/>
            <a:ext cx="414863" cy="109728"/>
          </a:xfrm>
          <a:prstGeom prst="rect">
            <a:avLst/>
          </a:prstGeom>
          <a:solidFill>
            <a:srgbClr val="6BCF7F"/>
          </a:solidFill>
          <a:ln/>
        </p:spPr>
      </p:sp>
      <p:sp>
        <p:nvSpPr>
          <p:cNvPr id="17" name="Text 15"/>
          <p:cNvSpPr/>
          <p:nvPr/>
        </p:nvSpPr>
        <p:spPr>
          <a:xfrm>
            <a:off x="5614416" y="2414016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33.4 / 95.7 GB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2724912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GPU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426464" y="2798064"/>
            <a:ext cx="1188720" cy="109728"/>
          </a:xfrm>
          <a:prstGeom prst="rect">
            <a:avLst/>
          </a:prstGeom>
          <a:solidFill>
            <a:srgbClr val="22303A"/>
          </a:solidFill>
          <a:ln/>
        </p:spPr>
      </p:sp>
      <p:sp>
        <p:nvSpPr>
          <p:cNvPr id="20" name="Shape 18"/>
          <p:cNvSpPr/>
          <p:nvPr/>
        </p:nvSpPr>
        <p:spPr>
          <a:xfrm>
            <a:off x="1426464" y="2798064"/>
            <a:ext cx="320954" cy="109728"/>
          </a:xfrm>
          <a:prstGeom prst="rect">
            <a:avLst/>
          </a:prstGeom>
          <a:solidFill>
            <a:srgbClr val="6BCF7F"/>
          </a:solidFill>
          <a:ln/>
        </p:spPr>
      </p:sp>
      <p:sp>
        <p:nvSpPr>
          <p:cNvPr id="21" name="Text 19"/>
          <p:cNvSpPr/>
          <p:nvPr/>
        </p:nvSpPr>
        <p:spPr>
          <a:xfrm>
            <a:off x="2670048" y="2724912"/>
            <a:ext cx="7863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27.0%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84448" y="2724912"/>
            <a:ext cx="749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VRAM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370832" y="2798064"/>
            <a:ext cx="1188720" cy="109728"/>
          </a:xfrm>
          <a:prstGeom prst="rect">
            <a:avLst/>
          </a:prstGeom>
          <a:solidFill>
            <a:srgbClr val="22303A"/>
          </a:solidFill>
          <a:ln/>
        </p:spPr>
      </p:sp>
      <p:sp>
        <p:nvSpPr>
          <p:cNvPr id="24" name="Shape 22"/>
          <p:cNvSpPr/>
          <p:nvPr/>
        </p:nvSpPr>
        <p:spPr>
          <a:xfrm>
            <a:off x="4370832" y="2798064"/>
            <a:ext cx="1040130" cy="109728"/>
          </a:xfrm>
          <a:prstGeom prst="rect">
            <a:avLst/>
          </a:prstGeom>
          <a:solidFill>
            <a:srgbClr val="E0616B"/>
          </a:solidFill>
          <a:ln/>
        </p:spPr>
      </p:sp>
      <p:sp>
        <p:nvSpPr>
          <p:cNvPr id="25" name="Text 23"/>
          <p:cNvSpPr/>
          <p:nvPr/>
        </p:nvSpPr>
        <p:spPr>
          <a:xfrm>
            <a:off x="5614416" y="2724912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21.0 / 24.0 GB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22960" y="3054096"/>
            <a:ext cx="7095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溫度 38°C   功耗 54 W   風扇 33%   模型 gemma4:26b · 100% GPU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22960" y="340156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C4D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TOKEN 使用量（每把金鑰）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22960" y="369417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金鑰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194560" y="369417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請求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474720" y="369417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prompt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892040" y="369417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output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172200" y="369417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總 token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22960" y="396849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alice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2194560" y="396849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16,598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474720" y="396849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159,282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92040" y="396849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14,583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172200" y="396849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173,865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22960" y="424281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dev_bill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2194560" y="424281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6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474720" y="424281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8,773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4892040" y="424281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483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172200" y="424281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9,256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22960" y="451713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合計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2194560" y="451713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16,604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3474720" y="451713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168,055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4892040" y="451713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15,066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172200" y="451713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183,121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822960" y="4828032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C4D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LOG   即時連線（2xx 綠 / 4xx 黃 / 5xx 紅）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822960" y="5084064"/>
            <a:ext cx="70957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10:33:45  INFO  POST /v1/chat/completions  200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822960" y="5312664"/>
            <a:ext cx="70957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10:45:55  INFO  POST /v1/chat/completions  200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8394192" y="1591056"/>
            <a:ext cx="3200400" cy="1225296"/>
          </a:xfrm>
          <a:prstGeom prst="roundRect">
            <a:avLst>
              <a:gd name="adj" fmla="val 447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394192" y="1591056"/>
            <a:ext cx="50292" cy="122529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53" name="Text 51"/>
          <p:cNvSpPr/>
          <p:nvPr/>
        </p:nvSpPr>
        <p:spPr>
          <a:xfrm>
            <a:off x="8595360" y="1737360"/>
            <a:ext cx="2816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為什麼要有面板</a:t>
            </a:r>
            <a:endParaRPr lang="en-US" sz="1700" dirty="0"/>
          </a:p>
        </p:txBody>
      </p:sp>
      <p:sp>
        <p:nvSpPr>
          <p:cNvPr id="54" name="Text 52"/>
          <p:cNvSpPr/>
          <p:nvPr/>
        </p:nvSpPr>
        <p:spPr>
          <a:xfrm>
            <a:off x="8595360" y="2139696"/>
            <a:ext cx="279806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與 VRAM 一眼可見，模型崩潰時能立刻判斷。</a:t>
            </a:r>
            <a:endParaRPr lang="en-US" sz="1500" dirty="0"/>
          </a:p>
        </p:txBody>
      </p:sp>
      <p:sp>
        <p:nvSpPr>
          <p:cNvPr id="55" name="Shape 53"/>
          <p:cNvSpPr/>
          <p:nvPr/>
        </p:nvSpPr>
        <p:spPr>
          <a:xfrm>
            <a:off x="8394192" y="2944368"/>
            <a:ext cx="3200400" cy="1225296"/>
          </a:xfrm>
          <a:prstGeom prst="roundRect">
            <a:avLst>
              <a:gd name="adj" fmla="val 447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394192" y="2944368"/>
            <a:ext cx="50292" cy="122529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57" name="Text 55"/>
          <p:cNvSpPr/>
          <p:nvPr/>
        </p:nvSpPr>
        <p:spPr>
          <a:xfrm>
            <a:off x="8595360" y="3090672"/>
            <a:ext cx="2816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每把金鑰獨立計量</a:t>
            </a:r>
            <a:endParaRPr lang="en-US" sz="1700" dirty="0"/>
          </a:p>
        </p:txBody>
      </p:sp>
      <p:sp>
        <p:nvSpPr>
          <p:cNvPr id="58" name="Text 56"/>
          <p:cNvSpPr/>
          <p:nvPr/>
        </p:nvSpPr>
        <p:spPr>
          <a:xfrm>
            <a:off x="8595360" y="3493008"/>
            <a:ext cx="279806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請求數與 token 寫入 SQLite，可追溯誰用了多少。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8394192" y="4297680"/>
            <a:ext cx="3200400" cy="1225296"/>
          </a:xfrm>
          <a:prstGeom prst="roundRect">
            <a:avLst>
              <a:gd name="adj" fmla="val 447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394192" y="4297680"/>
            <a:ext cx="50292" cy="122529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61" name="Text 59"/>
          <p:cNvSpPr/>
          <p:nvPr/>
        </p:nvSpPr>
        <p:spPr>
          <a:xfrm>
            <a:off x="8595360" y="4443984"/>
            <a:ext cx="2816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日誌依狀態碼上色</a:t>
            </a:r>
            <a:endParaRPr lang="en-US" sz="1700" dirty="0"/>
          </a:p>
        </p:txBody>
      </p:sp>
      <p:sp>
        <p:nvSpPr>
          <p:cNvPr id="62" name="Text 60"/>
          <p:cNvSpPr/>
          <p:nvPr/>
        </p:nvSpPr>
        <p:spPr>
          <a:xfrm>
            <a:off x="8595360" y="4846320"/>
            <a:ext cx="279806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2xx 綠、4xx 黃、5xx 紅，掃一眼就知道有無異常。</a:t>
            </a:r>
            <a:endParaRPr lang="en-US" sz="1500" dirty="0"/>
          </a:p>
        </p:txBody>
      </p:sp>
      <p:sp>
        <p:nvSpPr>
          <p:cNvPr id="63" name="Shape 61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B06A6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VRAM 21.0 / 24.0 GB —— gemma4:26b 以 KEEP_ALIVE=-1 常駐，幾乎吃滿單張卡。這是「Ollama 單併發」限制的直接來源，也是 DEC-030 工作流不並行的實務理由之一。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系統部署：四個節點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pic>
        <p:nvPicPr>
          <p:cNvPr id="6" name="Image 0" descr="/Users/linyueying/Library/CloudStorage/OneDrive-Personal/NTUST/Mester0/CloudDrive/doc/ppt/02-deplo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91834" y="1243584"/>
            <a:ext cx="8177852" cy="42245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5577840"/>
            <a:ext cx="3553968" cy="3657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5669280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Tunnel 主動向外連線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66928" y="5961888"/>
            <a:ext cx="355396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主機不需開放任何對外埠、不需固定 IP，天然隱藏源站位址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303776" y="5577840"/>
            <a:ext cx="3553968" cy="3657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1" name="Text 8"/>
          <p:cNvSpPr/>
          <p:nvPr/>
        </p:nvSpPr>
        <p:spPr>
          <a:xfrm>
            <a:off x="4303776" y="5669280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nginx 為唯一入口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4303776" y="5961888"/>
            <a:ext cx="355396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同源反代 /api，沒有跨來源問題，換主機不需重建前端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40624" y="5577840"/>
            <a:ext cx="3553968" cy="3657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4" name="Text 11"/>
          <p:cNvSpPr/>
          <p:nvPr/>
        </p:nvSpPr>
        <p:spPr>
          <a:xfrm>
            <a:off x="8040624" y="5669280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內網隔離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8040624" y="5961888"/>
            <a:ext cx="355396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後端只綁本機迴路位址，資料庫不對公網開放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Docker 與 CI/CD：從管線到容器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pic>
        <p:nvPicPr>
          <p:cNvPr id="6" name="Image 0" descr="/Users/linyueying/Library/CloudStorage/OneDrive-Personal/NTUST/Mester0/CloudDrive/doc/ppt/03-docker-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05469" y="1243584"/>
            <a:ext cx="8350582" cy="38770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5248656"/>
            <a:ext cx="2619756" cy="3657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5340096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映像只由 CI 建立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66928" y="5650992"/>
            <a:ext cx="26197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以完整 commit SHA 標記，不使用 latest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369564" y="5248656"/>
            <a:ext cx="2619756" cy="3657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1" name="Text 8"/>
          <p:cNvSpPr/>
          <p:nvPr/>
        </p:nvSpPr>
        <p:spPr>
          <a:xfrm>
            <a:off x="3369564" y="5340096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Runner 最小權限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3369564" y="5650992"/>
            <a:ext cx="26197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非 root、不加入 docker 群組，只能跑單一固定腳本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172200" y="5248656"/>
            <a:ext cx="2619756" cy="36576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14" name="Text 11"/>
          <p:cNvSpPr/>
          <p:nvPr/>
        </p:nvSpPr>
        <p:spPr>
          <a:xfrm>
            <a:off x="6172200" y="5340096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部署可回滾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172200" y="5650992"/>
            <a:ext cx="26197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健康檢查連續失敗即自動回到上一個可用版本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974836" y="5248656"/>
            <a:ext cx="2619756" cy="3657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7" name="Text 14"/>
          <p:cNvSpPr/>
          <p:nvPr/>
        </p:nvSpPr>
        <p:spPr>
          <a:xfrm>
            <a:off x="8974836" y="5340096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密鑰只在主機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8974836" y="5650992"/>
            <a:ext cx="26197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正式環境設定不進版控，管線只做缺鍵警告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本機 · CI · 正式部署：三個環境差在哪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差異全部收斂在設定，不在程式碼——三份 .env 範本就是三個環境的規格書。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27664" cy="914400"/>
        </p:xfrm>
        <a:graphic>
          <a:graphicData uri="http://schemas.openxmlformats.org/drawingml/2006/table">
            <a:tbl>
              <a:tblPr/>
              <a:tblGrid>
                <a:gridCol w="1975104"/>
                <a:gridCol w="3054096"/>
                <a:gridCol w="2889504"/>
                <a:gridCol w="31089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本機開發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CI（GitHub Actions）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正式部署（CD）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8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設定來源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cp .env.example .env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無 .env，直接寫在 ci.yml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範本填真值放主機，不進 Git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資料庫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cloud_drive／弱密碼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clouddrive_test（服務容器）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高強度密碼，只走容器網路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JWT 金鑰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development-only-change-me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不需要（測試自簽 token）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openssl rand -hex 32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AI 模型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ollama → host.docker.internal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不連模型，eval 走 mock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openai_compatible → gateway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對外曝露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port 8088／8000／5432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無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Cloudflare Tunnel，零對外埠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映像來源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docker compose --build 本地建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建置並推 GHCR（commit SHA）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只拉 GHCR 的 SHA，不在主機建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608576"/>
            <a:ext cx="3553968" cy="3657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4700016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範本進版控，真值不進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66928" y="5010912"/>
            <a:ext cx="3553968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範本本身就是可讀的規格；真 .env 只存部署主機（chmod 600），管線只做缺鍵警告。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303776" y="4608576"/>
            <a:ext cx="3553968" cy="3657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2" name="Text 9"/>
          <p:cNvSpPr/>
          <p:nvPr/>
        </p:nvSpPr>
        <p:spPr>
          <a:xfrm>
            <a:off x="4303776" y="4700016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CI 根本不需要 .env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303776" y="5010912"/>
            <a:ext cx="3553968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它不跑完整系統，只跑測試——env 寫死在 workflow，無密鑰可外洩，也不會因誰的機器設定不同而變綠變紅。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040624" y="4608576"/>
            <a:ext cx="3553968" cy="3657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5" name="Text 12"/>
          <p:cNvSpPr/>
          <p:nvPr/>
        </p:nvSpPr>
        <p:spPr>
          <a:xfrm>
            <a:off x="8040624" y="4700016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模型接法三邊都不同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040624" y="5010912"/>
            <a:ext cx="3553968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mock ／ 本機 Ollama ／ 遠端 gateway，程式碼一行沒改——這正是 LLMClient 抽象與 DEC-018 的價值。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66928" y="5980176"/>
            <a:ext cx="11027664" cy="566928"/>
          </a:xfrm>
          <a:prstGeom prst="roundRect">
            <a:avLst>
              <a:gd name="adj" fmla="val 8065"/>
            </a:avLst>
          </a:prstGeom>
          <a:solidFill>
            <a:srgbClr val="EFF3F6"/>
          </a:solidFill>
          <a:ln w="13970">
            <a:solidFill>
              <a:srgbClr val="2F6F8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6007608"/>
            <a:ext cx="105887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唯一只出現在正式環境的變數是 TUNNEL_TOKEN —— 對外曝露是正式環境獨有的能力，本機與 CI 都不該擁有。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部署實戰：自架 runner 與最小權限設計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2026-07-11 首次上線　·　Ubuntu 24.04　·　CI 與 CD 刻意分離在兩種 runner 上。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09344"/>
            <a:ext cx="2647188" cy="1024128"/>
          </a:xfrm>
          <a:prstGeom prst="roundRect">
            <a:avLst>
              <a:gd name="adj" fmla="val 4464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00784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640080" y="2139696"/>
            <a:ext cx="25008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正式環境容器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60420" y="1609344"/>
            <a:ext cx="2647188" cy="1024128"/>
          </a:xfrm>
          <a:prstGeom prst="roundRect">
            <a:avLst>
              <a:gd name="adj" fmla="val 4464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33572" y="1700784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60s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3433572" y="2139696"/>
            <a:ext cx="25008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健康檢查輪詢上限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逾時自動回滾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53912" y="1609344"/>
            <a:ext cx="2647188" cy="1024128"/>
          </a:xfrm>
          <a:prstGeom prst="roundRect">
            <a:avLst>
              <a:gd name="adj" fmla="val 4464"/>
            </a:avLst>
          </a:prstGeom>
          <a:solidFill>
            <a:srgbClr val="EFF3F6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27064" y="1700784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6227064" y="2139696"/>
            <a:ext cx="25008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字元 SHA 當映像 tag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不使用 latest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947404" y="1609344"/>
            <a:ext cx="2647188" cy="1024128"/>
          </a:xfrm>
          <a:prstGeom prst="roundRect">
            <a:avLst>
              <a:gd name="adj" fmla="val 4464"/>
            </a:avLst>
          </a:prstGeom>
          <a:solidFill>
            <a:srgbClr val="EFF3F6"/>
          </a:solidFill>
          <a:ln w="12700">
            <a:solidFill>
              <a:srgbClr val="B06A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20556" y="1700784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9020556" y="2139696"/>
            <a:ext cx="25008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runner 可用的 sudo 指令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且該腳本不可寫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66928" y="2761488"/>
            <a:ext cx="6675120" cy="2542032"/>
          </a:xfrm>
          <a:prstGeom prst="roundRect">
            <a:avLst>
              <a:gd name="adj" fmla="val 215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2761488"/>
            <a:ext cx="50292" cy="2542032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21" name="Text 19"/>
          <p:cNvSpPr/>
          <p:nvPr/>
        </p:nvSpPr>
        <p:spPr>
          <a:xfrm>
            <a:off x="768096" y="2907792"/>
            <a:ext cx="62910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deploy-cloud-drive 每次做的事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68096" y="3310128"/>
            <a:ext cx="6272784" cy="1865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驗證參數是 40 字元 SHA，且該 SHA 在 main 歷史上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自我同步：從 repo@SHA 取最新版腳本，原子替換後由新版接手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同步 compose.prod.yml，部署拓撲隨程式碼落地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.env 漂移檢查：只警告主機缺少的鍵，不同步值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pull → up -d → 輪詢 /health；失敗自動回滾上一版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424928" y="2761488"/>
            <a:ext cx="4169664" cy="2542032"/>
          </a:xfrm>
          <a:prstGeom prst="roundRect">
            <a:avLst>
              <a:gd name="adj" fmla="val 215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24928" y="2761488"/>
            <a:ext cx="50292" cy="2542032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25" name="Text 23"/>
          <p:cNvSpPr/>
          <p:nvPr/>
        </p:nvSpPr>
        <p:spPr>
          <a:xfrm>
            <a:off x="7626096" y="2907792"/>
            <a:ext cx="37856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最小權限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626096" y="3310128"/>
            <a:ext cx="3767328" cy="1865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專用非 root 帳號 gha-runner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sudoers 只授權「呼叫」單一腳本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腳本置於 /usr/local/sbin，runner 不可寫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.env 為 root:root 600，永不進 Git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能改 workspace 腳本的 PR ＝ 拿到主機 root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66928" y="5431536"/>
            <a:ext cx="11027664" cy="960120"/>
          </a:xfrm>
          <a:prstGeom prst="roundRect">
            <a:avLst>
              <a:gd name="adj" fmla="val 4762"/>
            </a:avLst>
          </a:prstGeom>
          <a:solidFill>
            <a:srgbClr val="EFF3F6"/>
          </a:solidFill>
          <a:ln w="15240">
            <a:solidFill>
              <a:srgbClr val="C9A94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5513832"/>
            <a:ext cx="10552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踩過的坑：postgres 永遠 unhealthy，但容器內的環境變數其實是好的（PR #8）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04672" y="5824728"/>
            <a:ext cx="10552176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compose 的 --env-file 是「取代」預設插值來源而非疊加。腳本只傳了僅含 IMAGE_TAG 的狀態檔，healthcheck 的 ${POSTGRES_USER} 遂成空字串——容器內部由 env_file 注入的變數其實完全正常。修法：先帶 .env 再帶狀態檔。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POSITIONING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競品比較與定位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5E8F72"/>
          </a:solidFill>
          <a:ln/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27664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788920"/>
                <a:gridCol w="2971800"/>
                <a:gridCol w="298094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比較維度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8F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Google Drive／OneDrive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8F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通用 AI 編碼工具 + 本機掛載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8F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CloudDrive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8F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資料存放位置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服務商伺服器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本機，但需掛載第三方雲端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自架主機，完全自有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AI 推論位置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服務商雲端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外部 API 為主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本地模型優先，外送需經隱私閘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對話式檔案操作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有限，且綁定其生態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可以，但需技術背景操作終端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網頁內直接對話，一般使用者可用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擴充新功能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只能等官方或第三方外掛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可寫腳本，但無核可與沙箱機制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對話生成技能，經核可與沙箱後掛選單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整碟時間點還原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僅單檔版本歷史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需自行搭配備份工具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內建時光機，可整碟倒帶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041648"/>
            <a:ext cx="2647188" cy="1170432"/>
          </a:xfrm>
          <a:prstGeom prst="roundRect">
            <a:avLst>
              <a:gd name="adj" fmla="val 3906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41330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 / 28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40080" y="4572000"/>
            <a:ext cx="25008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核心模組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前後端與整合驗收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360420" y="4041648"/>
            <a:ext cx="2647188" cy="1170432"/>
          </a:xfrm>
          <a:prstGeom prst="roundRect">
            <a:avLst>
              <a:gd name="adj" fmla="val 3906"/>
            </a:avLst>
          </a:prstGeom>
          <a:solidFill>
            <a:srgbClr val="EFF3F6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433572" y="41330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/ 3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3433572" y="4572000"/>
            <a:ext cx="25008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助理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引擎、面板、評測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153912" y="4041648"/>
            <a:ext cx="2647188" cy="1170432"/>
          </a:xfrm>
          <a:prstGeom prst="roundRect">
            <a:avLst>
              <a:gd name="adj" fmla="val 3906"/>
            </a:avLst>
          </a:prstGeom>
          <a:solidFill>
            <a:srgbClr val="EFF3F6"/>
          </a:solidFill>
          <a:ln w="12700">
            <a:solidFill>
              <a:srgbClr val="C9A94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27064" y="41330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/ 1</a:t>
            </a:r>
            <a:endParaRPr lang="en-US" sz="2500" dirty="0"/>
          </a:p>
        </p:txBody>
      </p:sp>
      <p:sp>
        <p:nvSpPr>
          <p:cNvPr id="15" name="Text 12"/>
          <p:cNvSpPr/>
          <p:nvPr/>
        </p:nvSpPr>
        <p:spPr>
          <a:xfrm>
            <a:off x="6227064" y="4572000"/>
            <a:ext cx="25008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時光機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資料層到前端五階段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947404" y="4041648"/>
            <a:ext cx="2647188" cy="1170432"/>
          </a:xfrm>
          <a:prstGeom prst="roundRect">
            <a:avLst>
              <a:gd name="adj" fmla="val 3906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020556" y="41330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33 / 33</a:t>
            </a:r>
            <a:endParaRPr lang="en-US" sz="2500" dirty="0"/>
          </a:p>
        </p:txBody>
      </p:sp>
      <p:sp>
        <p:nvSpPr>
          <p:cNvPr id="18" name="Text 15"/>
          <p:cNvSpPr/>
          <p:nvPr/>
        </p:nvSpPr>
        <p:spPr>
          <a:xfrm>
            <a:off x="9020556" y="4572000"/>
            <a:ext cx="25008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模組總計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另含外部模型接入 1 / 1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66928" y="5559552"/>
            <a:ext cx="11027664" cy="548640"/>
          </a:xfrm>
          <a:prstGeom prst="roundRect">
            <a:avLst>
              <a:gd name="adj" fmla="val 8333"/>
            </a:avLst>
          </a:prstGeom>
          <a:solidFill>
            <a:srgbClr val="EFF3F6"/>
          </a:solidFill>
          <a:ln w="13970">
            <a:solidFill>
              <a:srgbClr val="5E8F7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586984"/>
            <a:ext cx="105887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定位：以隱私與資料主權為前提，把「完整檔案管理」與「可自我擴充的本地 AI 助理」放進同一個可自架的系統。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566928" y="6236208"/>
            <a:ext cx="11027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已知限制：時光機還原硬配額檢查待補強（非阻擋）· 語意搜尋舊檔索引補建尚未背景自動化 · 評測結論綁定單一模型與硬體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VIBE CODING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為什麼需要開發規則：兩次真實事故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 AI 開發最常見的兩個失效模式，都不是「程式寫錯」，而是「看起來做完了」。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27632"/>
            <a:ext cx="5376672" cy="1920240"/>
          </a:xfrm>
          <a:prstGeom prst="roundRect">
            <a:avLst>
              <a:gd name="adj" fmla="val 285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27632"/>
            <a:ext cx="50292" cy="192024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170432" y="1773936"/>
            <a:ext cx="4590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只驗表象，沒驗功能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68096" y="2176272"/>
            <a:ext cx="4974336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PDF 預覽宣稱修好，實際只確認 &lt;iframe&gt; 有渲染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打開仍然不能預覽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17920" y="1627632"/>
            <a:ext cx="5376672" cy="1920240"/>
          </a:xfrm>
          <a:prstGeom prst="roundRect">
            <a:avLst>
              <a:gd name="adj" fmla="val 285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627632"/>
            <a:ext cx="50292" cy="192024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821424" y="1773936"/>
            <a:ext cx="4590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功能只做一半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19088" y="2176272"/>
            <a:ext cx="4974336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proposal §33 後端完成，前端完全沒接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editor 分享連結開起來與唯讀無異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66928" y="3730752"/>
            <a:ext cx="11027664" cy="658368"/>
          </a:xfrm>
          <a:prstGeom prst="roundRect">
            <a:avLst>
              <a:gd name="adj" fmla="val 6944"/>
            </a:avLst>
          </a:prstGeom>
          <a:solidFill>
            <a:srgbClr val="13212A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3730752"/>
            <a:ext cx="1047902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兩者的單元測試都是綠的。　測試綠 ≠ 功能可用。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4590288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同類問題在 W18 一週內又抓到 18 個 —— 全部由實機操作發現，不是單元測試</a:t>
            </a:r>
            <a:endParaRPr lang="en-US" sz="17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937760"/>
          <a:ext cx="11027664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766560"/>
                <a:gridCol w="252374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commit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9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問題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9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性質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94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1c1a63e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editor 分享不能真的編輯——只比對 owner，沒走 PermissionService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功能只做一半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28f1f78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右鍵 Share 沒接上既有的 ShareDialog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前端沒接後端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db5b2b7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資料夾內的檔案加星後，星號清單看不到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查詢範圍錯誤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VIBE CODING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Vibe Coding：用 AI 協助，但不讓 AI 發散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核心原則：不猜測意圖、文件先行、任務最小化、結果可驗證。文件沒完成前不大量產生程式碼。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45920"/>
            <a:ext cx="2606040" cy="1965960"/>
          </a:xfrm>
          <a:prstGeom prst="roundRect">
            <a:avLst>
              <a:gd name="adj" fmla="val 232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45920"/>
            <a:ext cx="2606040" cy="45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179222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78992" y="1792224"/>
            <a:ext cx="1947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需求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13232" y="2139696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F6F8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proposal.md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13232" y="2468880"/>
            <a:ext cx="23134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背景、角色、情境、功能與非功能需求、不在範圍、驗收標準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177540" y="2468880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374136" y="1645920"/>
            <a:ext cx="2606040" cy="1965960"/>
          </a:xfrm>
          <a:prstGeom prst="roundRect">
            <a:avLst>
              <a:gd name="adj" fmla="val 232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74136" y="1645920"/>
            <a:ext cx="2606040" cy="4572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6" name="Text 14"/>
          <p:cNvSpPr/>
          <p:nvPr/>
        </p:nvSpPr>
        <p:spPr>
          <a:xfrm>
            <a:off x="3520440" y="179222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886200" y="1792224"/>
            <a:ext cx="1947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詳細設計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520440" y="2139696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8F7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detailed-design/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520440" y="2468880"/>
            <a:ext cx="23134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模組劃分、依賴關係、資料結構、介面設計、錯誤處理、測試設計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984748" y="2468880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81344" y="1645920"/>
            <a:ext cx="2606040" cy="1965960"/>
          </a:xfrm>
          <a:prstGeom prst="roundRect">
            <a:avLst>
              <a:gd name="adj" fmla="val 232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81344" y="1645920"/>
            <a:ext cx="2606040" cy="4572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23" name="Text 21"/>
          <p:cNvSpPr/>
          <p:nvPr/>
        </p:nvSpPr>
        <p:spPr>
          <a:xfrm>
            <a:off x="6327648" y="179222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693408" y="1792224"/>
            <a:ext cx="1947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任務拆分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327648" y="2139696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E6D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tasks/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327648" y="2468880"/>
            <a:ext cx="23134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每模組一份任務文件，子任務 checklist 與驗收條件，標示依賴順序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791956" y="2468880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988552" y="1645920"/>
            <a:ext cx="2606040" cy="1965960"/>
          </a:xfrm>
          <a:prstGeom prst="roundRect">
            <a:avLst>
              <a:gd name="adj" fmla="val 232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88552" y="1645920"/>
            <a:ext cx="2606040" cy="4572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30" name="Text 28"/>
          <p:cNvSpPr/>
          <p:nvPr/>
        </p:nvSpPr>
        <p:spPr>
          <a:xfrm>
            <a:off x="9134856" y="179222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9500616" y="1792224"/>
            <a:ext cx="1947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執行 Prompt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134856" y="2139696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06A6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prompt.md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134856" y="2468880"/>
            <a:ext cx="23134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主／子代理責任、任務分派、平行規則、測試要求、禁止事項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566928" y="3840480"/>
            <a:ext cx="5376672" cy="1783080"/>
          </a:xfrm>
          <a:prstGeom prst="roundRect">
            <a:avLst>
              <a:gd name="adj" fmla="val 307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6928" y="3840480"/>
            <a:ext cx="50292" cy="178308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36" name="Text 34"/>
          <p:cNvSpPr/>
          <p:nvPr/>
        </p:nvSpPr>
        <p:spPr>
          <a:xfrm>
            <a:off x="768096" y="398678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實際幫上什麼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768096" y="4389120"/>
            <a:ext cx="4974336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依任務文件實作模組並同時補測試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生成 eval 案例與重現問題的最小測試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協助定位重複生成與截斷類問題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217920" y="3840480"/>
            <a:ext cx="5376672" cy="1783080"/>
          </a:xfrm>
          <a:prstGeom prst="roundRect">
            <a:avLst>
              <a:gd name="adj" fmla="val 307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217920" y="3840480"/>
            <a:ext cx="50292" cy="178308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40" name="Text 38"/>
          <p:cNvSpPr/>
          <p:nvPr/>
        </p:nvSpPr>
        <p:spPr>
          <a:xfrm>
            <a:off x="6419088" y="398678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刻意設下的限制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6419088" y="4389120"/>
            <a:ext cx="4974336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不得在需求未確認時直接建立完整系統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不得跳過測試換取速度、不得偽造測試結果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文件與程式碼不一致時不得標記完成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VIBE CODING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規則怎麼被驗證有效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11027664" cy="1225296"/>
          </a:xfrm>
          <a:prstGeom prst="roundRect">
            <a:avLst>
              <a:gd name="adj" fmla="val 3731"/>
            </a:avLst>
          </a:prstGeom>
          <a:solidFill>
            <a:srgbClr val="EFF3F6"/>
          </a:solidFill>
          <a:ln w="15240">
            <a:solidFill>
              <a:srgbClr val="C9A9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371600"/>
            <a:ext cx="104790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同一套「量化 → 修正 → 驗證」，用在流程本身，和 DEC-031/032/033 用在模型上，是同構的。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41248" y="1792224"/>
            <a:ext cx="1047902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模型端：發現跳針 → 加機制約束 → eval 量測歸零。　流程端：發現「測試綠但功能壞」→ 新增「使用者可見功能一律瀏覽器實測」硬規則 → 用 commit 紀錄驗證抓到的 bug 數。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2724912"/>
            <a:ext cx="2647188" cy="1481328"/>
          </a:xfrm>
          <a:prstGeom prst="roundRect">
            <a:avLst>
              <a:gd name="adj" fmla="val 3086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81635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39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640080" y="3255264"/>
            <a:ext cx="25008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條 DEC 決策紀錄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每個決定可追溯、可質疑、可翻案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360420" y="2724912"/>
            <a:ext cx="2647188" cy="1481328"/>
          </a:xfrm>
          <a:prstGeom prst="roundRect">
            <a:avLst>
              <a:gd name="adj" fmla="val 3086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33572" y="281635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1,389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3433572" y="3255264"/>
            <a:ext cx="25008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測試全綠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後端 955+73 · 前端 361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53912" y="2724912"/>
            <a:ext cx="2647188" cy="1481328"/>
          </a:xfrm>
          <a:prstGeom prst="roundRect">
            <a:avLst>
              <a:gd name="adj" fmla="val 3086"/>
            </a:avLst>
          </a:prstGeom>
          <a:solidFill>
            <a:srgbClr val="EFF3F6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27064" y="281635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6227064" y="3255264"/>
            <a:ext cx="25008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項完成定義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全數通過才算完成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947404" y="2724912"/>
            <a:ext cx="2647188" cy="1481328"/>
          </a:xfrm>
          <a:prstGeom prst="roundRect">
            <a:avLst>
              <a:gd name="adj" fmla="val 3086"/>
            </a:avLst>
          </a:prstGeom>
          <a:solidFill>
            <a:srgbClr val="EFF3F6"/>
          </a:solidFill>
          <a:ln w="12700">
            <a:solidFill>
              <a:srgbClr val="C9A94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20556" y="281635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9020556" y="3255264"/>
            <a:ext cx="25008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個 fix（W18 單週）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全來自實機操作驗證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66928" y="4407408"/>
            <a:ext cx="11027664" cy="1280160"/>
          </a:xfrm>
          <a:prstGeom prst="roundRect">
            <a:avLst>
              <a:gd name="adj" fmla="val 428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4407408"/>
            <a:ext cx="50292" cy="128016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23" name="Text 21"/>
          <p:cNvSpPr/>
          <p:nvPr/>
        </p:nvSpPr>
        <p:spPr>
          <a:xfrm>
            <a:off x="768096" y="4553712"/>
            <a:ext cx="106436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「完成」的定義（八項全過，缺一不可）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768096" y="4956048"/>
            <a:ext cx="1062532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功能實作　·　單元測試通過　·　型別檢查通過　·　Ruff 通過　·　使用者可見功能已瀏覽器實測　·　文件已更新　·　checklist 已更新　·　無未說明技術債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18 週訓練期軌跡（3/23 – 7/26）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 10 週打底與找題目，後 8 週密集產出。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6420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64208"/>
            <a:ext cx="50292" cy="64008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66420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打底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27048" y="166420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W1–3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633472" y="166420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3/23 – 4/12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005072" y="168249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VM + Ubuntu + SSH、Docker、Python 虛擬環境比較（conda・venv・pyenv・uv）、Git 與 GitHub；技術棧定案 React + FastAPI + PostgreSQL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928" y="239572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395728"/>
            <a:ext cx="50292" cy="64008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5" name="Text 13"/>
          <p:cNvSpPr/>
          <p:nvPr/>
        </p:nvSpPr>
        <p:spPr>
          <a:xfrm>
            <a:off x="768096" y="239572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摸索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527048" y="239572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W4–10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33472" y="239572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4/13 – 5/31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005072" y="241401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段考 2 週 + 專題方向討論 5 週；釐清前後端與資料庫的關係、整理 AI 輔助開發流程；題目從購物網站換到 CloudDrive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66928" y="312724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127248"/>
            <a:ext cx="50292" cy="64008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21" name="Text 19"/>
          <p:cNvSpPr/>
          <p:nvPr/>
        </p:nvSpPr>
        <p:spPr>
          <a:xfrm>
            <a:off x="768096" y="312724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6DA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起步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527048" y="312724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W11–12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633472" y="312724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6/1 – 6/14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005072" y="314553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Caddy + Cloudflare DNS 憑證，打通 HTTPS 反向代理；6/13 一天建立 28 模組骨架，6/14 認證流程與批次選取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66928" y="385876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6928" y="3858768"/>
            <a:ext cx="50292" cy="64008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27" name="Text 25"/>
          <p:cNvSpPr/>
          <p:nvPr/>
        </p:nvSpPr>
        <p:spPr>
          <a:xfrm>
            <a:off x="768096" y="385876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爆發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527048" y="385876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W13–14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2633472" y="385876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6/15 – 6/28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005072" y="387705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助理 Harness（6/17 單日 46 commits）、時光機、全文與語意搜尋、外部模型 OpenAI／Codex 接入、文件重構 + CI/CD 落地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66928" y="459028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66928" y="4590288"/>
            <a:ext cx="50292" cy="64008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33" name="Text 31"/>
          <p:cNvSpPr/>
          <p:nvPr/>
        </p:nvSpPr>
        <p:spPr>
          <a:xfrm>
            <a:off x="768096" y="459028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9A94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收斂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1527048" y="459028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W15–18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2633472" y="459028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6/29 – 7/26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4005072" y="460857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harness 歸類文件與 CLAUDE.md 規則強化；detailed-design 拆模組、需求↔設計對齊；分片續傳、公開分享連結、CD 加 Tunnel；W18 單週 66 commits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566928" y="5413248"/>
            <a:ext cx="2647188" cy="1078992"/>
          </a:xfrm>
          <a:prstGeom prst="roundRect">
            <a:avLst>
              <a:gd name="adj" fmla="val 4237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55046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224</a:t>
            </a:r>
            <a:endParaRPr lang="en-US" sz="2500" dirty="0"/>
          </a:p>
        </p:txBody>
      </p:sp>
      <p:sp>
        <p:nvSpPr>
          <p:cNvPr id="39" name="Text 37"/>
          <p:cNvSpPr/>
          <p:nvPr/>
        </p:nvSpPr>
        <p:spPr>
          <a:xfrm>
            <a:off x="640080" y="5943600"/>
            <a:ext cx="25008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commits / 9 天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（6/13 – 6/21）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3360420" y="5413248"/>
            <a:ext cx="2647188" cy="1078992"/>
          </a:xfrm>
          <a:prstGeom prst="roundRect">
            <a:avLst>
              <a:gd name="adj" fmla="val 4237"/>
            </a:avLst>
          </a:prstGeom>
          <a:solidFill>
            <a:srgbClr val="EFF3F6"/>
          </a:solidFill>
          <a:ln w="12700">
            <a:solidFill>
              <a:srgbClr val="B06A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33572" y="55046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46</a:t>
            </a:r>
            <a:endParaRPr lang="en-US" sz="2500" dirty="0"/>
          </a:p>
        </p:txBody>
      </p:sp>
      <p:sp>
        <p:nvSpPr>
          <p:cNvPr id="42" name="Text 40"/>
          <p:cNvSpPr/>
          <p:nvPr/>
        </p:nvSpPr>
        <p:spPr>
          <a:xfrm>
            <a:off x="3433572" y="5943600"/>
            <a:ext cx="25008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單日最高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（6/17 · AI 助理）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6153912" y="5413248"/>
            <a:ext cx="2647188" cy="1078992"/>
          </a:xfrm>
          <a:prstGeom prst="roundRect">
            <a:avLst>
              <a:gd name="adj" fmla="val 4237"/>
            </a:avLst>
          </a:prstGeom>
          <a:solidFill>
            <a:srgbClr val="EFF3F6"/>
          </a:solidFill>
          <a:ln w="12700">
            <a:solidFill>
              <a:srgbClr val="C9A94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227064" y="55046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66</a:t>
            </a:r>
            <a:endParaRPr lang="en-US" sz="2500" dirty="0"/>
          </a:p>
        </p:txBody>
      </p:sp>
      <p:sp>
        <p:nvSpPr>
          <p:cNvPr id="45" name="Text 43"/>
          <p:cNvSpPr/>
          <p:nvPr/>
        </p:nvSpPr>
        <p:spPr>
          <a:xfrm>
            <a:off x="6227064" y="5943600"/>
            <a:ext cx="25008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W18 單週 commits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18 feat · 18 fix · 13 docs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8947404" y="5413248"/>
            <a:ext cx="2647188" cy="1078992"/>
          </a:xfrm>
          <a:prstGeom prst="roundRect">
            <a:avLst>
              <a:gd name="adj" fmla="val 4237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020556" y="55046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 + 3</a:t>
            </a:r>
            <a:endParaRPr lang="en-US" sz="2500" dirty="0"/>
          </a:p>
        </p:txBody>
      </p:sp>
      <p:sp>
        <p:nvSpPr>
          <p:cNvPr id="48" name="Text 46"/>
          <p:cNvSpPr/>
          <p:nvPr/>
        </p:nvSpPr>
        <p:spPr>
          <a:xfrm>
            <a:off x="9020556" y="5943600"/>
            <a:ext cx="25008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核心模組 + 擴充系統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39 條 DEC 決策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 AI 開發踩到的坑，與這半年學到的事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5376672" cy="2286000"/>
          </a:xfrm>
          <a:prstGeom prst="roundRect">
            <a:avLst>
              <a:gd name="adj" fmla="val 24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80160"/>
            <a:ext cx="50292" cy="228600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42646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環境問題：AI 不會主動提的那一步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68096" y="1828800"/>
            <a:ext cx="4974336" cy="1609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在 VM 裡開好 GPU 直通，卻始終抓不到裝置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給了完整設定步驟，唯獨沒說要重新開機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教訓：AI 熟悉「怎麼設定」，但不熟悉「你的機器現在是什麼狀態」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376672" cy="2286000"/>
          </a:xfrm>
          <a:prstGeom prst="roundRect">
            <a:avLst>
              <a:gd name="adj" fmla="val 24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280160"/>
            <a:ext cx="50292" cy="228600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2" name="Text 10"/>
          <p:cNvSpPr/>
          <p:nvPr/>
        </p:nvSpPr>
        <p:spPr>
          <a:xfrm>
            <a:off x="6419088" y="142646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驗證問題：功能常常只做一半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19088" y="1828800"/>
            <a:ext cx="4974336" cy="1609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前端做出介面，後端完全找不到對應端點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後端做完，前端沒接，功能等同不存在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教訓：必須自己實際操作驗證，不能相信「已完成」的回報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66928" y="3803904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從不會到會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66928" y="4169664"/>
            <a:ext cx="2619756" cy="859536"/>
          </a:xfrm>
          <a:prstGeom prst="roundRect">
            <a:avLst>
              <a:gd name="adj" fmla="val 5319"/>
            </a:avLst>
          </a:prstGeom>
          <a:solidFill>
            <a:srgbClr val="F7F9FA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4242816"/>
            <a:ext cx="24368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Git 與 GitHub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58368" y="4517136"/>
            <a:ext cx="243687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分支、PR、衝突解決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369564" y="4169664"/>
            <a:ext cx="2619756" cy="859536"/>
          </a:xfrm>
          <a:prstGeom prst="roundRect">
            <a:avLst>
              <a:gd name="adj" fmla="val 5319"/>
            </a:avLst>
          </a:prstGeom>
          <a:solidFill>
            <a:srgbClr val="F7F9FA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61004" y="4242816"/>
            <a:ext cx="24368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前後端與資料庫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3461004" y="4517136"/>
            <a:ext cx="243687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REST、ORM、非同步、migration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172200" y="4169664"/>
            <a:ext cx="2619756" cy="859536"/>
          </a:xfrm>
          <a:prstGeom prst="roundRect">
            <a:avLst>
              <a:gd name="adj" fmla="val 5319"/>
            </a:avLst>
          </a:prstGeom>
          <a:solidFill>
            <a:srgbClr val="F7F9FA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63640" y="4242816"/>
            <a:ext cx="24368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E6DA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測試與品質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263640" y="4517136"/>
            <a:ext cx="243687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單元／整合／E2E 三層，型別與靜態檢查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974836" y="4169664"/>
            <a:ext cx="2619756" cy="859536"/>
          </a:xfrm>
          <a:prstGeom prst="roundRect">
            <a:avLst>
              <a:gd name="adj" fmla="val 5319"/>
            </a:avLst>
          </a:prstGeom>
          <a:solidFill>
            <a:srgbClr val="F7F9FA"/>
          </a:solidFill>
          <a:ln w="12700">
            <a:solidFill>
              <a:srgbClr val="B0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66276" y="4242816"/>
            <a:ext cx="24368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Docker 與 CI/CD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066276" y="4517136"/>
            <a:ext cx="243687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容器化、自架 Runner、可回滾部署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66928" y="5715000"/>
            <a:ext cx="11027664" cy="786384"/>
          </a:xfrm>
          <a:prstGeom prst="roundRect">
            <a:avLst>
              <a:gd name="adj" fmla="val 5814"/>
            </a:avLst>
          </a:prstGeom>
          <a:solidFill>
            <a:srgbClr val="13212A"/>
          </a:solidFill>
          <a:ln/>
        </p:spPr>
      </p:sp>
      <p:sp>
        <p:nvSpPr>
          <p:cNvPr id="28" name="Text 26"/>
          <p:cNvSpPr/>
          <p:nvPr/>
        </p:nvSpPr>
        <p:spPr>
          <a:xfrm>
            <a:off x="841248" y="5715000"/>
            <a:ext cx="1047902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專案的價值不在功能有多少，而在「一個小模型如何被工程機制馴服」的完整證據鏈。</a:t>
            </a:r>
            <a:endParaRPr lang="en-US" sz="1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&amp;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附錄：完整欄位 ER Diagram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備 Q&amp;A 使用，不在正式報告時間內。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5E8F72"/>
          </a:solidFill>
          <a:ln/>
        </p:spPr>
      </p:sp>
      <p:pic>
        <p:nvPicPr>
          <p:cNvPr id="7" name="Image 0" descr="/Users/linyueying/Library/CloudStorage/OneDrive-Personal/NTUST/Mester0/CloudDrive/doc/ppt/01-e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95330" y="1627632"/>
            <a:ext cx="6970860" cy="48280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NTUST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CloudDrive 專題報告 v3.0</dc:title>
  <dc:subject>PptxGenJS Presentation</dc:subject>
  <dc:creator>billwu101</dc:creator>
  <cp:lastModifiedBy>billwu101</cp:lastModifiedBy>
  <cp:revision>1</cp:revision>
  <dcterms:created xsi:type="dcterms:W3CDTF">2026-08-02T11:52:08Z</dcterms:created>
  <dcterms:modified xsi:type="dcterms:W3CDTF">2026-08-02T11:52:08Z</dcterms:modified>
</cp:coreProperties>
</file>