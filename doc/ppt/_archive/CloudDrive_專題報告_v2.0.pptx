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3212A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" y="0"/>
            <a:ext cx="64008" cy="685800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508760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4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NTUST · 碩士專題報告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9659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雲端硬碟系統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1051560" y="2962656"/>
            <a:ext cx="2286000" cy="4114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21868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整合對話式 AI 助理與時光機還原的隱私導向私有雲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60" y="365760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 · 可自架 · 全流程可測試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" y="4261104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4261104"/>
            <a:ext cx="2221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React 19 + FastAPI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38728" y="4261104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4261104"/>
            <a:ext cx="2221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+ pgvector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25896" y="4261104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4261104"/>
            <a:ext cx="2221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 Gemma 4 26B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513064" y="4261104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7928" y="4261104"/>
            <a:ext cx="2221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+ CI/CD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34924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報告人：＿＿＿＿＿　·　指導教授：呂＿＿　·　2026 年 8 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97312" y="59893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這份報告怎麼讀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先看系統如何設計，再看 AI 助理如何被驗證，最後是部署、開發方法與個人回顧。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72768"/>
            <a:ext cx="3541776" cy="4069080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3541776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F6F8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61872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系統與設計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8096" y="23774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8992" y="2377440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專案概覽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29712" y="237744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– 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2651760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問題定義 · 系統全貌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8096" y="316382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78992" y="3163824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設計與資料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29712" y="316382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– 06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3438144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21 張表 · 後端模組化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09872" y="1572768"/>
            <a:ext cx="3541776" cy="4069080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9872" y="1572768"/>
            <a:ext cx="3541776" cy="4572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2" name="Shape 20"/>
          <p:cNvSpPr/>
          <p:nvPr/>
        </p:nvSpPr>
        <p:spPr>
          <a:xfrm>
            <a:off x="4492752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7E6DA8"/>
          </a:solidFill>
          <a:ln/>
        </p:spPr>
      </p:sp>
      <p:sp>
        <p:nvSpPr>
          <p:cNvPr id="23" name="Text 21"/>
          <p:cNvSpPr/>
          <p:nvPr/>
        </p:nvSpPr>
        <p:spPr>
          <a:xfrm>
            <a:off x="4492752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04816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核心：AI 助理與驗證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11040" y="23774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21936" y="2377440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助理與驗證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72656" y="237744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– 13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21936" y="2651760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六元件 · 安全邊界 · 實測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11040" y="316382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21936" y="3163824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模型服務層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72656" y="316382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– 16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21936" y="3438144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Gemma4APIServer 獨立專案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052816" y="1572768"/>
            <a:ext cx="3541776" cy="4069080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52816" y="1572768"/>
            <a:ext cx="3541776" cy="4572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35" name="Shape 33"/>
          <p:cNvSpPr/>
          <p:nvPr/>
        </p:nvSpPr>
        <p:spPr>
          <a:xfrm>
            <a:off x="8235696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C9A94E"/>
          </a:solidFill>
          <a:ln/>
        </p:spPr>
      </p:sp>
      <p:sp>
        <p:nvSpPr>
          <p:cNvPr id="36" name="Text 34"/>
          <p:cNvSpPr/>
          <p:nvPr/>
        </p:nvSpPr>
        <p:spPr>
          <a:xfrm>
            <a:off x="8235696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747760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交付、方法與回顧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253984" y="23774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564880" y="2377440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515600" y="237744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– 19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564880" y="2651760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四節點 · Docker/CI-CD · 三環境差異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53984" y="316382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564880" y="3163824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515600" y="316382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564880" y="3438144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競品比較 · 完成度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253984" y="395020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564880" y="3950208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Vibe Coding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515600" y="395020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– 23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564880" y="4224528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兩次事故 · 規則體系 · 驗證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253984" y="473659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564880" y="4736592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學習歷程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515600" y="4736592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– 25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564880" y="5010912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週軌跡 · 踩坑回顧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566928" y="5943600"/>
            <a:ext cx="11027664" cy="603504"/>
          </a:xfrm>
          <a:prstGeom prst="roundRect">
            <a:avLst>
              <a:gd name="adj" fmla="val 7576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6384" y="5971032"/>
            <a:ext cx="10588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時間有限可直接看 P.12–13（穩定性三部曲與實測數據）與 P.21–23（Vibe Coding 開發方法）—— 這兩段是報告重心。附錄 P.26 為完整欄位 ERD，備 Q&amp;A 使用。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要解決什麼問題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通用雲端硬碟把資料放在他人伺服器。要在自己掌控的儲存空間上，用自然語言完成檔案操作，目前沒有現成方案。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50292" cy="395020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70432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完整檔案管理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資料夾樹、上傳下載、預覽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垃圾桶軟刪除與還原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檔名／全文／語意三種搜尋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指定使用者分享與公開連結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檔案版本與容量統計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03776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3776" y="1627632"/>
            <a:ext cx="50292" cy="3950208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4" name="Text 12"/>
          <p:cNvSpPr/>
          <p:nvPr/>
        </p:nvSpPr>
        <p:spPr>
          <a:xfrm>
            <a:off x="4486656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907280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對話式 AI 助理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04944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自然語言操作檔案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先出計畫，破壞性操作需確認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可現場生成新技能並掛右鍵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多輪對話記憶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預設本地 Gemma 4 26B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0624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0624" y="1627632"/>
            <a:ext cx="50292" cy="395020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3504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44128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時光機整碟還原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41792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把整個硬碟倒帶到過去時間點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排程／手動／助理操作前自動快照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 checksum 去重的增量儲存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還原前自動建保命快照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獨立配額，不吃檔案空間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C9A9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三者單獨都有現成產品，但「同時成立、而且能自架」的組合沒有 —— 這就是本專案的切入點。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系統全貌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為唯一入口，同源反代 /api；中繼資料進 PostgreSQL，檔案本體交 Storage Provider。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7" name="Image 0" descr="/Users/linyueying/Library/CloudStorage/OneDrive-Personal/NTUST/Mester0/CloudDrive/doc/ppt/04-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61725"/>
            <a:ext cx="11027664" cy="153318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3602736"/>
            <a:ext cx="50292" cy="221284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唯一入口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 → backend，零 CORS、換主機免重建前端。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對外只有這一個入口，後端不直接曝露。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03776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03776" y="3602736"/>
            <a:ext cx="50292" cy="2212848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4" name="Text 11"/>
          <p:cNvSpPr/>
          <p:nvPr/>
        </p:nvSpPr>
        <p:spPr>
          <a:xfrm>
            <a:off x="4504944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儲存層可抽換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04944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StorageProvider 為 Protocol 介面，本機實作可替換為物件儲存。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中繼資料與檔案本體以 storage_key 關聯。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0624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0624" y="3602736"/>
            <a:ext cx="50292" cy="2212848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8" name="Text 15"/>
          <p:cNvSpPr/>
          <p:nvPr/>
        </p:nvSpPr>
        <p:spPr>
          <a:xfrm>
            <a:off x="8241792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推論預設本地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41792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Ollama Gemma 4 26B；外送需經隱私閘，且預設關閉。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 Ollama 的環境仍可跑起核心功能。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28 個核心模組 + 3 個擴充系統（AI 助理 · 時光機 · 外部模型接入）；模組間只透過 service 層互相依賴。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資料模型：21 張表、六個子系統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pic>
        <p:nvPicPr>
          <p:cNvPr id="6" name="Image 0" descr="/Users/linyueying/Library/CloudStorage/OneDrive-Personal/NTUST/Mester0/CloudDrive/doc/ppt/01-erd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401" y="1243584"/>
            <a:ext cx="5846134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96328" y="1353312"/>
            <a:ext cx="45720" cy="93268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5"/>
          <p:cNvSpPr/>
          <p:nvPr/>
        </p:nvSpPr>
        <p:spPr>
          <a:xfrm>
            <a:off x="7360920" y="135331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drive_items 單表樹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60920" y="168249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parent_id 自關聯，檔案與資料夾同表管理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96328" y="2450592"/>
            <a:ext cx="45720" cy="932688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1" name="Text 8"/>
          <p:cNvSpPr/>
          <p:nvPr/>
        </p:nvSpPr>
        <p:spPr>
          <a:xfrm>
            <a:off x="7360920" y="245059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星號個人化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360920" y="277977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user_item_preferences 為權威來源，分享互不污染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96328" y="3547872"/>
            <a:ext cx="45720" cy="932688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4" name="Text 11"/>
          <p:cNvSpPr/>
          <p:nvPr/>
        </p:nvSpPr>
        <p:spPr>
          <a:xfrm>
            <a:off x="7360920" y="354787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憑證只存 hash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360920" y="387705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refresh token 與分享連結 token 皆不存明文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196328" y="4645152"/>
            <a:ext cx="45720" cy="93268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7" name="Text 14"/>
          <p:cNvSpPr/>
          <p:nvPr/>
        </p:nvSpPr>
        <p:spPr>
          <a:xfrm>
            <a:off x="7360920" y="464515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版本與去重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360920" y="497433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file_versions + checksum 供時光機共用內容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完整欄位版 ER Diagram 見附錄。中文全文搜尋以 ILIKE 子字串比對補足 tsvector 的斷詞限制。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後端模組化：每個 domain 是自足套件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5376672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2331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四檔案結構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1828800"/>
            <a:ext cx="49743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router.py　路由，不直接碰資料庫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service.py　商業邏輯與跨 repository 協調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repository.py　只負責資料存取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schemas.py　該模組的輸入輸出型別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76672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50292" cy="2331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集中把關，不分散在 router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1828800"/>
            <a:ext cx="49743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PermissionService　權限判斷唯一入口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QuotaService　容量檢查唯一入口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AppError 子類 → 一致的錯誤 JSON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ActivityLogService　記錄失敗不影響主流程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2F6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接收請求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回傳回應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77540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74136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5E8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Service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47288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商業邏輯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協調各方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4748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81344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B0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Repository ／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StorageProvider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254496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資料存取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檔案讀寫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91956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88552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5B64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61704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／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檔案系統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061704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實際持久層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依賴方向單向不可逆：Repository 不可呼叫 Service；StorageProvider 不可呼叫 Repository。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In-App AI 助理：一次對話怎麼被完成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在網頁裡用自然語言操作自己的雲端硬碟；模型跑在本地，破壞性操作一定先出計畫、等使用者確認。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pic>
        <p:nvPicPr>
          <p:cNvPr id="7" name="Image 0" descr="/Users/linyueying/Library/CloudStorage/OneDrive-Personal/NTUST/Mester0/CloudDrive/doc/ppt/05-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676" y="1609344"/>
            <a:ext cx="8044168" cy="35295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5266944"/>
            <a:ext cx="2619756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5358384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對話操作檔案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66928" y="5669280"/>
            <a:ext cx="26197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一律經既有 service 層，天然沿用配額與權限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69564" y="5266944"/>
            <a:ext cx="2619756" cy="36576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2" name="Text 9"/>
          <p:cNvSpPr/>
          <p:nvPr/>
        </p:nvSpPr>
        <p:spPr>
          <a:xfrm>
            <a:off x="3369564" y="5358384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計畫先行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369564" y="5669280"/>
            <a:ext cx="26197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唯讀可自動執行，破壞性一定要確認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72200" y="5266944"/>
            <a:ext cx="2619756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5358384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現場生成技能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172200" y="5669280"/>
            <a:ext cx="26197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產碼 → 靜態檢查 → 核可 → 沙箱執行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974836" y="5266944"/>
            <a:ext cx="2619756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8" name="Text 15"/>
          <p:cNvSpPr/>
          <p:nvPr/>
        </p:nvSpPr>
        <p:spPr>
          <a:xfrm>
            <a:off x="8974836" y="5358384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多輪記憶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974836" y="5669280"/>
            <a:ext cx="26197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載入最近 N 則歷史，支援「第二個」這類指涉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引擎架構：Agent Harness 六元件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把助理視為「LLM + 外部 harness」共同構成的系統。程式碼拆成九個實作模組，對外以文獻的六元件框架說明。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45920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847088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8470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98448" y="17739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Loop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98448" y="2084832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主迴圈驅動「送訊息 → 解析 → 執行 → 回填」；workflow 執行器處理步驟相依與錯誤策略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6208" y="1645920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1847088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5E8F72"/>
          </a:solidFill>
          <a:ln/>
        </p:spPr>
      </p:sp>
      <p:sp>
        <p:nvSpPr>
          <p:cNvPr id="14" name="Text 12"/>
          <p:cNvSpPr/>
          <p:nvPr/>
        </p:nvSpPr>
        <p:spPr>
          <a:xfrm>
            <a:off x="6364224" y="18470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967728" y="17739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/ Skill Registry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67728" y="2084832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內建、自訂與現場生成的技能都是 registry 的來源；manifest 定義參數 schema 與權限標記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3090672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7E6DA8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32918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98448" y="32186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Manager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98448" y="3529584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預算、歷史裁切與摘要、工具輸出瘦身、技能清單注入與 prompt 組裝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36208" y="3090672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64224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B06A66"/>
          </a:solidFill>
          <a:ln/>
        </p:spPr>
      </p:sp>
      <p:sp>
        <p:nvSpPr>
          <p:cNvPr id="24" name="Text 22"/>
          <p:cNvSpPr/>
          <p:nvPr/>
        </p:nvSpPr>
        <p:spPr>
          <a:xfrm>
            <a:off x="6364224" y="32918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967728" y="32186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Store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67728" y="3529584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sessions／messages／skills／workflows 全部持久化到資料庫，並一律依 user_id 隔離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4535424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4736592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C9A94E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" y="473659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98448" y="46634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Hooks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98448" y="4974336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治理層：權限分類、使用者核可、程式碼靜態檢查、沙箱與稽核，含對外傳送的隱私閘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36208" y="4535424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4224" y="4736592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5B6470"/>
          </a:solidFill>
          <a:ln/>
        </p:spPr>
      </p:sp>
      <p:sp>
        <p:nvSpPr>
          <p:cNvPr id="34" name="Text 32"/>
          <p:cNvSpPr/>
          <p:nvPr/>
        </p:nvSpPr>
        <p:spPr>
          <a:xfrm>
            <a:off x="6364224" y="473659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6967728" y="46634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Interface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967728" y="4974336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離線開發者工具，從外部呼叫 /assistant/chat；確定性斷言為主、LLM judge 為輔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7E6D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 不在使用者請求路徑上 —— 它從外部打 API，如同真實使用者，因此量測的是「模型 + harness 組態」整體。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執行模型：計畫先行，失敗時誠實報告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3553968" cy="3931920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393192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4264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為什麼不用自由 tool 迴圈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1828800"/>
            <a:ext cx="3151632" cy="3255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權限模型依賴「完整計畫先行」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逐步決策會讓「使用者核可了什麼」失去邊界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本地小模型跑長程多輪容易漂移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一次規劃 + 約束解碼 + 驗證，把弱模型鎖在能力範圍內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03776" y="1280160"/>
            <a:ext cx="3553968" cy="3931920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3776" y="1280160"/>
            <a:ext cx="50292" cy="393192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2" name="Text 10"/>
          <p:cNvSpPr/>
          <p:nvPr/>
        </p:nvSpPr>
        <p:spPr>
          <a:xfrm>
            <a:off x="4504944" y="14264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失敗時誠實報告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04944" y="1828800"/>
            <a:ext cx="3151632" cy="3255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規劃時寫的回覆不能當執行結果用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任何步驟失敗 → 改用程式組合的事實報告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說明哪一步失敗、已完成哪些、其後未執行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不經 LLM 潤飾，杜絕「沒做完卻說做完」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0624" y="1280160"/>
            <a:ext cx="3553968" cy="3931920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0624" y="1280160"/>
            <a:ext cx="50292" cy="39319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6" name="Text 14"/>
          <p:cNvSpPr/>
          <p:nvPr/>
        </p:nvSpPr>
        <p:spPr>
          <a:xfrm>
            <a:off x="8241792" y="14264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有限度的重新規劃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41792" y="1828800"/>
            <a:ext cx="3151632" cy="3255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僅 chat 快速路徑允許失敗後重規劃一次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重規劃結果必須全為唯讀且可自動確認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confirm／rerun 路徑只誠實回報，不偷換步驟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7E6D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DEC-029 · DEC-030　　授權是給規則，不是給那一份計畫。工作流維持串行——共用 AsyncSession 不允許並發，並行只省延遲卻引入配額競賽。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安全邊界：唯讀自動執行、寫入必須確認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3553968" cy="2395728"/>
          </a:xfrm>
          <a:prstGeom prst="roundRect">
            <a:avLst>
              <a:gd name="adj" fmla="val 229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239572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264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70432" y="1426464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自我撰寫技能三道關卡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096" y="1828800"/>
            <a:ext cx="315163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子代理產生程式碼，狀態停在 pending_approval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使用者明確核可後才可執行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受限子行程沙箱：限 CPU／記憶體／逾時，無對外網路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03776" y="1280160"/>
            <a:ext cx="3553968" cy="2395728"/>
          </a:xfrm>
          <a:prstGeom prst="roundRect">
            <a:avLst>
              <a:gd name="adj" fmla="val 229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3776" y="1280160"/>
            <a:ext cx="50292" cy="239572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3" name="Text 11"/>
          <p:cNvSpPr/>
          <p:nvPr/>
        </p:nvSpPr>
        <p:spPr>
          <a:xfrm>
            <a:off x="4486656" y="14264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07280" y="1426464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零信任：不採信前端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04944" y="1828800"/>
            <a:ext cx="315163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user_id 一律從 JWT 取，不讀請求參數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前端擋住不算數，端點本身必須擋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四級權限全收斂在 PermissionService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40624" y="1280160"/>
            <a:ext cx="3553968" cy="2395728"/>
          </a:xfrm>
          <a:prstGeom prst="roundRect">
            <a:avLst>
              <a:gd name="adj" fmla="val 229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0624" y="1280160"/>
            <a:ext cx="50292" cy="2395728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3504" y="14264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44128" y="1426464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寫入前自動拍快照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41792" y="1828800"/>
            <a:ext cx="315163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hooks 掛在執行器的 before_execution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助理的破壞性操作一律先建快照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出錯可用時光機整碟倒帶回操作前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3895344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可驗證的隔離 —— 用測試證明，不用嘴巴保證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66928" y="4279392"/>
            <a:ext cx="2619756" cy="1207008"/>
          </a:xfrm>
          <a:prstGeom prst="roundRect">
            <a:avLst>
              <a:gd name="adj" fmla="val 378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437083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" y="4370832"/>
            <a:ext cx="2016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A 的 token 呼叫 API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944" y="4700016"/>
            <a:ext cx="2363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取得合法的 access token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369564" y="4279392"/>
            <a:ext cx="2619756" cy="1207008"/>
          </a:xfrm>
          <a:prstGeom prst="roundRect">
            <a:avLst>
              <a:gd name="adj" fmla="val 378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7580" y="437083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26764" y="4370832"/>
            <a:ext cx="2016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指定 B 的資源 ID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97580" y="4700016"/>
            <a:ext cx="2363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 對該資源沒有任何權限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72200" y="4279392"/>
            <a:ext cx="2619756" cy="1207008"/>
          </a:xfrm>
          <a:prstGeom prst="roundRect">
            <a:avLst>
              <a:gd name="adj" fmla="val 378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437083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29400" y="4370832"/>
            <a:ext cx="2016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預期回傳 403 或 404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00216" y="4700016"/>
            <a:ext cx="2363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且不透露該資源是否存在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974836" y="4279392"/>
            <a:ext cx="2619756" cy="1207008"/>
          </a:xfrm>
          <a:prstGeom prst="roundRect">
            <a:avLst>
              <a:gd name="adj" fmla="val 378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02852" y="437083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432036" y="4370832"/>
            <a:ext cx="2016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納入自動化測試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02852" y="4700016"/>
            <a:ext cx="2363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 CI 重跑，避免無聲回歸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C9A9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DEC-019 · DEC-023　　絕不自動執行未審核程式碼；涉私資料的任務限本地執行，去識別化失敗即禁止外送。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為什麼需要真實模型驗證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單元測試中的 LLM 是 mock，通過只代表程式控制流程正確，驗不到真實模型在 workflow 規劃上的行為。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50292" cy="1783080"/>
          </a:xfrm>
          <a:prstGeom prst="rect">
            <a:avLst/>
          </a:prstGeom>
          <a:solidFill>
            <a:srgbClr val="5B6470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773936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單元測試驗不到的部分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096" y="2176272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真實模型的工具選擇是否穩定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權限判定與多輪指涉是否正確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規劃品質（寫入意圖是否遺漏）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627632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27632"/>
            <a:ext cx="50292" cy="178308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773936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因此建立獨立 eval harness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19088" y="2176272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自外部呼叫 /assistant/chat，如同真實使用者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確定性驗證器判定通過率，LLM judge 僅為輔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相同回應必得相同判定，通過率可重現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3602736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量產案例分層：EC1 – EC4（依「任務複雜度 × 是否涉及寫入」遞增，各層為獨立案例集）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50208"/>
          <a:ext cx="110276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035040"/>
                <a:gridCol w="1965960"/>
                <a:gridCol w="17922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層級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案例內容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執行方式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案例數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EC1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唯讀多工具（3 個以上查詢工具組合）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自動執行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100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EC2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查詢當脈絡 + 寫入／批次技能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需確認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120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EC3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自我撰寫生成（100 種不同技能）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需核可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100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EC4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多步驟 + 跨步驟引用前一步輸出 + 寫入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需確認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100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7E6D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DEC-039 代號分離：M 專指助理引擎的開發里程碑，EC 專指評測案例分層；先前共用 M 造成語境混淆。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穩定性三部曲：把「請模型遵守」換成「使其不可違反」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3553968" cy="3950208"/>
          </a:xfrm>
          <a:prstGeom prst="roundRect">
            <a:avLst>
              <a:gd name="adj" fmla="val 128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3553968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08176"/>
            <a:ext cx="3224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3224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生成上限 + 非零溫度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066544"/>
            <a:ext cx="322478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結構化請求把溫度釘 0，貪婪解碼在 thinking 段掉入決定性重複迴圈，吃滿 300 秒逾時。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一律帶 num_predict 上限；結構化請求改用低而非零的溫度。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以有界失敗取代長時間停滯，重試真正有效。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03776" y="1280160"/>
            <a:ext cx="3553968" cy="3950208"/>
          </a:xfrm>
          <a:prstGeom prst="roundRect">
            <a:avLst>
              <a:gd name="adj" fmla="val 128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3776" y="1280160"/>
            <a:ext cx="3553968" cy="45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3" name="Text 11"/>
          <p:cNvSpPr/>
          <p:nvPr/>
        </p:nvSpPr>
        <p:spPr>
          <a:xfrm>
            <a:off x="4468368" y="1408176"/>
            <a:ext cx="3224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68368" y="1682496"/>
            <a:ext cx="3224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技能名以 enum 枚舉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68368" y="2066544"/>
            <a:ext cx="322478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模型會捏造不存在的技能名，prompt 要求「只用清單內技能」沒有強制力。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每次依當下 registry 動態組 schema，技能欄位以真實技能名做 enum。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約束解碼在取樣時直接遮蔽，幻覺技能變成不可生成。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40624" y="1280160"/>
            <a:ext cx="3553968" cy="3950208"/>
          </a:xfrm>
          <a:prstGeom prst="roundRect">
            <a:avLst>
              <a:gd name="adj" fmla="val 128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0624" y="1280160"/>
            <a:ext cx="3553968" cy="4572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8" name="Text 16"/>
          <p:cNvSpPr/>
          <p:nvPr/>
        </p:nvSpPr>
        <p:spPr>
          <a:xfrm>
            <a:off x="8205216" y="1408176"/>
            <a:ext cx="3224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05216" y="1682496"/>
            <a:ext cx="3224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規劃預設關閉 thinking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05216" y="2066544"/>
            <a:ext cx="322478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前兩道防線後，重複生成仍以約一至二成殘存，且只發生在 thinking 段。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planner 呼叫預設 think:false，可用環境變數關回。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重複生成歸零、延遲下降一個數量級。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C9A9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共同哲學：能用機制保證的事，就不要依賴模型自覺。三個決策都不是把 prompt 寫得更懇切，而是讓錯誤輸出在取樣層就無法產生、或在有界時間內必然停止。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實測結果：現行基準與多輪記憶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2647188" cy="1325880"/>
          </a:xfrm>
          <a:prstGeom prst="roundRect">
            <a:avLst>
              <a:gd name="adj" fmla="val 3448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387 / 420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2500884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現行基準通過率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gemma4:26b · runs=3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60420" y="1280160"/>
            <a:ext cx="2647188" cy="1325880"/>
          </a:xfrm>
          <a:prstGeom prst="roundRect">
            <a:avLst>
              <a:gd name="adj" fmla="val 3448"/>
            </a:avLst>
          </a:prstGeom>
          <a:solidFill>
            <a:srgbClr val="EFF3F6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3572" y="1371600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 / 120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433572" y="1810512"/>
            <a:ext cx="2500884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EC2 最弱一層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寫入意圖仍是瓶頸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53912" y="1280160"/>
            <a:ext cx="2647188" cy="1325880"/>
          </a:xfrm>
          <a:prstGeom prst="roundRect">
            <a:avLst>
              <a:gd name="adj" fmla="val 3448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371600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227064" y="1810512"/>
            <a:ext cx="2500884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不穩定案例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三次跑批有對有錯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47404" y="1280160"/>
            <a:ext cx="2647188" cy="1325880"/>
          </a:xfrm>
          <a:prstGeom prst="roundRect">
            <a:avLst>
              <a:gd name="adj" fmla="val 3448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20556" y="1371600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92.4s → 8.6s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20556" y="1810512"/>
            <a:ext cx="2500884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平均規劃延遲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（關閉 thinking 後）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2871216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多輪記憶的可量測化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36976"/>
          <a:ext cx="11027664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937760"/>
                <a:gridCol w="243230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案例 ID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驗證內容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結果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multiturn-create-second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從對話文字解析「第二個 = 2023」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5 / 5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multiturn-rename-first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從結果摘要取得 item_id 執行改名（間接案例）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5 / 5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multiturn-recall-listed-names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僅從對話報出全部三個名稱（嚴格回想案例）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修復前 0 / 5 → 修復後 5 / 5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66928" y="4974336"/>
            <a:ext cx="110276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「嚴格回想」案例的必要性：間接案例只證明模型用到了歷史中的某個 item_id，無法證明它真的記得內容——嚴格回想才揭露了記憶保真問題。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7E6D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基準取捨：2026-07-30 判分語意變更後舊通過率一律作廢，本頁採重建後的 387/420。另一份「400×3 逐 run 全過」的數據在未合併分支 eval/e9-objective-metrics，判分語意較寬，故不採用。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模型服務層：Gemma4APIServer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獨立專案，不屬於 CloudDrive　·　github.com/billwu101/Gemma4APIServer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pic>
        <p:nvPicPr>
          <p:cNvPr id="7" name="Image 0" descr="/Users/linyueying/Library/CloudStorage/OneDrive-Personal/NTUST/Mester0/CloudDrive/doc/ppt/07-gate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788" y="1664208"/>
            <a:ext cx="9909944" cy="2148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4023360"/>
            <a:ext cx="50292" cy="182880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雙協定相容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同一個本地 Gemma 4 26B，同時以 OpenAI 相容與 Anthropic 相容 API 對外提供。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03776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03776" y="4023360"/>
            <a:ext cx="50292" cy="182880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4" name="Text 11"/>
          <p:cNvSpPr/>
          <p:nvPr/>
        </p:nvSpPr>
        <p:spPr>
          <a:xfrm>
            <a:off x="4504944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多金鑰 + 用量記錄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04944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每把金鑰獨立驗證，呼叫寫入 SQLite 用量記錄，可追溯誰用了多少。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0624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0624" y="4023360"/>
            <a:ext cx="50292" cy="182880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8" name="Text 15"/>
          <p:cNvSpPr/>
          <p:nvPr/>
        </p:nvSpPr>
        <p:spPr>
          <a:xfrm>
            <a:off x="8241792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三個容器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41792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ollama / gateway / cloudflared；KEEP_ALIVE=-1 讓模型常駐記憶體。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/v1/* 相容路徑自動注入 think:false（對應 DEC-033）；原生 /api/* 保持透明轉發，不改寫請求。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為什麼把模型服務拆成獨立專案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pic>
        <p:nvPicPr>
          <p:cNvPr id="6" name="Image 0" descr="/Users/linyueying/Library/CloudStorage/OneDrive-Personal/NTUST/Mester0/CloudDrive/doc/ppt/06-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84936"/>
            <a:ext cx="5623560" cy="306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64808" y="1280160"/>
            <a:ext cx="5129784" cy="1737360"/>
          </a:xfrm>
          <a:prstGeom prst="roundRect">
            <a:avLst>
              <a:gd name="adj" fmla="val 315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64808" y="1280160"/>
            <a:ext cx="50292" cy="173736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9" name="Text 6"/>
          <p:cNvSpPr/>
          <p:nvPr/>
        </p:nvSpPr>
        <p:spPr>
          <a:xfrm>
            <a:off x="6665976" y="1426464"/>
            <a:ext cx="4745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職責邊界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65976" y="1828800"/>
            <a:ext cx="472744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是應用，不該內含 GPU 推論基礎設施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主機是 Windows + WSL2 + NVIDIA，與部署主機不同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64808" y="3145536"/>
            <a:ext cx="5129784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64808" y="3145536"/>
            <a:ext cx="50292" cy="122529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3" name="Text 10"/>
          <p:cNvSpPr/>
          <p:nvPr/>
        </p:nvSpPr>
        <p:spPr>
          <a:xfrm>
            <a:off x="6665976" y="3291840"/>
            <a:ext cx="4745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帶來的好處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65976" y="3694176"/>
            <a:ext cx="4727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其他專案也能共用同一台 GPU 主機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金鑰與用量控管集中在 gateway，不散落各應用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66928" y="4480560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這一端只需要三個環境變數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66928" y="4828032"/>
            <a:ext cx="11027664" cy="987552"/>
          </a:xfrm>
          <a:prstGeom prst="roundRect">
            <a:avLst>
              <a:gd name="adj" fmla="val 4630"/>
            </a:avLst>
          </a:prstGeom>
          <a:solidFill>
            <a:srgbClr val="13212A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882896"/>
            <a:ext cx="1047902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LLM_PROVIDER=openai_compatible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LLM_BASE_URL=https://&lt;gateway&gt;/v1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LLM_API_KEY=&lt;金鑰&gt;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66928" y="5943600"/>
            <a:ext cx="11027664" cy="548640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" y="5971032"/>
            <a:ext cx="10588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抽換成本因此趨近於零 —— 換模型、換供應商、退回本機 Ollama，都只是改這三行。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營運監控：金鑰用量與即時日誌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gateway 附帶的終端儀表板，一眼看出 GPU 是否還活著、每把金鑰用了多少、請求是否正常。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91056"/>
            <a:ext cx="7607808" cy="4023360"/>
          </a:xfrm>
          <a:prstGeom prst="roundRect">
            <a:avLst>
              <a:gd name="adj" fmla="val 1136"/>
            </a:avLst>
          </a:prstGeom>
          <a:solidFill>
            <a:srgbClr val="0F151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7095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B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GEMMA4 API DASHBOARD</a:t>
            </a:r>
            <a:pPr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—    2026-08-01 10:50:58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1401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CPU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26464" y="2487168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26464" y="2487168"/>
            <a:ext cx="117683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13" name="Text 11"/>
          <p:cNvSpPr/>
          <p:nvPr/>
        </p:nvSpPr>
        <p:spPr>
          <a:xfrm>
            <a:off x="2670048" y="2414016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9.9%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241401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70832" y="2487168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487168"/>
            <a:ext cx="414863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17" name="Text 15"/>
          <p:cNvSpPr/>
          <p:nvPr/>
        </p:nvSpPr>
        <p:spPr>
          <a:xfrm>
            <a:off x="5614416" y="24140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33.4 / 95.7 GB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724912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26464" y="2798064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426464" y="2798064"/>
            <a:ext cx="320954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21" name="Text 19"/>
          <p:cNvSpPr/>
          <p:nvPr/>
        </p:nvSpPr>
        <p:spPr>
          <a:xfrm>
            <a:off x="2670048" y="2724912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27.0%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84448" y="272491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VRAM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70832" y="2798064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24" name="Shape 22"/>
          <p:cNvSpPr/>
          <p:nvPr/>
        </p:nvSpPr>
        <p:spPr>
          <a:xfrm>
            <a:off x="4370832" y="2798064"/>
            <a:ext cx="1040130" cy="109728"/>
          </a:xfrm>
          <a:prstGeom prst="rect">
            <a:avLst/>
          </a:prstGeom>
          <a:solidFill>
            <a:srgbClr val="E0616B"/>
          </a:solidFill>
          <a:ln/>
        </p:spPr>
      </p:sp>
      <p:sp>
        <p:nvSpPr>
          <p:cNvPr id="25" name="Text 23"/>
          <p:cNvSpPr/>
          <p:nvPr/>
        </p:nvSpPr>
        <p:spPr>
          <a:xfrm>
            <a:off x="5614416" y="2724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21.0 / 24.0 GB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054096"/>
            <a:ext cx="7095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溫度 38°C   功耗 54 W   風扇 33%   模型 gemma4:26b · 100% GPU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 使用量（每把金鑰）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3694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金鑰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94560" y="36941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請求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3694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36941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output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72200" y="36941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總 token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alice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194560" y="39684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16,598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7472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159,282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92040" y="39684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14,583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72200" y="39684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173,865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4242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dev_bill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94560" y="424281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474720" y="4242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8,773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92040" y="424281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483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72200" y="42428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9,256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4517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合計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194560" y="45171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16,604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474720" y="4517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168,055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92040" y="45171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15,066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72200" y="45171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183,121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22960" y="48280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LOG   即時連線（2xx 綠 / 4xx 黃 / 5xx 紅）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22960" y="5084064"/>
            <a:ext cx="7095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10:33:45  INFO  POST /v1/chat/completions  200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22960" y="5312664"/>
            <a:ext cx="7095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10:45:55  INFO  POST /v1/chat/completions  200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394192" y="1591056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94192" y="1591056"/>
            <a:ext cx="50292" cy="122529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53" name="Text 51"/>
          <p:cNvSpPr/>
          <p:nvPr/>
        </p:nvSpPr>
        <p:spPr>
          <a:xfrm>
            <a:off x="8595360" y="1737360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為什麼要有面板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8595360" y="2139696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與 VRAM 一眼可見，模型崩潰時能立刻判斷。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8394192" y="2944368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94192" y="2944368"/>
            <a:ext cx="50292" cy="122529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57" name="Text 55"/>
          <p:cNvSpPr/>
          <p:nvPr/>
        </p:nvSpPr>
        <p:spPr>
          <a:xfrm>
            <a:off x="8595360" y="3090672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每把金鑰獨立計量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8595360" y="3493008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請求數與 token 寫入 SQLite，可追溯誰用了多少。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394192" y="4297680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94192" y="4297680"/>
            <a:ext cx="50292" cy="122529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61" name="Text 59"/>
          <p:cNvSpPr/>
          <p:nvPr/>
        </p:nvSpPr>
        <p:spPr>
          <a:xfrm>
            <a:off x="8595360" y="4443984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日誌依狀態碼上色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8595360" y="484632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2xx 綠、4xx 黃、5xx 紅，掃一眼就知道有無異常。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VRAM 21.0 / 24.0 GB —— gemma4:26b 以 KEEP_ALIVE=-1 常駐，幾乎吃滿單張卡。這是「Ollama 單併發」限制的直接來源，也是 DEC-030 工作流不並行的實務理由之一。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系統部署：四個節點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6" name="Image 0" descr="/Users/linyueying/Library/CloudStorage/OneDrive-Personal/NTUST/Mester0/CloudDrive/doc/ppt/02-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834" y="1243584"/>
            <a:ext cx="8177852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577840"/>
            <a:ext cx="3553968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Tunnel 主動向外連線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主機不需開放任何對外埠、不需固定 IP，天然隱藏源站位址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03776" y="5577840"/>
            <a:ext cx="3553968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1" name="Text 8"/>
          <p:cNvSpPr/>
          <p:nvPr/>
        </p:nvSpPr>
        <p:spPr>
          <a:xfrm>
            <a:off x="4303776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為唯一入口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303776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/api，沒有跨來源問題，換主機不需重建前端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40624" y="5577840"/>
            <a:ext cx="3553968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4" name="Text 11"/>
          <p:cNvSpPr/>
          <p:nvPr/>
        </p:nvSpPr>
        <p:spPr>
          <a:xfrm>
            <a:off x="8040624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內網隔離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040624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後端只綁本機迴路位址，資料庫不對公網開放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與 CI/CD：從管線到容器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6" name="Image 0" descr="/Users/linyueying/Library/CloudStorage/OneDrive-Personal/NTUST/Mester0/CloudDrive/doc/ppt/03-docker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469" y="1243584"/>
            <a:ext cx="8350582" cy="3877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248656"/>
            <a:ext cx="2619756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映像只由 CI 建立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以完整 commit SHA 標記，不使用 latest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69564" y="5248656"/>
            <a:ext cx="2619756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1" name="Text 8"/>
          <p:cNvSpPr/>
          <p:nvPr/>
        </p:nvSpPr>
        <p:spPr>
          <a:xfrm>
            <a:off x="3369564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Runner 最小權限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369564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非 root、不加入 docker 群組，只能跑單一固定腳本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72200" y="5248656"/>
            <a:ext cx="2619756" cy="36576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部署可回滾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72200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健康檢查連續失敗即自動回到上一個可用版本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74836" y="5248656"/>
            <a:ext cx="2619756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7" name="Text 14"/>
          <p:cNvSpPr/>
          <p:nvPr/>
        </p:nvSpPr>
        <p:spPr>
          <a:xfrm>
            <a:off x="8974836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密鑰只在主機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974836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正式環境設定不進版控，管線只做缺鍵警告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本機 · CI · 正式部署：三個環境差在哪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差異全部收斂在設定，不在程式碼——三份 .env 範本就是三個環境的規格書。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27664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3054096"/>
                <a:gridCol w="2889504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本機開發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CI（GitHub Actions）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正式部署（CD）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設定來源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cp .env.example .env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無 .env，直接寫在 ci.yml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範本填真值放主機，不進 Git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資料庫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cloud_drive／弱密碼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clouddrive_test（服務容器）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高強度密碼，只走容器網路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JWT 金鑰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development-only-change-me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不需要（測試自簽 token）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openssl rand -hex 32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AI 模型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ollama → host.docker.internal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不連模型，eval 走 mock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openai_compatible → gateway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對外曝露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port 8088／8000／5432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無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Cloudflare Tunnel，零對外埠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映像來源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docker compose --build 本地建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建置並推 GHCR（commit SHA）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只拉 GHCR 的 SHA，不在主機建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608576"/>
            <a:ext cx="3553968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4700016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範本進版控，真值不進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66928" y="5010912"/>
            <a:ext cx="35539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範本本身就是可讀的規格；真 .env 只存部署主機（chmod 600），管線只做缺鍵警告。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03776" y="4608576"/>
            <a:ext cx="3553968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2" name="Text 9"/>
          <p:cNvSpPr/>
          <p:nvPr/>
        </p:nvSpPr>
        <p:spPr>
          <a:xfrm>
            <a:off x="4303776" y="4700016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CI 根本不需要 .env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303776" y="5010912"/>
            <a:ext cx="35539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它不跑完整系統，只跑測試——env 寫死在 workflow，無密鑰可外洩，也不會因誰的機器設定不同而變綠變紅。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40624" y="4608576"/>
            <a:ext cx="3553968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5" name="Text 12"/>
          <p:cNvSpPr/>
          <p:nvPr/>
        </p:nvSpPr>
        <p:spPr>
          <a:xfrm>
            <a:off x="8040624" y="4700016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模型接法三邊都不同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040624" y="5010912"/>
            <a:ext cx="35539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mock ／ 本機 Ollama ／ 遠端 gateway，程式碼一行沒改——這正是 LLMClient 抽象與 DEC-018 的價值。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5980176"/>
            <a:ext cx="11027664" cy="566928"/>
          </a:xfrm>
          <a:prstGeom prst="roundRect">
            <a:avLst>
              <a:gd name="adj" fmla="val 8065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6007608"/>
            <a:ext cx="10588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唯一只出現在正式環境的變數是 TUNNEL_TOKEN —— 對外曝露是正式環境獨有的能力，本機與 CI 都不該擁有。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競品比較與定位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88920"/>
                <a:gridCol w="2971800"/>
                <a:gridCol w="29809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比較維度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Google Drive／OneDrive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通用 AI 編碼工具 + 本機掛載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CloudDrive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資料存放位置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服務商伺服器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本機，但需掛載第三方雲端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自架主機，完全自有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AI 推論位置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服務商雲端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外部 API 為主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本地模型優先，外送需經隱私閘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對話式檔案操作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有限，且綁定其生態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可以，但需技術背景操作終端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網頁內直接對話，一般使用者可用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擴充新功能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只能等官方或第三方外掛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可寫腳本，但無核可與沙箱機制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對話生成技能，經核可與沙箱後掛選單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整碟時間點還原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僅單檔版本歷史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需自行搭配備份工具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內建時光機，可整碟倒帶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/ 28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核心模組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前後端與整合驗收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60420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33572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433572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引擎、面板、評測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3912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7064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1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6227064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資料層到前端五階段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47404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20556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 / 33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9020556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模組總計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對齊 progress.md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" y="5559552"/>
            <a:ext cx="11027664" cy="548640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5586984"/>
            <a:ext cx="10588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定位：以隱私與資料主權為前提，把「完整檔案管理」與「可自我擴充的本地 AI 助理」放進同一個可自架的系統。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66928" y="6236208"/>
            <a:ext cx="11027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已知限制：時光機還原硬配額檢查待補強（非阻擋）· 語意搜尋舊檔索引補建尚未背景自動化 · 評測結論綁定單一模型與硬體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為什麼需要開發規則：兩次真實事故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AI 開發最常見的兩個失效模式，都不是「程式寫錯」，而是「看起來做完了」。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5376672" cy="192024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50292" cy="192024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70432" y="1773936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只驗表象，沒驗功能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2176272"/>
            <a:ext cx="497433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 預覽宣稱修好，實際只確認 &lt;iframe&gt; 有渲染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打開仍然不能預覽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627632"/>
            <a:ext cx="5376672" cy="192024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627632"/>
            <a:ext cx="50292" cy="192024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21424" y="1773936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功能只做一半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19088" y="2176272"/>
            <a:ext cx="497433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proposal §33 後端完成，前端完全沒接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editor 分享連結開起來與唯讀無異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3730752"/>
            <a:ext cx="11027664" cy="658368"/>
          </a:xfrm>
          <a:prstGeom prst="roundRect">
            <a:avLst>
              <a:gd name="adj" fmla="val 6944"/>
            </a:avLst>
          </a:prstGeom>
          <a:solidFill>
            <a:srgbClr val="13212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730752"/>
            <a:ext cx="10479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兩者的單元測試都是綠的。　測試綠 ≠ 功能可用。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4590288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同類問題在 W18 一週內又抓到 18 個 —— 全部由實機操作發現，不是單元測試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37760"/>
          <a:ext cx="110276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766560"/>
                <a:gridCol w="25237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commit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問題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性質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1c1a63e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editor 分享不能真的編輯——只比對 owner，沒走 PermissionService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功能只做一半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28f1f78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右鍵 Share 沒接上既有的 ShareDialog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前端沒接後端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db5b2b7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資料夾內的檔案加星後，星號清單看不到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查詢範圍錯誤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Vibe Coding：用 AI 協助，但不讓 AI 發散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核心原則：不猜測意圖、文件先行、任務最小化、結果可驗證。文件沒完成前不大量產生程式碼。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45920"/>
            <a:ext cx="2606040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proposal.md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背景、角色、情境、功能與非功能需求、不在範圍、驗收標準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77540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74136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4136" y="1645920"/>
            <a:ext cx="2606040" cy="45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86200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詳細設計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20440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8F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detailed-design/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模組劃分、依賴關係、資料結構、介面設計、錯誤處理、測試設計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84748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1344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645920"/>
            <a:ext cx="2606040" cy="4572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93408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任務拆分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27648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tasks/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每模組一份任務文件，子任務 checklist 與驗收條件，標示依賴順序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91956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988552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88552" y="1645920"/>
            <a:ext cx="2606040" cy="4572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30" name="Text 28"/>
          <p:cNvSpPr/>
          <p:nvPr/>
        </p:nvSpPr>
        <p:spPr>
          <a:xfrm>
            <a:off x="9134856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500616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執行 Prompt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134856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6A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prompt.md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34856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主／子代理責任、任務分派、平行規則、測試要求、禁止事項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" y="3840480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3840480"/>
            <a:ext cx="50292" cy="178308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398678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實際幫上什麼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68096" y="4389120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依任務文件實作模組並同時補測試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 eval 案例與重現問題的最小測試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協助定位重複生成與截斷類問題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217920" y="3840480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840480"/>
            <a:ext cx="50292" cy="178308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40" name="Text 38"/>
          <p:cNvSpPr/>
          <p:nvPr/>
        </p:nvSpPr>
        <p:spPr>
          <a:xfrm>
            <a:off x="6419088" y="398678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刻意設下的限制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419088" y="4389120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不得在需求未確認時直接建立完整系統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不得跳過測試換取速度、不得偽造測試結果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文件與程式碼不一致時不得標記完成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規則怎麼被驗證有效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11027664" cy="1225296"/>
          </a:xfrm>
          <a:prstGeom prst="roundRect">
            <a:avLst>
              <a:gd name="adj" fmla="val 3731"/>
            </a:avLst>
          </a:prstGeom>
          <a:solidFill>
            <a:srgbClr val="EFF3F6"/>
          </a:solidFill>
          <a:ln w="15240">
            <a:solidFill>
              <a:srgbClr val="C9A9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371600"/>
            <a:ext cx="10479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同一套「量化 → 修正 → 驗證」，用在流程本身，和 DEC-031/032/033 用在模型上，是同構的。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1792224"/>
            <a:ext cx="104790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模型端：發現跳針 → 加機制約束 → eval 量測歸零。　流程端：發現「測試綠但功能壞」→ 新增「使用者可見功能一律瀏覽器實測」硬規則 → 用 commit 紀錄驗證抓到的 bug 數。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40080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條 DEC 決策紀錄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每個決定可追溯、可質疑、可翻案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0420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3572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1,389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433572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測試全綠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 955+73 · 前端 361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53912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227064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項完成定義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全數通過才算完成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47404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0556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020556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個 fix（W18 單週）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全來自實機操作驗證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4407408"/>
            <a:ext cx="11027664" cy="1280160"/>
          </a:xfrm>
          <a:prstGeom prst="roundRect">
            <a:avLst>
              <a:gd name="adj" fmla="val 428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407408"/>
            <a:ext cx="50292" cy="128016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553712"/>
            <a:ext cx="10643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「完成」的定義（八項全過，缺一不可）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8096" y="4956048"/>
            <a:ext cx="106253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功能實作　·　單元測試通過　·　型別檢查通過　·　Ruff 通過　·　使用者可見功能已瀏覽器實測　·　文件已更新　·　checklist 已更新　·　無未說明技術債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週訓練期軌跡（3/23 – 7/26）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 10 週打底與找題目，後 8 週密集產出。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6420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64208"/>
            <a:ext cx="50292" cy="64008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66420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27048" y="166420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W1–3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33472" y="166420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3/23 – 4/12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05072" y="168249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VM + Ubuntu + SSH、Docker、Python 虛擬環境比較（conda・venv・pyenv・uv）、Git 與 GitHub；技術棧定案 React + FastAPI + PostgreSQL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95728"/>
            <a:ext cx="50292" cy="64008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39572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摸索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27048" y="239572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W4–10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33472" y="239572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4/13 – 5/31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05072" y="241401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段考 2 週 + 專題方向討論 5 週；釐清前後端與資料庫的關係、整理 AI 輔助開發流程；題目從購物網站換到 CloudDrive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312724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127248"/>
            <a:ext cx="50292" cy="64008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12724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起步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27048" y="312724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W11–12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33472" y="312724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6/1 – 6/14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05072" y="314553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Caddy + Cloudflare DNS 憑證，打通 HTTPS 反向代理；6/13 一天建立 28 模組骨架，6/14 認證流程與批次選取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385876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858768"/>
            <a:ext cx="50292" cy="64008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385876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爆發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27048" y="385876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W13–14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633472" y="385876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6/15 – 6/28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005072" y="387705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 Harness（6/17 單日 46 commits）、時光機、全文與語意搜尋、外部模型 OpenAI／Codex 接入、文件重構 + CI/CD 落地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928" y="459028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590288"/>
            <a:ext cx="50292" cy="64008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" y="459028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收斂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527048" y="459028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W15–18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633472" y="459028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6/29 – 7/26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005072" y="460857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harness 歸類文件與 CLAUDE.md 規則強化；detailed-design 拆模組、需求↔設計對齊；分片續傳、公開分享連結、CD 加 Tunnel；W18 單週 66 commits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66928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224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640080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commits / 9 天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（6/13 – 6/21）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360420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33572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2500" dirty="0"/>
          </a:p>
        </p:txBody>
      </p:sp>
      <p:sp>
        <p:nvSpPr>
          <p:cNvPr id="42" name="Text 40"/>
          <p:cNvSpPr/>
          <p:nvPr/>
        </p:nvSpPr>
        <p:spPr>
          <a:xfrm>
            <a:off x="3433572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單日最高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（6/17 · AI 助理）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153912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6227064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W18 單週 commits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feat · 18 fix · 13 docs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947404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20556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+ 3</a:t>
            </a:r>
            <a:endParaRPr lang="en-US" sz="2500" dirty="0"/>
          </a:p>
        </p:txBody>
      </p:sp>
      <p:sp>
        <p:nvSpPr>
          <p:cNvPr id="48" name="Text 46"/>
          <p:cNvSpPr/>
          <p:nvPr/>
        </p:nvSpPr>
        <p:spPr>
          <a:xfrm>
            <a:off x="9020556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核心模組 + 擴充系統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39 條 DEC 決策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AI 開發踩到的坑，與這半年學到的事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5376672" cy="2286000"/>
          </a:xfrm>
          <a:prstGeom prst="roundRect">
            <a:avLst>
              <a:gd name="adj" fmla="val 24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228600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環境問題：AI 不會主動提的那一步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1828800"/>
            <a:ext cx="497433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 VM 裡開好 GPU 直通，卻始終抓不到裝置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給了完整設定步驟，唯獨沒說要重新開機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教訓：AI 熟悉「怎麼設定」，但不熟悉「你的機器現在是什麼狀態」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76672" cy="2286000"/>
          </a:xfrm>
          <a:prstGeom prst="roundRect">
            <a:avLst>
              <a:gd name="adj" fmla="val 24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50292" cy="228600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驗證問題：功能常常只做一半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1828800"/>
            <a:ext cx="497433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前端做出介面，後端完全找不到對應端點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後端做完，前端沒接，功能等同不存在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教訓：必須自己實際操作驗證，不能相信「已完成」的回報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3803904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從不會到會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Git 與 GitHub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分支、PR、衝突解決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69564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61004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前後端與資料庫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61004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REST、ORM、非同步、migration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測試與品質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63640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單元／整合／E2E 三層，型別與靜態檢查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74836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6276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與 CI/CD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066276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容器化、自架 Runner、可回滾部署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5715000"/>
            <a:ext cx="11027664" cy="786384"/>
          </a:xfrm>
          <a:prstGeom prst="roundRect">
            <a:avLst>
              <a:gd name="adj" fmla="val 5814"/>
            </a:avLst>
          </a:prstGeom>
          <a:solidFill>
            <a:srgbClr val="13212A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715000"/>
            <a:ext cx="10479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專案的價值不在功能有多少，而在「一個小模型如何被工程機制馴服」的完整證據鏈。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附錄：完整欄位 ER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備 Q&amp;A 使用，不在正式報告時間內。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pic>
        <p:nvPicPr>
          <p:cNvPr id="7" name="Image 0" descr="/Users/linyueying/Library/CloudStorage/OneDrive-Personal/NTUST/Mester0/CloudDrive/doc/ppt/01-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5330" y="1627632"/>
            <a:ext cx="6970860" cy="4828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NTUST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CloudDrive 專題報告 v2.0</dc:title>
  <dc:subject>PptxGenJS Presentation</dc:subject>
  <dc:creator>billwu101</dc:creator>
  <cp:lastModifiedBy>billwu101</cp:lastModifiedBy>
  <cp:revision>1</cp:revision>
  <dcterms:created xsi:type="dcterms:W3CDTF">2026-08-02T02:24:57Z</dcterms:created>
  <dcterms:modified xsi:type="dcterms:W3CDTF">2026-08-02T02:24:57Z</dcterms:modified>
</cp:coreProperties>
</file>