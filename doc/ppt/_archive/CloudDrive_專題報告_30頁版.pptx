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9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12A"/>
                </a:solidFill>
                <a:latin typeface="PingFang TC"/>
              </a:defRPr>
            </a:pPr>
            <a:r>
              <a:rPr lang="en-US" sz="1300" b="0" i="0" u="none" strike="noStrike">
                <a:solidFill>
                  <a:srgbClr val="13212A"/>
                </a:solidFill>
                <a:latin typeface="PingFang TC"/>
              </a:rPr>
              <a:t>A／B </a:t>
            </a:r>
            <a:r>
              <a:rPr lang="zh-TW" altLang="en-US" sz="1300" b="0" i="0" u="none" strike="noStrike">
                <a:solidFill>
                  <a:srgbClr val="13212A"/>
                </a:solidFill>
                <a:latin typeface="PingFang TC"/>
              </a:rPr>
              <a:t>對照（各 </a:t>
            </a:r>
            <a:r>
              <a:rPr lang="en-US" altLang="zh-TW" sz="1300" b="0" i="0" u="none" strike="noStrike">
                <a:solidFill>
                  <a:srgbClr val="13212A"/>
                </a:solidFill>
                <a:latin typeface="PingFang TC"/>
              </a:rPr>
              <a:t>10 </a:t>
            </a:r>
            <a:r>
              <a:rPr lang="zh-TW" altLang="en-US" sz="1300" b="0" i="0" u="none" strike="noStrike">
                <a:solidFill>
                  <a:srgbClr val="13212A"/>
                </a:solidFill>
                <a:latin typeface="PingFang TC"/>
              </a:rPr>
              <a:t>樣本）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thinking 開啟</c:v>
                </c:pt>
              </c:strCache>
            </c:strRef>
          </c:tx>
          <c:spPr>
            <a:solidFill>
              <a:srgbClr val="B06A66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3212A"/>
                    </a:solidFill>
                    <a:latin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通過率</c:v>
                </c:pt>
                <c:pt idx="1">
                  <c:v>loop_suspect 比例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A4-6B45-80E0-C045DB07AA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think:false</c:v>
                </c:pt>
              </c:strCache>
            </c:strRef>
          </c:tx>
          <c:spPr>
            <a:solidFill>
              <a:srgbClr val="5E8F72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3212A"/>
                    </a:solidFill>
                    <a:latin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通過率</c:v>
                </c:pt>
                <c:pt idx="1">
                  <c:v>loop_suspect 比例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A4-6B45-80E0-C045DB07AA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0"/>
                </a:solidFill>
                <a:latin typeface="PingFang T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D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0"/>
                </a:solidFill>
                <a:latin typeface="Georg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B6470"/>
              </a:solidFill>
              <a:latin typeface="PingFang TC"/>
              <a:cs typeface="PingFang T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466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開場：一句話定位——這不是只做檔案上傳，而是一套可自架、資料不外流、能用自然語言操作的完整檔案管理系統。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強調三者的交集才是本專案價值：單獨任一項市面上都有，同時成立且可自架的沒有。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強調三者的交集才是本專案價值：單獨任一項市面上都有，同時成立且可自架的沒有。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不納入範圍多數已保留資料表欄位或抽象介面（例如 UploadSession），是有意識的擴充點而非遺漏。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圖的讀法：每個方塊是一個元件，每個箭頭是一個動作——這是刻意的畫法，避免元件與動作混寫。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完整全欄位版 ERD 放在附錄；此頁為簡報精簡版，只留 PK/FK 與關鍵業務欄位。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點：現場打 API，展示跨使用者存取被擋。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這一頁的兩個修正都要講：① 圖表改長條圖（獨立案例不可連線）② 截斷因素尚待排除，結論先保守表述。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這頁回應「跟 Google Drive、跟通用 AI 工具有什麼不同」。Demo 時要挑通用工具做起來麻煩的案例，例如分享流程或現場生成技能。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2128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45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17736" y="22128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C9A94E">
              <a:alpha val="88000"/>
            </a:srgbClr>
          </a:solidFill>
          <a:ln w="762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38944" y="22128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31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60152" y="22128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24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96528" y="273405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42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17736" y="273405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35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838944" y="273405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C9A94E">
              <a:alpha val="88000"/>
            </a:srgbClr>
          </a:solidFill>
          <a:ln w="762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360152" y="273405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21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796528" y="3255264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39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17736" y="3255264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C9A94E">
              <a:alpha val="88000"/>
            </a:srgbClr>
          </a:solidFill>
          <a:ln w="762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838944" y="3255264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25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360152" y="3255264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43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96528" y="377647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36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317736" y="377647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29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838944" y="377647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22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360152" y="377647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40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96528" y="4297680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33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17736" y="4297680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26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838944" y="4297680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44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360152" y="4297680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2F6F8F">
              <a:alpha val="37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1938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6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NTUST · 碩士專題報告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23591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雲端硬碟系統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822960" y="331012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整合對話式 AI 助理與時光機還原的隱私導向私有雲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" y="38221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12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 · 可自架 · 全流程可測試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5138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3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報告人：＿＿＿　·　指導教授：＿＿＿　·　2026 年 7 月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目錄：這份報告怎麼讀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AFBA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1225296"/>
          </a:xfrm>
          <a:prstGeom prst="roundRect">
            <a:avLst>
              <a:gd name="adj" fmla="val 5970"/>
            </a:avLst>
          </a:prstGeom>
          <a:solidFill>
            <a:srgbClr val="F7F9FB"/>
          </a:solidFill>
          <a:ln w="635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609344"/>
            <a:ext cx="1057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報告分成三個部分：先看系統如何設計，再看 AI 助理如何被驗證，最後是交付成果與回顧。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048256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時間有限可直接看 P.12–14（AI 助理引擎架構）與 P.20–22（測試結果與品質總覽）。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71216"/>
            <a:ext cx="3621024" cy="2889504"/>
          </a:xfrm>
          <a:prstGeom prst="roundRect">
            <a:avLst>
              <a:gd name="adj" fmla="val 2532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" y="3090672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07238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基礎與架構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8952" y="3493008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03–05　專案簡介、目標與功能範圍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06–07　系統架構與技術選型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08–09　後端模組化與資料模型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10–11　儲存機制與權限安全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70248" y="2871216"/>
            <a:ext cx="3621024" cy="2889504"/>
          </a:xfrm>
          <a:prstGeom prst="roundRect">
            <a:avLst>
              <a:gd name="adj" fmla="val 2532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6280" y="3090672"/>
            <a:ext cx="274320" cy="274320"/>
          </a:xfrm>
          <a:prstGeom prst="ellipse">
            <a:avLst/>
          </a:prstGeom>
          <a:solidFill>
            <a:srgbClr val="7E6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0328" y="307238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核心亮點：AI 助理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26280" y="3493008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12–13　助理總覽與引擎架構</a:t>
            </a:r>
          </a:p>
          <a:p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14–15　對話流程與架構決策</a:t>
            </a:r>
          </a:p>
          <a:p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16–17　安全控制與驗證動機</a:t>
            </a:r>
          </a:p>
          <a:p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18–19　測試方法論與穩定性三部曲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37576" y="2871216"/>
            <a:ext cx="3621024" cy="2889504"/>
          </a:xfrm>
          <a:prstGeom prst="roundRect">
            <a:avLst>
              <a:gd name="adj" fmla="val 2532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93608" y="3090672"/>
            <a:ext cx="274320" cy="274320"/>
          </a:xfrm>
          <a:prstGeom prst="ellipse">
            <a:avLst/>
          </a:prstGeom>
          <a:solidFill>
            <a:srgbClr val="C9A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93608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77656" y="307238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驗證、交付與回顧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93608" y="3493008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20–22　兩條測試線與品質總覽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23–24　指標演進與開發流程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25–27　系統部署與 Docker CI/CD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28–31　完成度、競品比較與回顧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01675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頁碼標示於每頁右上角，可依目錄直接跳至對應章節。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65671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專案簡介：要解決什麼問題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1225296"/>
          </a:xfrm>
          <a:prstGeom prst="roundRect">
            <a:avLst>
              <a:gd name="adj" fmla="val 5970"/>
            </a:avLst>
          </a:prstGeom>
          <a:solidFill>
            <a:srgbClr val="F7F9FB"/>
          </a:solidFill>
          <a:ln w="635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609344"/>
            <a:ext cx="1057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通用雲端硬碟把資料放在他人伺服器；要在自己掌控的儲存空間上，用自然語言完成檔案操作，目前沒有現成方案。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048256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以「自架 + 本地模型 + 完整檔案管理」三者同時成立為目標，並要求每一項能力都有可重複執行的驗證。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71216"/>
            <a:ext cx="3621024" cy="2889504"/>
          </a:xfrm>
          <a:prstGeom prst="roundRect">
            <a:avLst>
              <a:gd name="adj" fmla="val 2532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" y="3090672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07238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完整檔案管理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8952" y="3493008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資料夾樹、上傳下載、預覽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垃圾桶軟刪除與還原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檔名／全文／語意搜尋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指定使用者分享與公開連結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檔案版本與容量統計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70248" y="2871216"/>
            <a:ext cx="3621024" cy="2889504"/>
          </a:xfrm>
          <a:prstGeom prst="roundRect">
            <a:avLst>
              <a:gd name="adj" fmla="val 2532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6280" y="3090672"/>
            <a:ext cx="274320" cy="274320"/>
          </a:xfrm>
          <a:prstGeom prst="ellipse">
            <a:avLst/>
          </a:prstGeom>
          <a:solidFill>
            <a:srgbClr val="7E6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0328" y="307238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對話式 AI 助理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26280" y="3493008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自然語言操作檔案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先出計畫、破壞性操作需確認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可現場生成新技能並掛右鍵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多輪對話記憶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預設本地 Gemma 4 26B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37576" y="2871216"/>
            <a:ext cx="3621024" cy="2889504"/>
          </a:xfrm>
          <a:prstGeom prst="roundRect">
            <a:avLst>
              <a:gd name="adj" fmla="val 2532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93608" y="3090672"/>
            <a:ext cx="274320" cy="274320"/>
          </a:xfrm>
          <a:prstGeom prst="ellipse">
            <a:avLst/>
          </a:prstGeom>
          <a:solidFill>
            <a:srgbClr val="C9A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93608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77656" y="307238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時光機整碟還原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93608" y="3493008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把整個硬碟倒帶到過去時間點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排程／手動／助理操作前自動快照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 checksum 去重的增量儲存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還原前自動建保命快照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獨立快照配額，不吃檔案空間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01675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三者單獨都有現成產品，但「同時成立、而且能自架」的組合沒有——這就是本專案的切入點。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GOALS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系統目標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5440680" cy="2048256"/>
          </a:xfrm>
          <a:prstGeom prst="roundRect">
            <a:avLst>
              <a:gd name="adj" fmla="val 357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591056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功能目標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8952" y="1975104"/>
            <a:ext cx="4928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上傳檔案並以資料夾分類管理</a:t>
            </a:r>
            <a:endParaRPr lang="en-US" sz="12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以檔名、內容、語意三種方式搜尋</a:t>
            </a:r>
            <a:endParaRPr lang="en-US" sz="12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分享給指定使用者或產生公開連結</a:t>
            </a:r>
            <a:endParaRPr lang="en-US" sz="12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串流下載與線上預覽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217920" y="1389888"/>
            <a:ext cx="5440680" cy="2048256"/>
          </a:xfrm>
          <a:prstGeom prst="roundRect">
            <a:avLst>
              <a:gd name="adj" fmla="val 357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73952" y="1591056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系統目標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73952" y="1975104"/>
            <a:ext cx="4928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使用者之間的資料完全隔離</a:t>
            </a:r>
            <a:endParaRPr lang="en-US" sz="12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檔案儲存層可抽換，不綁死本機</a:t>
            </a:r>
            <a:endParaRPr lang="en-US" sz="12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推論預設留在本地，資料不外流</a:t>
            </a:r>
            <a:endParaRPr lang="en-US" sz="12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一行指令即可在任意主機啟動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驗收把關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041648"/>
            <a:ext cx="3621024" cy="1463040"/>
          </a:xfrm>
          <a:prstGeom prst="roundRect">
            <a:avLst>
              <a:gd name="adj" fmla="val 500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4242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安全與隔離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" y="462686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不能藉猜測 UUID 存取他人資源；未授權回傳正確錯誤碼且不洩漏資源是否存在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270248" y="4041648"/>
            <a:ext cx="3621024" cy="1463040"/>
          </a:xfrm>
          <a:prstGeom prst="roundRect">
            <a:avLst>
              <a:gd name="adj" fmla="val 500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26280" y="4242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品質與體驗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462686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前端清楚呈現 loading／empty／error；容量超限與同名衝突有明確提示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37576" y="4041648"/>
            <a:ext cx="3621024" cy="1463040"/>
          </a:xfrm>
          <a:prstGeom prst="roundRect">
            <a:avLst>
              <a:gd name="adj" fmla="val 500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93608" y="4242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測試與部署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93608" y="462686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前後端單元／整合／E2E 測試通過；Docker 開發環境可一鍵啟動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功能範圍：做什麼、不做什麼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3621024" cy="5029200"/>
          </a:xfrm>
          <a:prstGeom prst="roundRect">
            <a:avLst>
              <a:gd name="adj" fmla="val 202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5910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 MVP　已完成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975104"/>
            <a:ext cx="3108960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註冊、登入、JWT 驗證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資料夾建立／重新命名／移動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檔案上傳、串流下載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圖片／PDF／文字／Office 預覽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垃圾桶刪除、還原、永久刪除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檔名搜尋、星號、最近檔案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容量統計與配額限制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操作紀錄 activity log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389888"/>
            <a:ext cx="3621024" cy="5029200"/>
          </a:xfrm>
          <a:prstGeom prst="roundRect">
            <a:avLst>
              <a:gd name="adj" fmla="val 202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5910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擴充模組　已完成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1975104"/>
            <a:ext cx="3108960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指定使用者分享（三級權限）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公開分享連結＋密碼＋到期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檔案版本紀錄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全文內容搜尋（tsvector）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語意搜尋（pgvector）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In-App AI 助理與技能生成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時光機快照與整碟還原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外部模型接入（自帶憑證）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37576" y="1389888"/>
            <a:ext cx="3621024" cy="5029200"/>
          </a:xfrm>
          <a:prstGeom prst="roundRect">
            <a:avLst>
              <a:gd name="adj" fmla="val 202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93608" y="15910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不納入本次範圍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93608" y="1975104"/>
            <a:ext cx="3108960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管理員後台 UI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OAuth 第三方登入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WebSocket 即時通知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防毒掃描實作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端對端加密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線上 Office 共同編輯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桌面同步程式、手機 App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大檔案分片上傳核心流程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pic>
        <p:nvPicPr>
          <p:cNvPr id="5" name="Image 0" descr="/private/tmp/claude-501/-Users-linyueying-Library-CloudStorage-OneDrive-Personal-NTUST-Mester0-CloudDrive-doc/c35c6b45-8bc5-44cd-af2a-4f3d959ad328/scratchpad/png/04-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11155680" cy="32868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596128"/>
            <a:ext cx="2679192" cy="749808"/>
          </a:xfrm>
          <a:prstGeom prst="roundRect">
            <a:avLst>
              <a:gd name="adj" fmla="val 975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4088" y="568756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唯一入口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04088" y="59253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 → backend，零 CORS、換主機免重建前端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28416" y="5596128"/>
            <a:ext cx="2679192" cy="749808"/>
          </a:xfrm>
          <a:prstGeom prst="roundRect">
            <a:avLst>
              <a:gd name="adj" fmla="val 975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529584" y="568756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metadata 與 binary 分離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529584" y="59253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中繼資料進 PostgreSQL，檔案本體交 Storage Provider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53912" y="5596128"/>
            <a:ext cx="2679192" cy="749808"/>
          </a:xfrm>
          <a:prstGeom prst="roundRect">
            <a:avLst>
              <a:gd name="adj" fmla="val 975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55080" y="568756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儲存層可抽換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355080" y="59253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StorageProvider 為 Protocol 介面，本機實作可換物件儲存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979408" y="5596128"/>
            <a:ext cx="2679192" cy="749808"/>
          </a:xfrm>
          <a:prstGeom prst="roundRect">
            <a:avLst>
              <a:gd name="adj" fmla="val 975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80576" y="568756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推論預設本地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180576" y="59253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Ollama Gemma 4 26B；外送需經隱私閘且預設關閉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技術選型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5431536" cy="2404872"/>
          </a:xfrm>
          <a:prstGeom prst="roundRect">
            <a:avLst>
              <a:gd name="adj" fmla="val 3042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1609344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591056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8952" y="2011680"/>
            <a:ext cx="491947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React 19 + TypeScript + Vite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TanStack Query v5（server state）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Zustand v5（UI／auth state）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shadcn/ui + Tailwind CSS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Vitest + RTL + Playwright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27064" y="1389888"/>
            <a:ext cx="5431536" cy="2404872"/>
          </a:xfrm>
          <a:prstGeom prst="roundRect">
            <a:avLst>
              <a:gd name="adj" fmla="val 3042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83096" y="1609344"/>
            <a:ext cx="274320" cy="274320"/>
          </a:xfrm>
          <a:prstGeom prst="ellipse">
            <a:avLst/>
          </a:prstGeom>
          <a:solidFill>
            <a:srgbClr val="5E8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83096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67144" y="1591056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83096" y="2011680"/>
            <a:ext cx="491947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FastAPI + Python 3.12（uv 管理）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SQLAlchemy async + asyncpg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16 + pgvector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Alembic migration（單一 revision 鏈）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pytest + ruff + mypy 全數必過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014216"/>
            <a:ext cx="5431536" cy="2404872"/>
          </a:xfrm>
          <a:prstGeom prst="roundRect">
            <a:avLst>
              <a:gd name="adj" fmla="val 3042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8952" y="4233672"/>
            <a:ext cx="274320" cy="274320"/>
          </a:xfrm>
          <a:prstGeom prst="ellipse">
            <a:avLst/>
          </a:prstGeom>
          <a:solidFill>
            <a:srgbClr val="7E6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895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21538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58952" y="4636008"/>
            <a:ext cx="491947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Ollama · Gemma 4 26B（本地）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結構化解碼（JSON schema → grammar）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自訂 HARNESS 引擎與 workflow 管線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可選外部模型（使用者自帶憑證）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獨立 eval harness（YAML 案例）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27064" y="4014216"/>
            <a:ext cx="5431536" cy="2404872"/>
          </a:xfrm>
          <a:prstGeom prst="roundRect">
            <a:avLst>
              <a:gd name="adj" fmla="val 3042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83096" y="4233672"/>
            <a:ext cx="274320" cy="274320"/>
          </a:xfrm>
          <a:prstGeom prst="ellipse">
            <a:avLst/>
          </a:prstGeom>
          <a:solidFill>
            <a:srgbClr val="C9A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83096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67144" y="421538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維運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83096" y="4636008"/>
            <a:ext cx="491947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Compose 一行啟動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GitHub Actions CI + 自架 Runner CD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GHCR 以 commit SHA 標記映像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Cloudflare Tunnel 對外曝露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健康檢查失敗自動回滾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BACKEND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後端模組化設計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5486400" cy="2084832"/>
          </a:xfrm>
          <a:prstGeom prst="roundRect">
            <a:avLst>
              <a:gd name="adj" fmla="val 3509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591056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 domain 是一個自足套件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8952" y="1975104"/>
            <a:ext cx="497433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router.py　定義路由，不直接碰資料庫</a:t>
            </a:r>
            <a:endParaRPr lang="en-US" sz="118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service.py　商業邏輯與跨 repository 協調</a:t>
            </a:r>
            <a:endParaRPr lang="en-US" sz="118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repository.py　只負責資料存取</a:t>
            </a:r>
            <a:endParaRPr lang="en-US" sz="118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schemas.py　該模組的輸入輸出型別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02920" y="3694176"/>
            <a:ext cx="5486400" cy="2048256"/>
          </a:xfrm>
          <a:prstGeom prst="roundRect">
            <a:avLst>
              <a:gd name="adj" fmla="val 357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3895344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集中式把關，不分散在各 router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58952" y="4279392"/>
            <a:ext cx="49743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PermissionService　所有權限判斷的唯一入口</a:t>
            </a:r>
            <a:endParaRPr lang="en-US" sz="118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QuotaService　所有容量檢查的唯一入口</a:t>
            </a:r>
            <a:endParaRPr lang="en-US" sz="118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統一錯誤格式　AppError 子類 → 一致的 JSON</a:t>
            </a:r>
            <a:endParaRPr lang="en-US" sz="118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ActivityLogService　記錄失敗不影響主流程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263640" y="1389888"/>
            <a:ext cx="5394960" cy="4352544"/>
          </a:xfrm>
          <a:prstGeom prst="roundRect">
            <a:avLst>
              <a:gd name="adj" fmla="val 1681"/>
            </a:avLst>
          </a:prstGeom>
          <a:solidFill>
            <a:srgbClr val="F7F9FB"/>
          </a:solidFill>
          <a:ln w="635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16093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模組依賴方向（單向，不可逆）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2029968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20840" y="21031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20840" y="234086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接收請求、回傳回應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2651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0B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37960" y="2871216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5E8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294436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Service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20840" y="318211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商業邏輯、協調各方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37960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0B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3712464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37856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Repository ／ StorageProvider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20840" y="40233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資料存取、檔案讀寫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43342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0B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37960" y="4553712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20840" y="46268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／ 檔案系統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20840" y="48646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實際持久層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37960" y="5321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Repository 不可呼叫 Service；StorageProvider 不可呼叫 Repository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資料模型：核心 ER Diagram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09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pic>
        <p:nvPicPr>
          <p:cNvPr id="5" name="Image 0" descr="/private/tmp/claude-501/-Users-linyueying-Library-CloudStorage-OneDrive-Personal-NTUST-Mester0-CloudDrive-doc/c35c6b45-8bc5-44cd-af2a-4f3d959ad328/scratchpad/png/01-erd-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81328"/>
            <a:ext cx="10607040" cy="40843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596128"/>
            <a:ext cx="2679192" cy="749808"/>
          </a:xfrm>
          <a:prstGeom prst="roundRect">
            <a:avLst>
              <a:gd name="adj" fmla="val 975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4088" y="568756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drive_items 單表樹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04088" y="59253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parent_id 自關聯，檔案與資料夾同表管理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28416" y="5596128"/>
            <a:ext cx="2679192" cy="749808"/>
          </a:xfrm>
          <a:prstGeom prst="roundRect">
            <a:avLst>
              <a:gd name="adj" fmla="val 975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529584" y="568756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星號個人化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529584" y="59253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user_item_preferences 為權威來源，分享互不污染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53912" y="5596128"/>
            <a:ext cx="2679192" cy="749808"/>
          </a:xfrm>
          <a:prstGeom prst="roundRect">
            <a:avLst>
              <a:gd name="adj" fmla="val 975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55080" y="568756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憑證只存 hash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355080" y="59253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refresh token 與分享連結 token 皆不存明文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979408" y="5596128"/>
            <a:ext cx="2679192" cy="749808"/>
          </a:xfrm>
          <a:prstGeom prst="roundRect">
            <a:avLst>
              <a:gd name="adj" fmla="val 975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80576" y="568756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版本與去重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180576" y="59253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file_versions + checksum 供時光機共用內容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STORAGE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儲存機制：metadata 與檔案本體怎麼存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10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969264"/>
          </a:xfrm>
          <a:prstGeom prst="roundRect">
            <a:avLst>
              <a:gd name="adj" fmla="val 7547"/>
            </a:avLst>
          </a:prstGeom>
          <a:solidFill>
            <a:srgbClr val="F7F9FB"/>
          </a:solidFill>
          <a:ln w="635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572768"/>
            <a:ext cx="10570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中繼資料進 PostgreSQL，檔案本體交 Storage Provider，兩者以 storage_key 關聯 —— 不是單純把檔案丟進某個資料夾。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1938528"/>
            <a:ext cx="10570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檔案操作不在資料庫交易之內，因此採「補償式一致性」而非分散式交易；殘留風險由背景 GC 與定期 storage audit 收斂。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02920" y="2578608"/>
            <a:ext cx="5440680" cy="2487168"/>
          </a:xfrm>
          <a:prstGeom prst="roundRect">
            <a:avLst>
              <a:gd name="adj" fmla="val 294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" y="2798064"/>
            <a:ext cx="274320" cy="274320"/>
          </a:xfrm>
          <a:prstGeom prst="ellipse">
            <a:avLst/>
          </a:prstGeom>
          <a:solidFill>
            <a:srgbClr val="5E8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7797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上傳：先寫檔、後寫庫、失敗即補償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8952" y="3200400"/>
            <a:ext cx="492861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　先把 blob 寫入 storage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　再建立 drive_items／file_versions／配額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　資料庫階段失敗 → 立即刪除剛寫入的 blob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避免出現「有檔案、無紀錄」的孤兒 blob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578608"/>
            <a:ext cx="5440680" cy="2487168"/>
          </a:xfrm>
          <a:prstGeom prst="roundRect">
            <a:avLst>
              <a:gd name="adj" fmla="val 294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73952" y="2798064"/>
            <a:ext cx="274320" cy="274320"/>
          </a:xfrm>
          <a:prstGeom prst="ellipse">
            <a:avLst/>
          </a:prstGeom>
          <a:solidFill>
            <a:srgbClr val="B06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73952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27797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刪除：先清紀錄、blob 交背景回收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73952" y="3200400"/>
            <a:ext cx="492861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　先移除 metadata 與配額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　依快照引用計數判斷 blob 是否可刪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　仍被快照引用或無法證明安全 → 保留交 GC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策略上優先避免誤刪仍可還原的內容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285232"/>
            <a:ext cx="11155680" cy="786384"/>
          </a:xfrm>
          <a:prstGeom prst="roundRect">
            <a:avLst>
              <a:gd name="adj" fmla="val 9302"/>
            </a:avLst>
          </a:prstGeom>
          <a:solidFill>
            <a:srgbClr val="F7F9FB"/>
          </a:solidFill>
          <a:ln w="635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5528" y="5486400"/>
            <a:ext cx="10570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極端中斷仍可能留下孤兒或缺失的檔案本體，因此正式環境另以定期 storage audit 產生對帳報告；操作紀錄屬輔助稽核，不阻塞主要業務流程。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SECURITY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權限隔離與安全：如何證明擋得住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11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5120640" cy="1975104"/>
          </a:xfrm>
          <a:prstGeom prst="roundRect">
            <a:avLst>
              <a:gd name="adj" fmla="val 3704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591056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四級權限，集中判斷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8952" y="1975104"/>
            <a:ext cx="46085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owner／editor／downloader／viewer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全部收斂在 PermissionService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沿 parent 鏈向上走訪，取最高權限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分享資料夾時子項目自動繼承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584448"/>
            <a:ext cx="5120640" cy="2157984"/>
          </a:xfrm>
          <a:prstGeom prst="roundRect">
            <a:avLst>
              <a:gd name="adj" fmla="val 339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3785616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零信任：後端不採信前端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58952" y="4169664"/>
            <a:ext cx="460857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user_id 一律從 JWT 取，不讀請求參數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前端擋住不算數，端點本身必須擋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refresh token 與分享 token 只存 hash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使用者外部模型憑證加密儲存、永不回明文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97880" y="1389888"/>
            <a:ext cx="5760720" cy="4352544"/>
          </a:xfrm>
          <a:prstGeom prst="roundRect">
            <a:avLst>
              <a:gd name="adj" fmla="val 1681"/>
            </a:avLst>
          </a:prstGeom>
          <a:solidFill>
            <a:srgbClr val="F7F9FB"/>
          </a:solidFill>
          <a:ln w="635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16093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可驗證的隔離　—　用測試證明，不用嘴巴保證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8776" y="2121408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08776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47688" y="20665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以使用者 A 的 token 呼叫 API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47688" y="23408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取得合法的 access token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08776" y="2907792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08776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47688" y="28529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指定使用者 B 的資源 ID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47688" y="31272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 對該資源沒有任何權限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08776" y="3694176"/>
            <a:ext cx="274320" cy="274320"/>
          </a:xfrm>
          <a:prstGeom prst="ellipse">
            <a:avLst/>
          </a:prstGeom>
          <a:solidFill>
            <a:srgbClr val="B06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08776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47688" y="3639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預期回傳 403／404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47688" y="39136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且不透露該資源是否存在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208776" y="4480560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08776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47688" y="44256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納入自動化測試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47688" y="47000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 CI 重跑，避免無聲回歸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172200" y="52669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維運面：正式站台已觀察到外部掃描流量，nginx 已更新至最新版本。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ASSISTANT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核心亮點：In-App AI 助理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12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7F9FB"/>
          </a:solidFill>
          <a:ln w="635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627632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在網頁裡用自然語言操作自己的雲端硬碟；模型跑在本地，破壞性操作一定先出計畫、等使用者確認。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450592"/>
            <a:ext cx="2679192" cy="3291840"/>
          </a:xfrm>
          <a:prstGeom prst="roundRect">
            <a:avLst>
              <a:gd name="adj" fmla="val 273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8952" y="2670048"/>
            <a:ext cx="274320" cy="274320"/>
          </a:xfrm>
          <a:prstGeom prst="ellipse">
            <a:avLst/>
          </a:prstGeom>
          <a:solidFill>
            <a:srgbClr val="7E6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6517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對話操作檔案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2167128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建立、改名、移動、刪除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搜尋與整理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一律經既有 service 層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天然沿用配額與權限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28416" y="2450592"/>
            <a:ext cx="2679192" cy="3291840"/>
          </a:xfrm>
          <a:prstGeom prst="roundRect">
            <a:avLst>
              <a:gd name="adj" fmla="val 273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84448" y="2670048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84448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68496" y="26517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計畫先行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84448" y="3072384"/>
            <a:ext cx="2167128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先產生結構化 workflow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顯示步驟給使用者看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唯讀操作可自動執行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破壞性一定要確認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2450592"/>
            <a:ext cx="2679192" cy="3291840"/>
          </a:xfrm>
          <a:prstGeom prst="roundRect">
            <a:avLst>
              <a:gd name="adj" fmla="val 273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9944" y="2670048"/>
            <a:ext cx="274320" cy="274320"/>
          </a:xfrm>
          <a:prstGeom prst="ellipse">
            <a:avLst/>
          </a:prstGeom>
          <a:solidFill>
            <a:srgbClr val="C9A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9944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93992" y="26517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現場生成技能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9944" y="3072384"/>
            <a:ext cx="2167128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描述需求即可產生新功能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產生程式碼 → 靜態檢查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使用者核可 → 沙箱執行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可掛上右鍵選單重用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79408" y="2450592"/>
            <a:ext cx="2679192" cy="3291840"/>
          </a:xfrm>
          <a:prstGeom prst="roundRect">
            <a:avLst>
              <a:gd name="adj" fmla="val 273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35440" y="2670048"/>
            <a:ext cx="274320" cy="274320"/>
          </a:xfrm>
          <a:prstGeom prst="ellipse">
            <a:avLst/>
          </a:prstGeom>
          <a:solidFill>
            <a:srgbClr val="5E8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3544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19488" y="26517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多輪記憶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35440" y="3072384"/>
            <a:ext cx="2167128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載入最近 N 則歷史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工具結果寫回對話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支援「第二個」這類指涉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 session 持久化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ENGINE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助理引擎架構：Agent Harness 六元件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13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把助理視為「LLM + 外部 harness」共同構成的系統。程式碼層拆成九個實作模組（為了可測試性），對外以文獻的六元件框架說明。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3621024" cy="1810512"/>
          </a:xfrm>
          <a:prstGeom prst="roundRect">
            <a:avLst>
              <a:gd name="adj" fmla="val 404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8952" y="2066544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048256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Execution Loop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6888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主迴圈驅動「送訊息 → 解析 → 執行 → 回填」；workflow 執行器處理步驟相依與錯誤策略；模型路由亦歸於此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270248" y="1847088"/>
            <a:ext cx="3621024" cy="1810512"/>
          </a:xfrm>
          <a:prstGeom prst="roundRect">
            <a:avLst>
              <a:gd name="adj" fmla="val 404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26280" y="2066544"/>
            <a:ext cx="274320" cy="274320"/>
          </a:xfrm>
          <a:prstGeom prst="ellipse">
            <a:avLst/>
          </a:prstGeom>
          <a:solidFill>
            <a:srgbClr val="5E8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2048256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Tool / Skill Registry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46888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內建、自訂與現場生成的技能都是 registry 的來源；manifest 定義參數 schema、權限標記與 handler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37576" y="1847088"/>
            <a:ext cx="3621024" cy="1810512"/>
          </a:xfrm>
          <a:prstGeom prst="roundRect">
            <a:avLst>
              <a:gd name="adj" fmla="val 404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93608" y="2066544"/>
            <a:ext cx="274320" cy="274320"/>
          </a:xfrm>
          <a:prstGeom prst="ellipse">
            <a:avLst/>
          </a:prstGeom>
          <a:solidFill>
            <a:srgbClr val="C9A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93608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77656" y="2048256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 Manager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93608" y="246888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預算、歷史裁切與摘要、工具輸出瘦身、技能清單注入與 prompt 組裝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02920" y="3840480"/>
            <a:ext cx="3621024" cy="1810512"/>
          </a:xfrm>
          <a:prstGeom prst="roundRect">
            <a:avLst>
              <a:gd name="adj" fmla="val 404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58952" y="4059936"/>
            <a:ext cx="274320" cy="274320"/>
          </a:xfrm>
          <a:prstGeom prst="ellipse">
            <a:avLst/>
          </a:prstGeom>
          <a:solidFill>
            <a:srgbClr val="7E6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8952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4041648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State Store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" y="4462272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sessions／messages／skills／workflows 全部持久化到資料庫，並一律依 user_id 隔離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270248" y="3840480"/>
            <a:ext cx="3621024" cy="1810512"/>
          </a:xfrm>
          <a:prstGeom prst="roundRect">
            <a:avLst>
              <a:gd name="adj" fmla="val 404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26280" y="4059936"/>
            <a:ext cx="274320" cy="274320"/>
          </a:xfrm>
          <a:prstGeom prst="ellipse">
            <a:avLst/>
          </a:prstGeom>
          <a:solidFill>
            <a:srgbClr val="B06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26280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0328" y="4041648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Lifecycle Hooks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26280" y="4462272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治理層：權限分類、使用者核可、程式碼靜態檢查、沙箱與稽核，含對外傳送的隱私閘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037576" y="3840480"/>
            <a:ext cx="3621024" cy="1810512"/>
          </a:xfrm>
          <a:prstGeom prst="roundRect">
            <a:avLst>
              <a:gd name="adj" fmla="val 404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93608" y="4059936"/>
            <a:ext cx="274320" cy="274320"/>
          </a:xfrm>
          <a:prstGeom prst="ellipse">
            <a:avLst/>
          </a:prstGeom>
          <a:solidFill>
            <a:srgbClr val="1D3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93608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77656" y="4041648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Evaluation Interface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93608" y="4462272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離線開發者工具，從外部呼叫 /assistant/chat；確定性斷言為主、LLM judge 為輔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02920" y="57607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 不在使用者請求路徑上——它是從外部打 API 的離線評測工具，這點在架構圖上要畫在 runtime 旁側。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一次對話是怎麼被完成的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14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pic>
        <p:nvPicPr>
          <p:cNvPr id="5" name="Image 0" descr="/private/tmp/claude-501/-Users-linyueying-Library-CloudStorage-OneDrive-Personal-NTUST-Mester0-CloudDrive-doc/c35c6b45-8bc5-44cd-af2a-4f3d959ad328/scratchpad/png/05-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44752"/>
            <a:ext cx="11155680" cy="13659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090672"/>
            <a:ext cx="3621024" cy="2651760"/>
          </a:xfrm>
          <a:prstGeom prst="roundRect">
            <a:avLst>
              <a:gd name="adj" fmla="val 2759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8952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為什麼不用自由 tool 迴圈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8952" y="3675888"/>
            <a:ext cx="31089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權限模型依賴「完整計畫先行」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逐步決策會讓「使用者核可了什麼」失去邊界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本地小模型跑長程多輪容易漂移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一次規劃 + 約束解碼 + 驗證，把弱模型鎖在能力範圍內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4270248" y="3090672"/>
            <a:ext cx="3621024" cy="2651760"/>
          </a:xfrm>
          <a:prstGeom prst="roundRect">
            <a:avLst>
              <a:gd name="adj" fmla="val 2759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26280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失敗時誠實報告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26280" y="3675888"/>
            <a:ext cx="31089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規劃時寫的回覆不能當執行結果用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任何步驟失敗 → 改用程式組合的事實報告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說明哪一步失敗、已完成哪些、其後未執行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不經 LLM 潤飾，杜絕「沒做完卻說做完」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037576" y="3090672"/>
            <a:ext cx="3621024" cy="2651760"/>
          </a:xfrm>
          <a:prstGeom prst="roundRect">
            <a:avLst>
              <a:gd name="adj" fmla="val 2759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93608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有限度的重新規劃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93608" y="3675888"/>
            <a:ext cx="31089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僅 chat 快速路徑允許失敗後重規劃一次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重規劃結果必須全為唯讀且可自動確認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confirm／rerun 路徑只誠實回報，不偷換步驟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授權是給規則，不是給那一份計畫</a:t>
            </a:r>
            <a:endParaRPr lang="en-US" sz="1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DECISIONS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架構決策紀錄：里程碑決策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15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每個決策以 ADR 格式記錄背景、決策、理由、已知取捨與影響範圍，讓設計可追溯、可被質疑、也可被翻案。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10512"/>
          <a:ext cx="11155680" cy="396849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編號</a:t>
                      </a:r>
                      <a:endParaRPr lang="en-US" sz="112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決策</a:t>
                      </a:r>
                      <a:endParaRPr lang="en-US" sz="112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為什麼這樣決定</a:t>
                      </a:r>
                      <a:endParaRPr lang="en-US" sz="112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DEC-016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不採用 OpenClaw，自建 In-App Assistant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OpenClaw 是 Node 單人 daemon，與 Python 多使用者 web 技術棧與使用模型皆不符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DEC-017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助理一律經 service 層，不直接操作資料庫或檔案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配額、權限、命名衝突、軟刪除等關鍵不變量全在 service 層，繞過等於重寫一遍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DEC-018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採本地 Gemma 4 26B，不用雲端 API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符合自訂、可離線、資料不外流的需求；以 LLMClient 抽象讓推論後端可替換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DEC-023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隱私閘：涉私資料的任務限本地執行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去識別化失敗即禁止外送；隱私永遠優先於能力升級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DEC-024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新增時光機，以整碟時間點表達硬碟狀態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既有 file_versions 只記單檔版本，無法表達「整碟在時間 T 的樣子」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DEC-025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一行啟動、前端同源反向代理、選用功能可關閉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部署到任意主機零設定；沒有 Ollama 的人仍能跑起核心功能</a:t>
                      </a:r>
                      <a:endParaRPr lang="en-US" sz="11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DECISIONS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助理的安全與執行控制決策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16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5440680" cy="2139696"/>
          </a:xfrm>
          <a:prstGeom prst="roundRect">
            <a:avLst>
              <a:gd name="adj" fmla="val 3419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591056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DEC-019　自我撰寫技能的三道關卡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8952" y="1975104"/>
            <a:ext cx="49286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子代理產生程式碼，狀態停在 pending_approval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使用者明確核可後才可執行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在受限子行程沙箱執行：限 CPU／記憶體／逾時，無對外網路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所有動作寫入 activity log；絕不自動執行未審核程式碼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6217920" y="1389888"/>
            <a:ext cx="5440680" cy="2139696"/>
          </a:xfrm>
          <a:prstGeom prst="roundRect">
            <a:avLst>
              <a:gd name="adj" fmla="val 3419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73952" y="1591056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DEC-021　Workflow 管線 + 計畫確認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3952" y="1975104"/>
            <a:ext cx="49286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自然語言 → 結構化 workflow → 技能檢查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權限與安全分類後顯示執行計畫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唯讀且非破壞可走自動確認快速路徑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workflow 可儲存重用、可稽核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40680" cy="1993392"/>
          </a:xfrm>
          <a:prstGeom prst="roundRect">
            <a:avLst>
              <a:gd name="adj" fmla="val 367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" y="3950208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DEC-029　誠實報告，不採 agentic loop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8952" y="4334256"/>
            <a:ext cx="49286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逐步決策會掏空事前確認閘的意義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弱模型跑長程迴圈容易漂移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工作流多為 2–3 步，成功路徑不該付 N 倍成本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失敗才重規劃，成功維持一次呼叫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217920" y="3749040"/>
            <a:ext cx="5440680" cy="1993392"/>
          </a:xfrm>
          <a:prstGeom prst="roundRect">
            <a:avLst>
              <a:gd name="adj" fmla="val 367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73952" y="3950208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DEC-030　工作流維持串行，暫不並行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73952" y="4334256"/>
            <a:ext cx="49286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共用的 AsyncSession 不允許並發使用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每步獨立交易會失去整體回滾能力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並行會引入配額競賽與連線池耗盡問題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失敗隔離已解掉正確性問題，並行只省延遲</a:t>
            </a:r>
            <a:endParaRPr lang="en-US" sz="11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WHY EVALUATE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為什麼需要真實模型驗證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17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591056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傳統單元測試驗不到的部分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1975104"/>
            <a:ext cx="492861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單元測試中的 LLM 是 mock，回應預先寫好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通過只代表程式控制流程與資料結構正確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驗不到真實模型在 workflow 規劃上的行為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也驗不到工具選擇、權限判定、多輪指涉是否穩定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8988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73952" y="1591056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因此建立真實模型驗證系統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73952" y="1975104"/>
            <a:ext cx="492861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自外部呼叫 /assistant/chat，如同真實使用者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量測 Gemma 4 26B 在 CloudDrive harness 中的行為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評估對象是「模型 + harness 組態」，不是單一文字回答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以多次執行的通過率與逐樣本 log 作為判斷依據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913632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13212A"/>
          </a:solidFill>
          <a:ln w="6350">
            <a:solidFill>
              <a:srgbClr val="132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關鍵區別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517136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這套系統的目的不是評估「模型寫得好不好」，而是評估「在我們的 harness 約束下，模型能不能穩定地把事情做對」。同一個模型換一套 harness，結果可以完全不同——因此結論綁定於這組配置。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測試系統組成與方法論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18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三層測試定位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B06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81051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真實模型 API eval sweep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" y="2048256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量測 pass-rate、延遲與 loop_suspect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886968" y="2560320"/>
            <a:ext cx="4626864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88136" y="2651760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LLM Judge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88136" y="2889504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質性分析與優缺點回饋，非量化分數來源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1271016" y="3401568"/>
            <a:ext cx="385876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72184" y="349300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確定性單元／整合測試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72184" y="373075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防止程式管線退化，CI 必跑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502920" y="42793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所有量化通過率皆由確定性驗證器判定，不由 LLM Judge 打分。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590288"/>
            <a:ext cx="5394960" cy="1152144"/>
          </a:xfrm>
          <a:prstGeom prst="roundRect">
            <a:avLst>
              <a:gd name="adj" fmla="val 6349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8952" y="479145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確定性驗證器怎麼判定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" y="5175504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把模型回傳的結構化 JSON 做固定條件比對：status 是否為 pending_approval、steps 是否含指定技能、新名稱是否出現。相同回應必得相同判定，因此通過率可重現。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172200" y="1389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量產案例分層：EC1 – EC4（每層 100 案，共 400）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7220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依「任務複雜度 × 是否涉及寫入」遞增。各層是獨立案例集，不是同一任務的階段。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2139696"/>
            <a:ext cx="5486400" cy="621792"/>
          </a:xfrm>
          <a:prstGeom prst="roundRect">
            <a:avLst>
              <a:gd name="adj" fmla="val 735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73368" y="232257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EC1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23176" y="22402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唯讀多工具（3+ 查詢工具組合）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15016" y="232257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自動執行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172200" y="2889504"/>
            <a:ext cx="5486400" cy="621792"/>
          </a:xfrm>
          <a:prstGeom prst="roundRect">
            <a:avLst>
              <a:gd name="adj" fmla="val 735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73368" y="307238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EC2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23176" y="29900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查詢當脈絡 + 寫入／批次技能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15016" y="307238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需確認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6172200" y="3639312"/>
            <a:ext cx="5486400" cy="621792"/>
          </a:xfrm>
          <a:prstGeom prst="roundRect">
            <a:avLst>
              <a:gd name="adj" fmla="val 735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73368" y="382219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EC3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123176" y="37398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自我撰寫生成（100 種不同技能）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15016" y="3822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需核可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172200" y="4389120"/>
            <a:ext cx="5486400" cy="621792"/>
          </a:xfrm>
          <a:prstGeom prst="roundRect">
            <a:avLst>
              <a:gd name="adj" fmla="val 735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73368" y="45720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EC4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123176" y="448970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多步驟 + 跨步驟引用前一步輸出 + 寫入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15016" y="45720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需確認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6172200" y="51937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引擎骨架階段的唯讀行為由手寫案例覆蓋，不列入量產分層。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6172200" y="55046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代號分離（DEC-039）：M 專指助理引擎的開發里程碑，EC 專指評測案例分層——先前兩者共用 M 導致語境混淆，已拆開並重新編號為自足的 1–4。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6172200" y="610819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各層是獨立事件，結果不可用折線圖連接——本報告一律以表格或長條圖呈現。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DECISIONS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模型穩定性三部曲：把「請模型遵守」換成「使其不可違反」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19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3621024" cy="2834640"/>
          </a:xfrm>
          <a:prstGeom prst="roundRect">
            <a:avLst>
              <a:gd name="adj" fmla="val 258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901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生成上限 + 非零溫度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2860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　</a:t>
            </a: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結構化請求把溫度釘 0，貪婪解碼在 thinking 段掉入決定性重複迴圈，吃滿 300 秒逾時。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29443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　</a:t>
            </a: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一律帶 num_predict 生成上限；結構化請求改用低而非零的溫度。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360273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　</a:t>
            </a: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以有界失敗取代長時間停滯，並讓重試真正有效。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70248" y="1389888"/>
            <a:ext cx="3621024" cy="2834640"/>
          </a:xfrm>
          <a:prstGeom prst="roundRect">
            <a:avLst>
              <a:gd name="adj" fmla="val 258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1901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技能名以 enum 枚舉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2860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　</a:t>
            </a: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模型會捏造不存在的技能名，prompt 要求「只用清單內技能」沒有強制力。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9443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　</a:t>
            </a: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每次依當下 registry 動態組 schema，技能欄位以真實技能名做 enum。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360273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　</a:t>
            </a: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約束解碼在取樣時直接遮蔽，幻覺技能變成不可生成。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37576" y="1389888"/>
            <a:ext cx="3621024" cy="2834640"/>
          </a:xfrm>
          <a:prstGeom prst="roundRect">
            <a:avLst>
              <a:gd name="adj" fmla="val 258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93608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93608" y="1901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規劃預設關閉 thinking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08" y="22860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　</a:t>
            </a: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前兩道防線後，重複生成仍以約一至二成殘存，且只發生在 thinking 段。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93608" y="29443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　</a:t>
            </a: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planner 呼叫預設 think:false，可用環境變數關回；產碼路徑不連動。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3608" y="360273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　</a:t>
            </a: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重複生成歸零、延遲下降一個數量級。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443984"/>
            <a:ext cx="11155680" cy="1298448"/>
          </a:xfrm>
          <a:prstGeom prst="roundRect">
            <a:avLst>
              <a:gd name="adj" fmla="val 5634"/>
            </a:avLst>
          </a:prstGeom>
          <a:solidFill>
            <a:srgbClr val="13212A"/>
          </a:solidFill>
          <a:ln w="6350">
            <a:solidFill>
              <a:srgbClr val="132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4608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共同哲學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4937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能用機制保證的事，就不要依賴模型自覺。三個決策都不是把 prompt 寫得更懇切，而是讓錯誤的輸出在取樣層就無法產生、或在有界時間內必然停止。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RESULT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測試線一：規劃可靠度與重複生成防護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20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45920"/>
          <a:ext cx="5943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4622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依測試方法論，EC 各層為獨立案例集，故以長條圖呈現、不以折線連接。</a:t>
            </a:r>
            <a:endParaRPr lang="en-US" sz="1030" dirty="0"/>
          </a:p>
        </p:txBody>
      </p:sp>
      <p:sp>
        <p:nvSpPr>
          <p:cNvPr id="7" name="Shape 4"/>
          <p:cNvSpPr/>
          <p:nvPr/>
        </p:nvSpPr>
        <p:spPr>
          <a:xfrm>
            <a:off x="6720840" y="1389888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995160" y="15544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平均規劃延遲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995160" y="18470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92.4</a:t>
            </a:r>
            <a:r>
              <a:rPr lang="en-US" sz="14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秒　→　</a:t>
            </a:r>
            <a:r>
              <a:rPr lang="en-US" sz="30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8.6</a:t>
            </a:r>
            <a:r>
              <a:rPr lang="en-US" sz="14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720840" y="2816352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76872" y="3017520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溫度的角色要限縮在本次範圍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976872" y="3401568"/>
            <a:ext cx="4425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 4 案例掃描中，關閉 thinking 後未觀察到溫度對通過率造成差異。先前看似的溫度效應，主要來自 thinking 段重複生成與逾時，而非最終結構化輸出本身。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720840" y="4407408"/>
            <a:ext cx="4937760" cy="1335024"/>
          </a:xfrm>
          <a:prstGeom prst="roundRect">
            <a:avLst>
              <a:gd name="adj" fmla="val 5479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76872" y="4608576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待排除的干擾因素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976872" y="4992624"/>
            <a:ext cx="4425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開啟 thinking 時輸出可能超過脈絡長度而被截斷，使模型「看起來變笨」。需檢查回應的結束原因欄位，確認是正常結束或長度截斷，再對結論定稿。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RESULT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測試線二：多輪記憶的可量測化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21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新增對話記憶後，早期系統雖把對話寫入資料庫，但規劃器只收到當前訊息，導致多輪指涉失效。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10512"/>
          <a:ext cx="11155680" cy="19751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案例 ID</a:t>
                      </a:r>
                      <a:endParaRPr lang="en-US" sz="112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驗證內容</a:t>
                      </a:r>
                      <a:endParaRPr lang="en-US" sz="112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結果</a:t>
                      </a:r>
                      <a:endParaRPr lang="en-US" sz="112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multiturn-create-second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從對話文字解析「第二個 = 2023」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5E8F72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5 / 5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multiturn-rename-first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從結果摘要取得 item_id 執行改名（間接案例）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5E8F72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5 / 5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multiturn-recall-listed-names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僅從對話報出全部三個名稱（嚴格回想案例）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5E8F72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修復前 0 / 5　→　修復後 5 / 5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675888"/>
            <a:ext cx="5440680" cy="2066544"/>
          </a:xfrm>
          <a:prstGeom prst="roundRect">
            <a:avLst>
              <a:gd name="adj" fmla="val 354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8952" y="3877056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修正了什麼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" y="4261104"/>
            <a:ext cx="49286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載入最近 N 則對話歷史給規劃器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以助理文字承載工具執行結果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確認執行後把結果摘要寫回對話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修正 list root 與摘要截斷兩個疊加缺陷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6217920" y="3675888"/>
            <a:ext cx="5440680" cy="2066544"/>
          </a:xfrm>
          <a:prstGeom prst="roundRect">
            <a:avLst>
              <a:gd name="adj" fmla="val 354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73952" y="3877056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為什麼要有「嚴格回想」案例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73952" y="4261104"/>
            <a:ext cx="49286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間接案例只能證明模型用到了歷史中的某個 item_id，無法證明它真的記得內容。嚴格回想案例直接要求報出完整名稱，因而揭露了間接案例覆蓋不到的記憶保真問題。修復後三案例綜合通過率 100%（15/15），且無任何重複生成樣本。</a:t>
            </a:r>
            <a:endParaRPr lang="en-US" sz="11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測試與品質總覽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22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3621024" cy="2468880"/>
          </a:xfrm>
          <a:prstGeom prst="roundRect">
            <a:avLst>
              <a:gd name="adj" fmla="val 296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1609344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591056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8952" y="2011680"/>
            <a:ext cx="3108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Vitest + React Testing Library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登入驗證、列表渲染、上傳進度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右鍵選單、分享彈窗、搜尋 debounce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Playwright E2E：登入到分享全流程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270248" y="1389888"/>
            <a:ext cx="3621024" cy="2468880"/>
          </a:xfrm>
          <a:prstGeom prst="roundRect">
            <a:avLst>
              <a:gd name="adj" fmla="val 296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609344"/>
            <a:ext cx="274320" cy="274320"/>
          </a:xfrm>
          <a:prstGeom prst="ellipse">
            <a:avLst/>
          </a:prstGeom>
          <a:solidFill>
            <a:srgbClr val="5E8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1591056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26280" y="2011680"/>
            <a:ext cx="3108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pytest 單元測試 + 整合測試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權限拒絕、分享權限、容量限制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整合測試以真實 PostgreSQL 執行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ruff + mypy 全數必過才算完成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037576" y="1389888"/>
            <a:ext cx="3621024" cy="2468880"/>
          </a:xfrm>
          <a:prstGeom prst="roundRect">
            <a:avLst>
              <a:gd name="adj" fmla="val 296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93608" y="1609344"/>
            <a:ext cx="274320" cy="274320"/>
          </a:xfrm>
          <a:prstGeom prst="ellipse">
            <a:avLst/>
          </a:prstGeom>
          <a:solidFill>
            <a:srgbClr val="7E6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93608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77656" y="1591056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助理專屬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93608" y="2011680"/>
            <a:ext cx="3108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獨立 eval harness（YAML 案例）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確定性斷言為主、judge 為輔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CI 走 mock 決定性路徑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真實模型量測通過率與變異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02920" y="4078224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" y="4279392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回歸防護：守住不變式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66344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access token 不得寫入 localStorage／sessionStorage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 例外對應的 HTTP 狀態碼不得改變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上傳必須自動建立第一版版本紀錄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217920" y="4078224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73952" y="4279392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評測的已知限制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3952" y="466344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結論綁定單一模型與單一 GPU，換模型須重測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部分掃描樣本數為 5–10，反映趨勢而非精確統計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案例為刻意構造，不等同真實使用分佈</a:t>
            </a:r>
            <a:endParaRPr lang="en-US" sz="11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評估指標的演進與未來方向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23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591056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曾經過於嚴苛的評分方式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8952" y="1975104"/>
            <a:ext cx="49286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原本要求每個步驟都與預期完全相符</a:t>
            </a:r>
            <a:endParaRPr lang="en-US" sz="114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但不同步驟順序也可能達成同樣效果</a:t>
            </a:r>
            <a:endParaRPr lang="en-US" sz="114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導致安全閘其實有生效的樣本被誤判為失敗</a:t>
            </a:r>
            <a:endParaRPr lang="en-US" sz="114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已改為以「任務是否達成」為主要判準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6217920" y="1389888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73952" y="1591056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目前的判準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3952" y="1975104"/>
            <a:ext cx="49286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狀態是否正確（自動執行 vs 待確認）</a:t>
            </a:r>
            <a:endParaRPr lang="en-US" sz="114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是否選用了正確的技能</a:t>
            </a:r>
            <a:endParaRPr lang="en-US" sz="114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關鍵參數是否出現在步驟中</a:t>
            </a:r>
            <a:endParaRPr lang="en-US" sz="114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相同回應必得相同判定，可重現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下一步：更客觀、可跨案例比較的指標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968496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2376" y="4151376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2376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" y="453542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用量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2376" y="482803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完成同一任務所消耗的總 token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2807208" y="3968496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026664" y="4151376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26664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26664" y="453542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工具調用次數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26664" y="482803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越少代表規劃越精準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111496" y="3968496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30952" y="4151376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30952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30952" y="453542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調用有效性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30952" y="482803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每次調用是否真的推進任務，可由模型判斷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7415784" y="3968496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35240" y="4151376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3524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35240" y="453542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迭代輪數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635240" y="482803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需要試錯幾輪才達成目標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9720072" y="3968496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939528" y="4151376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939528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939528" y="453542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檢查點部分給分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939528" y="482803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達成部分目標即給部分分數，而非全有全無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502920" y="585216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這些指標的共同好處：不依賴人為訂定的「標準步驟」，因此比「是否調用正確工具」更客觀，也更容易跨案例與跨模型比較。</a:t>
            </a:r>
            <a:endParaRPr lang="en-US" sz="11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PROCESS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開發流程：用 AI 協助，但不讓 AI 發散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24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核心原則：不猜測意圖、文件先行、任務最小化、結果可驗證。文件沒完成前不大量產生程式碼。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2679192" cy="2103120"/>
          </a:xfrm>
          <a:prstGeom prst="roundRect">
            <a:avLst>
              <a:gd name="adj" fmla="val 3478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0664" y="2048256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4712" y="204825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" y="2432304"/>
            <a:ext cx="220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" y="2706624"/>
            <a:ext cx="22037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背景、角色、情境、功能與非功能需求、不在範圍、驗收標準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3328416" y="1847088"/>
            <a:ext cx="2679192" cy="2103120"/>
          </a:xfrm>
          <a:prstGeom prst="roundRect">
            <a:avLst>
              <a:gd name="adj" fmla="val 3478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66160" y="2048256"/>
            <a:ext cx="274320" cy="274320"/>
          </a:xfrm>
          <a:prstGeom prst="ellipse">
            <a:avLst/>
          </a:prstGeom>
          <a:solidFill>
            <a:srgbClr val="5E8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50208" y="204825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詳細設計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432304"/>
            <a:ext cx="220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detailed-design/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2706624"/>
            <a:ext cx="22037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模組劃分、依賴關係、資料結構、介面設計、錯誤處理、測試設計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153912" y="1847088"/>
            <a:ext cx="2679192" cy="2103120"/>
          </a:xfrm>
          <a:prstGeom prst="roundRect">
            <a:avLst>
              <a:gd name="adj" fmla="val 3478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91656" y="2048256"/>
            <a:ext cx="274320" cy="274320"/>
          </a:xfrm>
          <a:prstGeom prst="ellipse">
            <a:avLst/>
          </a:prstGeom>
          <a:solidFill>
            <a:srgbClr val="C9A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91656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75704" y="204825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任務拆分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91656" y="2432304"/>
            <a:ext cx="220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tasks/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91656" y="2706624"/>
            <a:ext cx="22037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每模組一份任務文件，子任務 checklist 與驗收條件，標示依賴順序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8979408" y="1847088"/>
            <a:ext cx="2679192" cy="2103120"/>
          </a:xfrm>
          <a:prstGeom prst="roundRect">
            <a:avLst>
              <a:gd name="adj" fmla="val 3478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17152" y="2048256"/>
            <a:ext cx="274320" cy="274320"/>
          </a:xfrm>
          <a:prstGeom prst="ellipse">
            <a:avLst/>
          </a:prstGeom>
          <a:solidFill>
            <a:srgbClr val="7E6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17152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0" y="204825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執行 Prompt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17152" y="2432304"/>
            <a:ext cx="220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prompt.md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17152" y="2706624"/>
            <a:ext cx="22037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主／子代理責任、任務分派、平行規則、測試要求、禁止事項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502920" y="4187952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8952" y="4389120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實際幫上什麼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8952" y="4773168"/>
            <a:ext cx="49286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依任務文件實作模組並同時補測試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 eval 案例與重現問題的最小測試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協助定位重複生成與截斷類問題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217920" y="4187952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73952" y="4389120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刻意設下的限制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73952" y="4773168"/>
            <a:ext cx="49286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不得在需求未確認時直接建立完整系統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不得跳過測試換取速度、不得偽造測試結果</a:t>
            </a:r>
            <a:endParaRPr lang="en-US" sz="112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2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文件與程式碼不一致時不得標記完成</a:t>
            </a:r>
            <a:endParaRPr lang="en-US" sz="11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系統部署：本機開發 vs 正式環境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25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pic>
        <p:nvPicPr>
          <p:cNvPr id="5" name="Image 0" descr="/private/tmp/claude-501/-Users-linyueying-Library-CloudStorage-OneDrive-Personal-NTUST-Mester0-CloudDrive-doc/c35c6b45-8bc5-44cd-af2a-4f3d959ad328/scratchpad/png/02-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9888"/>
            <a:ext cx="7386889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00705" y="1389888"/>
            <a:ext cx="3457895" cy="1426464"/>
          </a:xfrm>
          <a:prstGeom prst="roundRect">
            <a:avLst>
              <a:gd name="adj" fmla="val 5128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456737" y="1591056"/>
            <a:ext cx="29458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Tunnel 主動向外連線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56737" y="1975104"/>
            <a:ext cx="294583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部署主機不需開放任何對外埠、不需固定 IP，不受動態 IP 變動影響，並天然隱藏源站位址。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8200705" y="2962656"/>
            <a:ext cx="3457895" cy="1426464"/>
          </a:xfrm>
          <a:prstGeom prst="roundRect">
            <a:avLst>
              <a:gd name="adj" fmla="val 5128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456737" y="3163824"/>
            <a:ext cx="29458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為唯一入口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56737" y="3547872"/>
            <a:ext cx="294583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同源反向代理 /api 到後端，因此沒有跨來源問題，換主機也不需重新建置前端。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200705" y="4535424"/>
            <a:ext cx="3457895" cy="1335024"/>
          </a:xfrm>
          <a:prstGeom prst="roundRect">
            <a:avLst>
              <a:gd name="adj" fmla="val 5479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456737" y="4736592"/>
            <a:ext cx="29458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內網隔離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456737" y="5120640"/>
            <a:ext cx="29458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後端只綁本機迴路位址、資料庫不對公網開放；本機的埠映射僅供開發測試使用。</a:t>
            </a:r>
            <a:endParaRPr lang="en-US" sz="10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CI / CD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部署：從管線到容器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26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pic>
        <p:nvPicPr>
          <p:cNvPr id="5" name="Image 0" descr="/private/tmp/claude-501/-Users-linyueying-Library-CloudStorage-OneDrive-Personal-NTUST-Mester0-CloudDrive-doc/c35c6b45-8bc5-44cd-af2a-4f3d959ad328/scratchpad/png/03-dock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17904"/>
            <a:ext cx="10789920" cy="43073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614416"/>
            <a:ext cx="2679192" cy="749808"/>
          </a:xfrm>
          <a:prstGeom prst="roundRect">
            <a:avLst>
              <a:gd name="adj" fmla="val 975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4088" y="5705856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映像只由 CI 建立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04088" y="594360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以完整 commit SHA 標記，不使用 latest 標籤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28416" y="5614416"/>
            <a:ext cx="2679192" cy="749808"/>
          </a:xfrm>
          <a:prstGeom prst="roundRect">
            <a:avLst>
              <a:gd name="adj" fmla="val 975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529584" y="5705856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Runner 最小權限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529584" y="594360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非 root、不加入 docker 群組，只能執行單一固定腳本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53912" y="5614416"/>
            <a:ext cx="2679192" cy="749808"/>
          </a:xfrm>
          <a:prstGeom prst="roundRect">
            <a:avLst>
              <a:gd name="adj" fmla="val 975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55080" y="5705856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部署可回滾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355080" y="594360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健康檢查連續失敗即自動回到上一個可用版本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979408" y="5614416"/>
            <a:ext cx="2679192" cy="749808"/>
          </a:xfrm>
          <a:prstGeom prst="roundRect">
            <a:avLst>
              <a:gd name="adj" fmla="val 975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80576" y="5705856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密鑰只在主機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180576" y="594360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正式環境設定不進版控，管線只做缺鍵警告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CI / CD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部署流程與安全原則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27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四個步驟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755648"/>
            <a:ext cx="5852160" cy="877824"/>
          </a:xfrm>
          <a:prstGeom prst="roundRect">
            <a:avLst>
              <a:gd name="adj" fmla="val 833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0664" y="1901952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883664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開發者推送並開啟 PR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2157984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GitHub 託管 Runner 執行後端 pytest／ruff／mypy 與前端 lint／test／build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779776"/>
            <a:ext cx="5852160" cy="877824"/>
          </a:xfrm>
          <a:prstGeom prst="roundRect">
            <a:avLst>
              <a:gd name="adj" fmla="val 833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0664" y="2926080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664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90779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合併主線後建置映像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" y="3182112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CI 重跑測試，前後端映像以 commit SHA 推送至 GHCR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803904"/>
            <a:ext cx="5852160" cy="877824"/>
          </a:xfrm>
          <a:prstGeom prst="roundRect">
            <a:avLst>
              <a:gd name="adj" fmla="val 833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0664" y="3950208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931920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手動觸發部署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" y="420624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 Actions 指定要部署的 commit SHA，同時只允許一個部署進行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828032"/>
            <a:ext cx="5852160" cy="877824"/>
          </a:xfrm>
          <a:prstGeom prst="roundRect">
            <a:avLst>
              <a:gd name="adj" fmla="val 833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0664" y="4974336"/>
            <a:ext cx="274320" cy="274320"/>
          </a:xfrm>
          <a:prstGeom prst="ellipse">
            <a:avLst/>
          </a:prstGeom>
          <a:solidFill>
            <a:srgbClr val="2F6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0664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495604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自架 Runner 執行固定腳本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3000" y="5230368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 GHCR → 拉取映像 → 啟動 → 健康檢查 → 失敗自動回滾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29400" y="1389888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85432" y="1591056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部署安全原則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85432" y="1975104"/>
            <a:ext cx="451713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自架 Runner 只用於私有倉庫、只跑部署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Runner 非 root、不加入 docker 群組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只能透過 sudo 執行單一固定部署腳本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只允許部署主線歷史上的 commit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9400" y="3712464"/>
            <a:ext cx="5029200" cy="2029968"/>
          </a:xfrm>
          <a:prstGeom prst="roundRect">
            <a:avLst>
              <a:gd name="adj" fmla="val 3604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85432" y="391363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設定隨程式碼同步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85432" y="4297680"/>
            <a:ext cx="4517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compose 設定與部署腳本依 SHA 自動同步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部署拓撲改動隨程式碼一起落地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真密鑰不同步、只在主機，缺鍵時警告</a:t>
            </a:r>
            <a:endParaRPr lang="en-US" sz="11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回滾時連同該版本的拓撲一併回復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STATUS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完成度與已知限制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28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2679192" cy="1700784"/>
          </a:xfrm>
          <a:prstGeom prst="roundRect">
            <a:avLst>
              <a:gd name="adj" fmla="val 430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609344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/ 28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58952" y="2249424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核心模組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542032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專案基礎、後端、前端、整合驗收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3328416" y="1389888"/>
            <a:ext cx="2679192" cy="1700784"/>
          </a:xfrm>
          <a:prstGeom prst="roundRect">
            <a:avLst>
              <a:gd name="adj" fmla="val 430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84448" y="1609344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84448" y="2249424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84448" y="2542032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後端引擎、前端面板、評測 harness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153912" y="1389888"/>
            <a:ext cx="2679192" cy="1700784"/>
          </a:xfrm>
          <a:prstGeom prst="roundRect">
            <a:avLst>
              <a:gd name="adj" fmla="val 430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9944" y="1609344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9944" y="2249424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9944" y="2542032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資料層到前端共五個階段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979408" y="1389888"/>
            <a:ext cx="2679192" cy="1700784"/>
          </a:xfrm>
          <a:prstGeom prst="roundRect">
            <a:avLst>
              <a:gd name="adj" fmla="val 4301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35440" y="1609344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 / 33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35440" y="2249424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總計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35440" y="2542032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外部模型接入尚有部分待實作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5440680" cy="2414016"/>
          </a:xfrm>
          <a:prstGeom prst="roundRect">
            <a:avLst>
              <a:gd name="adj" fmla="val 303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8952" y="3529584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已經可以完整操作的能力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58952" y="3913632"/>
            <a:ext cx="49286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登入、我的硬碟、資料夾、上傳下載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檔名／全文／語意三種搜尋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垃圾桶、容量統計、檔案版本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分享連結與指定使用者分享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助理與時光機皆有對應測試紀錄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6217920" y="3328416"/>
            <a:ext cx="5440680" cy="2414016"/>
          </a:xfrm>
          <a:prstGeom prst="roundRect">
            <a:avLst>
              <a:gd name="adj" fmla="val 303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73952" y="3529584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誠實列出的已知限制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73952" y="3913632"/>
            <a:ext cx="49286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時光機還原時的硬配額檢查待補強（非阻擋）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語意搜尋舊檔索引補建尚未背景自動化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評測結論綁定單一模型與硬體</a:t>
            </a:r>
            <a:endParaRPr lang="en-US" sz="113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本次量化未納入瀏覽器端與生成技能執行測試</a:t>
            </a:r>
            <a:endParaRPr lang="en-US" sz="11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POSITIONING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競品比較與定位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29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11155680" cy="34015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比較維度</a:t>
                      </a:r>
                      <a:endParaRPr lang="en-US" sz="112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Google Drive／OneDrive</a:t>
                      </a:r>
                      <a:endParaRPr lang="en-US" sz="112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通用 AI 編碼工具 + 本機掛載</a:t>
                      </a:r>
                      <a:endParaRPr lang="en-US" sz="112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CloudDrive</a:t>
                      </a:r>
                      <a:endParaRPr lang="en-US" sz="112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資料存放位置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服務商伺服器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本機，但需掛載第三方雲端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5E8F72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自架主機，完全自有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AI 推論位置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服務商雲端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外部 API 為主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5E8F72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本地模型優先，外送需經隱私閘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對話式檔案操作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有限，且綁定其生態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可以，但需要技術背景操作終端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5E8F72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網頁內直接對話，一般使用者可用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擴充新功能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只能等官方或第三方外掛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可寫腳本，但無核可與沙箱機制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5E8F72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對話生成技能，經核可與沙箱後掛選單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整碟時間點還原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僅單檔版本歷史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需自行搭配備份工具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5E8F72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內建時光機，可整碟倒帶</a:t>
                      </a:r>
                      <a:endParaRPr lang="en-US" sz="108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047488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13212A"/>
          </a:solidFill>
          <a:ln w="6350">
            <a:solidFill>
              <a:srgbClr val="132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52669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定位：</a:t>
            </a:r>
            <a:r>
              <a:rPr lang="en-US" sz="14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以隱私與資料主權為前提，把「完整檔案管理」與「可自我擴充的本地 AI 助理」放進同一個可自架的系統。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LEARNING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個人學習歷程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74420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AFBAC4"/>
                </a:solidFill>
                <a:latin typeface="Georgia"/>
                <a:ea typeface="Georgia" pitchFamily="34" charset="-122"/>
                <a:cs typeface="Georgia" pitchFamily="34" charset="-120"/>
              </a:rPr>
              <a:t>30</a:t>
            </a:r>
            <a:endParaRPr lang="en-US" sz="1500" dirty="0">
              <a:solidFill>
                <a:srgbClr val="AFBAC4"/>
              </a:solidFill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從沒寫過完整後端，到能設計、實作、測試並部署一套多使用者系統。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2679192" cy="3291840"/>
          </a:xfrm>
          <a:prstGeom prst="roundRect">
            <a:avLst>
              <a:gd name="adj" fmla="val 273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2066544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第一階段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234086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打底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" y="2761488"/>
            <a:ext cx="216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Python 型別註記與 uv 環境管理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FastAPI 路由與依賴注入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React + TypeScript 元件開發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8416" y="1847088"/>
            <a:ext cx="2679192" cy="3291840"/>
          </a:xfrm>
          <a:prstGeom prst="roundRect">
            <a:avLst>
              <a:gd name="adj" fmla="val 273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84448" y="2066544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第二階段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84448" y="234086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系統設計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84448" y="2761488"/>
            <a:ext cx="216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非同步 SQLAlchemy 與 migration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分層架構與單向依賴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權限模型與多租戶隔離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53912" y="1847088"/>
            <a:ext cx="2679192" cy="3291840"/>
          </a:xfrm>
          <a:prstGeom prst="roundRect">
            <a:avLst>
              <a:gd name="adj" fmla="val 273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9944" y="2066544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第三階段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9944" y="234086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測試與品質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9944" y="2761488"/>
            <a:ext cx="216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單元／整合／E2E 三層測試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以測試守住不變式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型別檢查與靜態檢查納入流程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79408" y="1847088"/>
            <a:ext cx="2679192" cy="3291840"/>
          </a:xfrm>
          <a:prstGeom prst="roundRect">
            <a:avLst>
              <a:gd name="adj" fmla="val 273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35440" y="2066544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第四階段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235440" y="234086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與維運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235440" y="2761488"/>
            <a:ext cx="216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harness 設計與約束解碼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評測方法論與可重現量測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Docker、CI/CD 與自架部署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53400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8E9A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（此頁內容請依實際學習經驗調整；上列為依專案推進順序整理的骨架。）</a:t>
            </a:r>
            <a:endParaRPr lang="en-US" sz="10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6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核心不是「做一個檔案上傳功能」，</a:t>
            </a:r>
            <a:endParaRPr lang="en-US" sz="27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而是把儲存、權限、分享、搜尋、還原與 AI 助理，</a:t>
            </a:r>
            <a:endParaRPr lang="en-US" sz="27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收斂成一套可自架、可驗證、可維護的系統。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4224528"/>
            <a:ext cx="3407664" cy="1133856"/>
          </a:xfrm>
          <a:prstGeom prst="roundRect">
            <a:avLst>
              <a:gd name="adj" fmla="val 5645"/>
            </a:avLst>
          </a:prstGeom>
          <a:solidFill>
            <a:srgbClr val="1D3340"/>
          </a:solidFill>
          <a:ln w="6350">
            <a:solidFill>
              <a:srgbClr val="1D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0704" y="4407408"/>
            <a:ext cx="2932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可自架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0704" y="4736592"/>
            <a:ext cx="293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8BC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一行指令啟動，資料留在自己的主機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76928" y="4224528"/>
            <a:ext cx="3407664" cy="1133856"/>
          </a:xfrm>
          <a:prstGeom prst="roundRect">
            <a:avLst>
              <a:gd name="adj" fmla="val 5645"/>
            </a:avLst>
          </a:prstGeom>
          <a:solidFill>
            <a:srgbClr val="1D3340"/>
          </a:solidFill>
          <a:ln w="6350">
            <a:solidFill>
              <a:srgbClr val="1D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14672" y="4407408"/>
            <a:ext cx="2932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可驗證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4672" y="4736592"/>
            <a:ext cx="293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8BC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從單元測試到真實模型評測都有可重複的流程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30896" y="4224528"/>
            <a:ext cx="3407664" cy="1133856"/>
          </a:xfrm>
          <a:prstGeom prst="roundRect">
            <a:avLst>
              <a:gd name="adj" fmla="val 5645"/>
            </a:avLst>
          </a:prstGeom>
          <a:solidFill>
            <a:srgbClr val="1D3340"/>
          </a:solidFill>
          <a:ln w="6350">
            <a:solidFill>
              <a:srgbClr val="1D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68640" y="4407408"/>
            <a:ext cx="2932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可維護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68640" y="4736592"/>
            <a:ext cx="293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8BC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決策以 ADR 記錄，文件與程式碼同步演進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779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60" dirty="0">
                <a:solidFill>
                  <a:srgbClr val="6B83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感謝聆聽　·　歡迎提問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455E40-4867-9C41-B5DC-EAEB9B57114D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afb01fc0-f3ea-4c4a-8fd8-06937882dcb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2444</Words>
  <Application>Microsoft Macintosh PowerPoint</Application>
  <PresentationFormat>Widescreen</PresentationFormat>
  <Paragraphs>709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PingFang TC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CloudDrive 雲端硬碟系統 — 專題報告</dc:title>
  <dc:subject>PptxGenJS Presentation</dc:subject>
  <dc:creator>CloudDrive</dc:creator>
  <cp:lastModifiedBy>Bill WU</cp:lastModifiedBy>
  <cp:revision>3</cp:revision>
  <dcterms:created xsi:type="dcterms:W3CDTF">2026-07-29T08:50:25Z</dcterms:created>
  <dcterms:modified xsi:type="dcterms:W3CDTF">2026-07-29T11:03:08Z</dcterms:modified>
</cp:coreProperties>
</file>